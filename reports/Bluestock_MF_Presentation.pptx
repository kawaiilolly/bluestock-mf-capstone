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DM Sans" pitchFamily="2" charset="0"/>
      <p:regular r:id="rId15"/>
      <p:bold r:id="rId16"/>
      <p:italic r:id="rId17"/>
      <p:boldItalic r:id="rId18"/>
    </p:embeddedFont>
    <p:embeddedFont>
      <p:font typeface="DM Sans Bold" pitchFamily="2" charset="0"/>
      <p:regular r:id="rId19"/>
      <p:bold r:id="rId20"/>
    </p:embeddedFont>
    <p:embeddedFont>
      <p:font typeface="DM Sans Italic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B656FD-B977-43A8-A0E7-4589E975485B}" v="4" dt="2026-06-13T22:02:22.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0" d="100"/>
          <a:sy n="40" d="100"/>
        </p:scale>
        <p:origin x="1522" y="5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sdah Babu" userId="1811ab9e0b21157e" providerId="LiveId" clId="{B3999061-0A46-4186-992E-8313CA5F16F6}"/>
    <pc:docChg chg="undo custSel modSld">
      <pc:chgData name="Hansdah Babu" userId="1811ab9e0b21157e" providerId="LiveId" clId="{B3999061-0A46-4186-992E-8313CA5F16F6}" dt="2026-06-13T22:02:55.694" v="7" actId="14100"/>
      <pc:docMkLst>
        <pc:docMk/>
      </pc:docMkLst>
      <pc:sldChg chg="modSp mod modAnim">
        <pc:chgData name="Hansdah Babu" userId="1811ab9e0b21157e" providerId="LiveId" clId="{B3999061-0A46-4186-992E-8313CA5F16F6}" dt="2026-06-13T22:02:22.179" v="4"/>
        <pc:sldMkLst>
          <pc:docMk/>
          <pc:sldMk cId="0" sldId="256"/>
        </pc:sldMkLst>
        <pc:grpChg chg="mod">
          <ac:chgData name="Hansdah Babu" userId="1811ab9e0b21157e" providerId="LiveId" clId="{B3999061-0A46-4186-992E-8313CA5F16F6}" dt="2026-06-13T22:01:37.425" v="0" actId="14100"/>
          <ac:grpSpMkLst>
            <pc:docMk/>
            <pc:sldMk cId="0" sldId="256"/>
            <ac:grpSpMk id="2" creationId="{00000000-0000-0000-0000-000000000000}"/>
          </ac:grpSpMkLst>
        </pc:grpChg>
      </pc:sldChg>
      <pc:sldChg chg="modSp mod">
        <pc:chgData name="Hansdah Babu" userId="1811ab9e0b21157e" providerId="LiveId" clId="{B3999061-0A46-4186-992E-8313CA5F16F6}" dt="2026-06-13T22:02:55.694" v="7" actId="14100"/>
        <pc:sldMkLst>
          <pc:docMk/>
          <pc:sldMk cId="0" sldId="259"/>
        </pc:sldMkLst>
        <pc:spChg chg="mod">
          <ac:chgData name="Hansdah Babu" userId="1811ab9e0b21157e" providerId="LiveId" clId="{B3999061-0A46-4186-992E-8313CA5F16F6}" dt="2026-06-13T22:02:55.694" v="7" actId="14100"/>
          <ac:spMkLst>
            <pc:docMk/>
            <pc:sldMk cId="0" sldId="259"/>
            <ac:spMk id="20" creationId="{00000000-0000-0000-0000-000000000000}"/>
          </ac:spMkLst>
        </pc:spChg>
      </pc:sldChg>
      <pc:sldChg chg="modSp mod">
        <pc:chgData name="Hansdah Babu" userId="1811ab9e0b21157e" providerId="LiveId" clId="{B3999061-0A46-4186-992E-8313CA5F16F6}" dt="2026-06-13T22:02:43.414" v="5" actId="14100"/>
        <pc:sldMkLst>
          <pc:docMk/>
          <pc:sldMk cId="0" sldId="267"/>
        </pc:sldMkLst>
        <pc:grpChg chg="mod">
          <ac:chgData name="Hansdah Babu" userId="1811ab9e0b21157e" providerId="LiveId" clId="{B3999061-0A46-4186-992E-8313CA5F16F6}" dt="2026-06-13T22:02:43.414" v="5" actId="14100"/>
          <ac:grpSpMkLst>
            <pc:docMk/>
            <pc:sldMk cId="0" sldId="267"/>
            <ac:grpSpMk id="2" creationId="{00000000-0000-0000-0000-000000000000}"/>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hyperlink" Target="https://github.com/KawaiiLolly/bluestock-mf-capstone" TargetMode="External"/><Relationship Id="rId4" Type="http://schemas.openxmlformats.org/officeDocument/2006/relationships/hyperlink" Target="mailto:hansdahnarayan987@gmail.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397008" cy="10287000"/>
            <a:chOff x="0" y="0"/>
            <a:chExt cx="3265056" cy="2869886"/>
          </a:xfrm>
        </p:grpSpPr>
        <p:sp>
          <p:nvSpPr>
            <p:cNvPr id="3" name="Freeform 3"/>
            <p:cNvSpPr/>
            <p:nvPr/>
          </p:nvSpPr>
          <p:spPr>
            <a:xfrm>
              <a:off x="0" y="0"/>
              <a:ext cx="3265056" cy="2869886"/>
            </a:xfrm>
            <a:custGeom>
              <a:avLst/>
              <a:gdLst/>
              <a:ahLst/>
              <a:cxnLst/>
              <a:rect l="l" t="t" r="r" b="b"/>
              <a:pathLst>
                <a:path w="3265056" h="2869886">
                  <a:moveTo>
                    <a:pt x="0" y="0"/>
                  </a:moveTo>
                  <a:lnTo>
                    <a:pt x="3265056" y="0"/>
                  </a:lnTo>
                  <a:lnTo>
                    <a:pt x="3265056" y="2869886"/>
                  </a:lnTo>
                  <a:lnTo>
                    <a:pt x="0" y="2869886"/>
                  </a:lnTo>
                  <a:close/>
                </a:path>
              </a:pathLst>
            </a:custGeom>
            <a:solidFill>
              <a:srgbClr val="132338"/>
            </a:solidFill>
          </p:spPr>
        </p:sp>
        <p:sp>
          <p:nvSpPr>
            <p:cNvPr id="4" name="TextBox 4"/>
            <p:cNvSpPr txBox="1"/>
            <p:nvPr/>
          </p:nvSpPr>
          <p:spPr>
            <a:xfrm>
              <a:off x="0" y="0"/>
              <a:ext cx="3265056" cy="2869886"/>
            </a:xfrm>
            <a:prstGeom prst="rect">
              <a:avLst/>
            </a:prstGeom>
          </p:spPr>
          <p:txBody>
            <a:bodyPr lIns="50800" tIns="50800" rIns="50800" bIns="50800" rtlCol="0" anchor="ctr"/>
            <a:lstStyle/>
            <a:p>
              <a:pPr algn="ctr">
                <a:lnSpc>
                  <a:spcPts val="1709"/>
                </a:lnSpc>
              </a:pPr>
              <a:endParaRPr/>
            </a:p>
          </p:txBody>
        </p:sp>
      </p:grpSp>
      <p:grpSp>
        <p:nvGrpSpPr>
          <p:cNvPr id="5" name="Group 5"/>
          <p:cNvGrpSpPr/>
          <p:nvPr/>
        </p:nvGrpSpPr>
        <p:grpSpPr>
          <a:xfrm>
            <a:off x="1028700" y="2911253"/>
            <a:ext cx="10287000" cy="1097280"/>
            <a:chOff x="0" y="0"/>
            <a:chExt cx="13716000" cy="1463040"/>
          </a:xfrm>
        </p:grpSpPr>
        <p:sp>
          <p:nvSpPr>
            <p:cNvPr id="6" name="Freeform 6"/>
            <p:cNvSpPr/>
            <p:nvPr/>
          </p:nvSpPr>
          <p:spPr>
            <a:xfrm>
              <a:off x="0" y="0"/>
              <a:ext cx="13716000" cy="1463040"/>
            </a:xfrm>
            <a:custGeom>
              <a:avLst/>
              <a:gdLst/>
              <a:ahLst/>
              <a:cxnLst/>
              <a:rect l="l" t="t" r="r" b="b"/>
              <a:pathLst>
                <a:path w="13716000" h="1463040">
                  <a:moveTo>
                    <a:pt x="0" y="0"/>
                  </a:moveTo>
                  <a:lnTo>
                    <a:pt x="13716000" y="0"/>
                  </a:lnTo>
                  <a:lnTo>
                    <a:pt x="13716000" y="1463040"/>
                  </a:lnTo>
                  <a:lnTo>
                    <a:pt x="0" y="1463040"/>
                  </a:lnTo>
                  <a:close/>
                </a:path>
              </a:pathLst>
            </a:custGeom>
            <a:blipFill>
              <a:blip r:embed="rId3">
                <a:alphaModFix amt="0"/>
              </a:blip>
              <a:stretch>
                <a:fillRect t="-132672" b="-132672"/>
              </a:stretch>
            </a:blipFill>
          </p:spPr>
        </p:sp>
        <p:sp>
          <p:nvSpPr>
            <p:cNvPr id="7" name="TextBox 7"/>
            <p:cNvSpPr txBox="1"/>
            <p:nvPr/>
          </p:nvSpPr>
          <p:spPr>
            <a:xfrm>
              <a:off x="0" y="0"/>
              <a:ext cx="13716000" cy="1463040"/>
            </a:xfrm>
            <a:prstGeom prst="rect">
              <a:avLst/>
            </a:prstGeom>
          </p:spPr>
          <p:txBody>
            <a:bodyPr lIns="0" tIns="0" rIns="0" bIns="0" rtlCol="0" anchor="ctr"/>
            <a:lstStyle/>
            <a:p>
              <a:pPr algn="l">
                <a:lnSpc>
                  <a:spcPts val="6480"/>
                </a:lnSpc>
              </a:pPr>
              <a:r>
                <a:rPr lang="en-US" sz="5400" b="1">
                  <a:solidFill>
                    <a:srgbClr val="FFFFFF"/>
                  </a:solidFill>
                  <a:latin typeface="DM Sans Bold"/>
                  <a:ea typeface="DM Sans Bold"/>
                  <a:cs typeface="DM Sans Bold"/>
                  <a:sym typeface="DM Sans Bold"/>
                </a:rPr>
                <a:t>BLUESTOCKS </a:t>
              </a:r>
              <a:r>
                <a:rPr lang="en-US" sz="5400" b="1">
                  <a:solidFill>
                    <a:srgbClr val="FFAB32"/>
                  </a:solidFill>
                  <a:latin typeface="DM Sans Bold"/>
                  <a:ea typeface="DM Sans Bold"/>
                  <a:cs typeface="DM Sans Bold"/>
                  <a:sym typeface="DM Sans Bold"/>
                </a:rPr>
                <a:t>FINTECH</a:t>
              </a:r>
            </a:p>
          </p:txBody>
        </p:sp>
      </p:grpSp>
      <p:grpSp>
        <p:nvGrpSpPr>
          <p:cNvPr id="8" name="Group 8"/>
          <p:cNvGrpSpPr/>
          <p:nvPr/>
        </p:nvGrpSpPr>
        <p:grpSpPr>
          <a:xfrm>
            <a:off x="1028700" y="4178097"/>
            <a:ext cx="10287000" cy="1052348"/>
            <a:chOff x="0" y="0"/>
            <a:chExt cx="13716000" cy="1403131"/>
          </a:xfrm>
        </p:grpSpPr>
        <p:sp>
          <p:nvSpPr>
            <p:cNvPr id="9" name="Freeform 9"/>
            <p:cNvSpPr/>
            <p:nvPr/>
          </p:nvSpPr>
          <p:spPr>
            <a:xfrm>
              <a:off x="0" y="0"/>
              <a:ext cx="13716000" cy="1403131"/>
            </a:xfrm>
            <a:custGeom>
              <a:avLst/>
              <a:gdLst/>
              <a:ahLst/>
              <a:cxnLst/>
              <a:rect l="l" t="t" r="r" b="b"/>
              <a:pathLst>
                <a:path w="13716000" h="1403131">
                  <a:moveTo>
                    <a:pt x="0" y="0"/>
                  </a:moveTo>
                  <a:lnTo>
                    <a:pt x="13716000" y="0"/>
                  </a:lnTo>
                  <a:lnTo>
                    <a:pt x="13716000" y="1403131"/>
                  </a:lnTo>
                  <a:lnTo>
                    <a:pt x="0" y="1403131"/>
                  </a:lnTo>
                  <a:close/>
                </a:path>
              </a:pathLst>
            </a:custGeom>
            <a:blipFill>
              <a:blip r:embed="rId3">
                <a:alphaModFix amt="0"/>
              </a:blip>
              <a:stretch>
                <a:fillRect t="-144853" b="-136089"/>
              </a:stretch>
            </a:blipFill>
          </p:spPr>
        </p:sp>
        <p:sp>
          <p:nvSpPr>
            <p:cNvPr id="10" name="TextBox 10"/>
            <p:cNvSpPr txBox="1"/>
            <p:nvPr/>
          </p:nvSpPr>
          <p:spPr>
            <a:xfrm>
              <a:off x="0" y="-9525"/>
              <a:ext cx="13716000" cy="1412656"/>
            </a:xfrm>
            <a:prstGeom prst="rect">
              <a:avLst/>
            </a:prstGeom>
          </p:spPr>
          <p:txBody>
            <a:bodyPr lIns="0" tIns="0" rIns="0" bIns="0" rtlCol="0" anchor="ctr"/>
            <a:lstStyle/>
            <a:p>
              <a:pPr algn="l">
                <a:lnSpc>
                  <a:spcPts val="3720"/>
                </a:lnSpc>
              </a:pPr>
              <a:r>
                <a:rPr lang="en-US" sz="3100">
                  <a:solidFill>
                    <a:srgbClr val="FFFFFF"/>
                  </a:solidFill>
                  <a:latin typeface="DM Sans"/>
                  <a:ea typeface="DM Sans"/>
                  <a:cs typeface="DM Sans"/>
                  <a:sym typeface="DM Sans"/>
                </a:rPr>
                <a:t>Mutual Fund Analytics</a:t>
              </a:r>
            </a:p>
            <a:p>
              <a:pPr algn="l">
                <a:lnSpc>
                  <a:spcPts val="3720"/>
                </a:lnSpc>
              </a:pPr>
              <a:r>
                <a:rPr lang="en-US" sz="3100">
                  <a:solidFill>
                    <a:srgbClr val="FFFFFF"/>
                  </a:solidFill>
                  <a:latin typeface="DM Sans"/>
                  <a:ea typeface="DM Sans"/>
                  <a:cs typeface="DM Sans"/>
                  <a:sym typeface="DM Sans"/>
                </a:rPr>
                <a:t>Capstone Project I - Final Report</a:t>
              </a:r>
            </a:p>
          </p:txBody>
        </p:sp>
      </p:grpSp>
      <p:grpSp>
        <p:nvGrpSpPr>
          <p:cNvPr id="11" name="Group 11"/>
          <p:cNvGrpSpPr/>
          <p:nvPr/>
        </p:nvGrpSpPr>
        <p:grpSpPr>
          <a:xfrm>
            <a:off x="1028700" y="5400010"/>
            <a:ext cx="10287000" cy="1213737"/>
            <a:chOff x="0" y="0"/>
            <a:chExt cx="13716000" cy="1618316"/>
          </a:xfrm>
        </p:grpSpPr>
        <p:sp>
          <p:nvSpPr>
            <p:cNvPr id="12" name="Freeform 12"/>
            <p:cNvSpPr/>
            <p:nvPr/>
          </p:nvSpPr>
          <p:spPr>
            <a:xfrm>
              <a:off x="0" y="0"/>
              <a:ext cx="13716000" cy="1618322"/>
            </a:xfrm>
            <a:custGeom>
              <a:avLst/>
              <a:gdLst/>
              <a:ahLst/>
              <a:cxnLst/>
              <a:rect l="l" t="t" r="r" b="b"/>
              <a:pathLst>
                <a:path w="13716000" h="1618322">
                  <a:moveTo>
                    <a:pt x="0" y="0"/>
                  </a:moveTo>
                  <a:lnTo>
                    <a:pt x="13716000" y="0"/>
                  </a:lnTo>
                  <a:lnTo>
                    <a:pt x="13716000" y="1618322"/>
                  </a:lnTo>
                  <a:lnTo>
                    <a:pt x="0" y="1618322"/>
                  </a:lnTo>
                  <a:close/>
                </a:path>
              </a:pathLst>
            </a:custGeom>
            <a:blipFill>
              <a:blip r:embed="rId3">
                <a:alphaModFix amt="0"/>
              </a:blip>
              <a:stretch>
                <a:fillRect t="-115144" b="-115144"/>
              </a:stretch>
            </a:blipFill>
          </p:spPr>
        </p:sp>
        <p:sp>
          <p:nvSpPr>
            <p:cNvPr id="13" name="TextBox 13"/>
            <p:cNvSpPr txBox="1"/>
            <p:nvPr/>
          </p:nvSpPr>
          <p:spPr>
            <a:xfrm>
              <a:off x="0" y="9525"/>
              <a:ext cx="13716000" cy="1608791"/>
            </a:xfrm>
            <a:prstGeom prst="rect">
              <a:avLst/>
            </a:prstGeom>
          </p:spPr>
          <p:txBody>
            <a:bodyPr lIns="0" tIns="0" rIns="0" bIns="0" rtlCol="0" anchor="ctr"/>
            <a:lstStyle/>
            <a:p>
              <a:pPr algn="l">
                <a:lnSpc>
                  <a:spcPts val="1980"/>
                </a:lnSpc>
              </a:pPr>
              <a:r>
                <a:rPr lang="en-US" sz="1650">
                  <a:solidFill>
                    <a:srgbClr val="BFBFBF"/>
                  </a:solidFill>
                  <a:latin typeface="DM Sans"/>
                  <a:ea typeface="DM Sans"/>
                  <a:cs typeface="DM Sans"/>
                  <a:sym typeface="DM Sans"/>
                </a:rPr>
                <a:t>Prepared by : Narayan Handsah</a:t>
              </a:r>
            </a:p>
            <a:p>
              <a:pPr algn="l">
                <a:lnSpc>
                  <a:spcPts val="1980"/>
                </a:lnSpc>
              </a:pPr>
              <a:r>
                <a:rPr lang="en-US" sz="1650">
                  <a:solidFill>
                    <a:srgbClr val="BFBFBF"/>
                  </a:solidFill>
                  <a:latin typeface="DM Sans"/>
                  <a:ea typeface="DM Sans"/>
                  <a:cs typeface="DM Sans"/>
                  <a:sym typeface="DM Sans"/>
                </a:rPr>
                <a:t>Gmail: </a:t>
              </a:r>
              <a:r>
                <a:rPr lang="en-US" sz="1650" u="sng">
                  <a:solidFill>
                    <a:srgbClr val="BFBFBF"/>
                  </a:solidFill>
                  <a:latin typeface="DM Sans"/>
                  <a:ea typeface="DM Sans"/>
                  <a:cs typeface="DM Sans"/>
                  <a:sym typeface="DM Sans"/>
                  <a:hlinkClick r:id="rId4" tooltip="mailto:hansdahnarayan987@gmail.com"/>
                </a:rPr>
                <a:t>hansdahnarayan987@gmail.com</a:t>
              </a:r>
            </a:p>
            <a:p>
              <a:pPr algn="l">
                <a:lnSpc>
                  <a:spcPts val="1980"/>
                </a:lnSpc>
              </a:pPr>
              <a:r>
                <a:rPr lang="en-US" sz="1650">
                  <a:solidFill>
                    <a:srgbClr val="BFBFBF"/>
                  </a:solidFill>
                  <a:latin typeface="DM Sans"/>
                  <a:ea typeface="DM Sans"/>
                  <a:cs typeface="DM Sans"/>
                  <a:sym typeface="DM Sans"/>
                </a:rPr>
                <a:t>Github repository: </a:t>
              </a:r>
              <a:r>
                <a:rPr lang="en-US" sz="1650" i="1" u="sng">
                  <a:solidFill>
                    <a:srgbClr val="BFBFBF"/>
                  </a:solidFill>
                  <a:latin typeface="DM Sans Italics"/>
                  <a:ea typeface="DM Sans Italics"/>
                  <a:cs typeface="DM Sans Italics"/>
                  <a:sym typeface="DM Sans Italics"/>
                  <a:hlinkClick r:id="rId5" tooltip="https://github.com/KawaiiLolly/bluestock-mf-capstone"/>
                </a:rPr>
                <a:t>https://github.com/KawaiiLolly/bluestock-mf-capstone</a:t>
              </a:r>
            </a:p>
          </p:txBody>
        </p:sp>
      </p:grpSp>
      <p:sp>
        <p:nvSpPr>
          <p:cNvPr id="14" name="Freeform 14"/>
          <p:cNvSpPr/>
          <p:nvPr/>
        </p:nvSpPr>
        <p:spPr>
          <a:xfrm>
            <a:off x="13260250" y="1028700"/>
            <a:ext cx="4395664" cy="560447"/>
          </a:xfrm>
          <a:custGeom>
            <a:avLst/>
            <a:gdLst/>
            <a:ahLst/>
            <a:cxnLst/>
            <a:rect l="l" t="t" r="r" b="b"/>
            <a:pathLst>
              <a:path w="4395664" h="560447">
                <a:moveTo>
                  <a:pt x="0" y="0"/>
                </a:moveTo>
                <a:lnTo>
                  <a:pt x="4395664" y="0"/>
                </a:lnTo>
                <a:lnTo>
                  <a:pt x="4395664" y="560447"/>
                </a:lnTo>
                <a:lnTo>
                  <a:pt x="0" y="560447"/>
                </a:lnTo>
                <a:lnTo>
                  <a:pt x="0" y="0"/>
                </a:lnTo>
                <a:close/>
              </a:path>
            </a:pathLst>
          </a:custGeom>
          <a:blipFill>
            <a:blip r:embed="rId6"/>
            <a:stretch>
              <a:fillRect/>
            </a:stretch>
          </a:blipFill>
        </p:spPr>
      </p:sp>
      <p:sp>
        <p:nvSpPr>
          <p:cNvPr id="15" name="Freeform 15"/>
          <p:cNvSpPr/>
          <p:nvPr/>
        </p:nvSpPr>
        <p:spPr>
          <a:xfrm>
            <a:off x="12206698" y="1028700"/>
            <a:ext cx="6502767" cy="12719349"/>
          </a:xfrm>
          <a:custGeom>
            <a:avLst/>
            <a:gdLst/>
            <a:ahLst/>
            <a:cxnLst/>
            <a:rect l="l" t="t" r="r" b="b"/>
            <a:pathLst>
              <a:path w="6502767" h="12719349">
                <a:moveTo>
                  <a:pt x="0" y="0"/>
                </a:moveTo>
                <a:lnTo>
                  <a:pt x="6502768" y="0"/>
                </a:lnTo>
                <a:lnTo>
                  <a:pt x="6502768" y="12719349"/>
                </a:lnTo>
                <a:lnTo>
                  <a:pt x="0" y="12719349"/>
                </a:lnTo>
                <a:lnTo>
                  <a:pt x="0" y="0"/>
                </a:lnTo>
                <a:close/>
              </a:path>
            </a:pathLst>
          </a:custGeom>
          <a:blipFill>
            <a:blip r:embed="rId7"/>
            <a:stretch>
              <a:fillRect/>
            </a:stretch>
          </a:blipFill>
        </p:spPr>
      </p:sp>
      <p:sp>
        <p:nvSpPr>
          <p:cNvPr id="16" name="Freeform 16"/>
          <p:cNvSpPr/>
          <p:nvPr/>
        </p:nvSpPr>
        <p:spPr>
          <a:xfrm>
            <a:off x="8749123" y="7051232"/>
            <a:ext cx="3457575" cy="3457575"/>
          </a:xfrm>
          <a:custGeom>
            <a:avLst/>
            <a:gdLst/>
            <a:ahLst/>
            <a:cxnLst/>
            <a:rect l="l" t="t" r="r" b="b"/>
            <a:pathLst>
              <a:path w="3457575" h="3457575">
                <a:moveTo>
                  <a:pt x="0" y="0"/>
                </a:moveTo>
                <a:lnTo>
                  <a:pt x="3457575" y="0"/>
                </a:lnTo>
                <a:lnTo>
                  <a:pt x="3457575" y="3457575"/>
                </a:lnTo>
                <a:lnTo>
                  <a:pt x="0" y="3457575"/>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0306050"/>
            <a:chOff x="0" y="0"/>
            <a:chExt cx="24403304" cy="13741400"/>
          </a:xfrm>
        </p:grpSpPr>
        <p:sp>
          <p:nvSpPr>
            <p:cNvPr id="3" name="Freeform 3"/>
            <p:cNvSpPr/>
            <p:nvPr/>
          </p:nvSpPr>
          <p:spPr>
            <a:xfrm>
              <a:off x="0" y="0"/>
              <a:ext cx="24403304" cy="13741400"/>
            </a:xfrm>
            <a:custGeom>
              <a:avLst/>
              <a:gdLst/>
              <a:ahLst/>
              <a:cxnLst/>
              <a:rect l="l" t="t" r="r" b="b"/>
              <a:pathLst>
                <a:path w="24403304" h="13741400">
                  <a:moveTo>
                    <a:pt x="0" y="0"/>
                  </a:moveTo>
                  <a:lnTo>
                    <a:pt x="24403304" y="0"/>
                  </a:lnTo>
                  <a:lnTo>
                    <a:pt x="24403304" y="13741400"/>
                  </a:lnTo>
                  <a:lnTo>
                    <a:pt x="0" y="13741400"/>
                  </a:lnTo>
                  <a:close/>
                </a:path>
              </a:pathLst>
            </a:custGeom>
            <a:solidFill>
              <a:srgbClr val="F8FAFC"/>
            </a:solidFill>
            <a:ln w="19050" cap="sq">
              <a:solidFill>
                <a:srgbClr val="F8FAFC"/>
              </a:solidFill>
              <a:prstDash val="solid"/>
              <a:miter/>
            </a:ln>
          </p:spPr>
        </p:sp>
      </p:grpSp>
      <p:grpSp>
        <p:nvGrpSpPr>
          <p:cNvPr id="4" name="Group 4"/>
          <p:cNvGrpSpPr/>
          <p:nvPr/>
        </p:nvGrpSpPr>
        <p:grpSpPr>
          <a:xfrm>
            <a:off x="-9525" y="-9525"/>
            <a:ext cx="18302478" cy="1527810"/>
            <a:chOff x="0" y="0"/>
            <a:chExt cx="24403304" cy="2037080"/>
          </a:xfrm>
        </p:grpSpPr>
        <p:sp>
          <p:nvSpPr>
            <p:cNvPr id="5" name="Freeform 5"/>
            <p:cNvSpPr/>
            <p:nvPr/>
          </p:nvSpPr>
          <p:spPr>
            <a:xfrm>
              <a:off x="0" y="0"/>
              <a:ext cx="24403304" cy="2037080"/>
            </a:xfrm>
            <a:custGeom>
              <a:avLst/>
              <a:gdLst/>
              <a:ahLst/>
              <a:cxnLst/>
              <a:rect l="l" t="t" r="r" b="b"/>
              <a:pathLst>
                <a:path w="24403304" h="2037080">
                  <a:moveTo>
                    <a:pt x="0" y="0"/>
                  </a:moveTo>
                  <a:lnTo>
                    <a:pt x="24403304" y="0"/>
                  </a:lnTo>
                  <a:lnTo>
                    <a:pt x="24403304" y="2037080"/>
                  </a:lnTo>
                  <a:lnTo>
                    <a:pt x="0" y="2037080"/>
                  </a:lnTo>
                  <a:close/>
                </a:path>
              </a:pathLst>
            </a:custGeom>
            <a:solidFill>
              <a:srgbClr val="132338"/>
            </a:solidFill>
            <a:ln w="19050" cap="sq">
              <a:solidFill>
                <a:srgbClr val="0D1B2A"/>
              </a:solidFill>
              <a:prstDash val="solid"/>
              <a:miter/>
            </a:ln>
          </p:spPr>
        </p:sp>
      </p:grpSp>
      <p:grpSp>
        <p:nvGrpSpPr>
          <p:cNvPr id="6" name="Group 6"/>
          <p:cNvGrpSpPr/>
          <p:nvPr/>
        </p:nvGrpSpPr>
        <p:grpSpPr>
          <a:xfrm>
            <a:off x="548640" y="137160"/>
            <a:ext cx="16911828" cy="822960"/>
            <a:chOff x="0" y="0"/>
            <a:chExt cx="22549104" cy="1097280"/>
          </a:xfrm>
        </p:grpSpPr>
        <p:sp>
          <p:nvSpPr>
            <p:cNvPr id="7" name="Freeform 7"/>
            <p:cNvSpPr/>
            <p:nvPr/>
          </p:nvSpPr>
          <p:spPr>
            <a:xfrm>
              <a:off x="0" y="0"/>
              <a:ext cx="22549104" cy="1097280"/>
            </a:xfrm>
            <a:custGeom>
              <a:avLst/>
              <a:gdLst/>
              <a:ahLst/>
              <a:cxnLst/>
              <a:rect l="l" t="t" r="r" b="b"/>
              <a:pathLst>
                <a:path w="22549104" h="1097280">
                  <a:moveTo>
                    <a:pt x="0" y="0"/>
                  </a:moveTo>
                  <a:lnTo>
                    <a:pt x="22549104" y="0"/>
                  </a:lnTo>
                  <a:lnTo>
                    <a:pt x="22549104" y="1097280"/>
                  </a:lnTo>
                  <a:lnTo>
                    <a:pt x="0" y="1097280"/>
                  </a:lnTo>
                  <a:close/>
                </a:path>
              </a:pathLst>
            </a:custGeom>
            <a:blipFill>
              <a:blip r:embed="rId3">
                <a:alphaModFix amt="0"/>
              </a:blip>
              <a:stretch>
                <a:fillRect t="-350417" b="-350417"/>
              </a:stretch>
            </a:blipFill>
          </p:spPr>
        </p:sp>
        <p:sp>
          <p:nvSpPr>
            <p:cNvPr id="8" name="TextBox 8"/>
            <p:cNvSpPr txBox="1"/>
            <p:nvPr/>
          </p:nvSpPr>
          <p:spPr>
            <a:xfrm>
              <a:off x="0" y="0"/>
              <a:ext cx="22549104" cy="1097280"/>
            </a:xfrm>
            <a:prstGeom prst="rect">
              <a:avLst/>
            </a:prstGeom>
          </p:spPr>
          <p:txBody>
            <a:bodyPr lIns="0" tIns="0" rIns="0" bIns="0" rtlCol="0" anchor="ctr"/>
            <a:lstStyle/>
            <a:p>
              <a:pPr algn="l">
                <a:lnSpc>
                  <a:spcPts val="5040"/>
                </a:lnSpc>
              </a:pPr>
              <a:r>
                <a:rPr lang="en-US" sz="4200" b="1">
                  <a:solidFill>
                    <a:srgbClr val="FFFFFF"/>
                  </a:solidFill>
                  <a:latin typeface="DM Sans Bold"/>
                  <a:ea typeface="DM Sans Bold"/>
                  <a:cs typeface="DM Sans Bold"/>
                  <a:sym typeface="DM Sans Bold"/>
                </a:rPr>
                <a:t>Problem &amp; Objective</a:t>
              </a:r>
            </a:p>
          </p:txBody>
        </p:sp>
      </p:grpSp>
      <p:grpSp>
        <p:nvGrpSpPr>
          <p:cNvPr id="9" name="Group 9"/>
          <p:cNvGrpSpPr/>
          <p:nvPr/>
        </p:nvGrpSpPr>
        <p:grpSpPr>
          <a:xfrm>
            <a:off x="548640" y="891540"/>
            <a:ext cx="16911828" cy="521208"/>
            <a:chOff x="0" y="0"/>
            <a:chExt cx="22549104" cy="694944"/>
          </a:xfrm>
        </p:grpSpPr>
        <p:sp>
          <p:nvSpPr>
            <p:cNvPr id="10" name="Freeform 10"/>
            <p:cNvSpPr/>
            <p:nvPr/>
          </p:nvSpPr>
          <p:spPr>
            <a:xfrm>
              <a:off x="0" y="0"/>
              <a:ext cx="22549104" cy="694944"/>
            </a:xfrm>
            <a:custGeom>
              <a:avLst/>
              <a:gdLst/>
              <a:ahLst/>
              <a:cxnLst/>
              <a:rect l="l" t="t" r="r" b="b"/>
              <a:pathLst>
                <a:path w="22549104" h="694944">
                  <a:moveTo>
                    <a:pt x="0" y="0"/>
                  </a:moveTo>
                  <a:lnTo>
                    <a:pt x="22549104" y="0"/>
                  </a:lnTo>
                  <a:lnTo>
                    <a:pt x="22549104" y="694944"/>
                  </a:lnTo>
                  <a:lnTo>
                    <a:pt x="0" y="694944"/>
                  </a:lnTo>
                  <a:close/>
                </a:path>
              </a:pathLst>
            </a:custGeom>
            <a:blipFill>
              <a:blip r:embed="rId3">
                <a:alphaModFix amt="0"/>
              </a:blip>
              <a:stretch>
                <a:fillRect t="-582238" b="-582238"/>
              </a:stretch>
            </a:blipFill>
          </p:spPr>
        </p:sp>
        <p:sp>
          <p:nvSpPr>
            <p:cNvPr id="11" name="TextBox 11"/>
            <p:cNvSpPr txBox="1"/>
            <p:nvPr/>
          </p:nvSpPr>
          <p:spPr>
            <a:xfrm>
              <a:off x="0" y="9525"/>
              <a:ext cx="22549104" cy="685419"/>
            </a:xfrm>
            <a:prstGeom prst="rect">
              <a:avLst/>
            </a:prstGeom>
          </p:spPr>
          <p:txBody>
            <a:bodyPr lIns="0" tIns="0" rIns="0" bIns="0" rtlCol="0" anchor="ctr"/>
            <a:lstStyle/>
            <a:p>
              <a:pPr algn="l">
                <a:lnSpc>
                  <a:spcPts val="2340"/>
                </a:lnSpc>
              </a:pPr>
              <a:r>
                <a:rPr lang="en-US" sz="1950">
                  <a:solidFill>
                    <a:srgbClr val="DCEDFA"/>
                  </a:solidFill>
                  <a:latin typeface="DM Sans"/>
                  <a:ea typeface="DM Sans"/>
                  <a:cs typeface="DM Sans"/>
                  <a:sym typeface="DM Sans"/>
                </a:rPr>
                <a:t>Why does this analysis matter?</a:t>
              </a:r>
            </a:p>
          </p:txBody>
        </p:sp>
      </p:grpSp>
      <p:grpSp>
        <p:nvGrpSpPr>
          <p:cNvPr id="12" name="Group 12"/>
          <p:cNvGrpSpPr/>
          <p:nvPr/>
        </p:nvGrpSpPr>
        <p:grpSpPr>
          <a:xfrm>
            <a:off x="-9525" y="1499235"/>
            <a:ext cx="18302478" cy="73914"/>
            <a:chOff x="0" y="0"/>
            <a:chExt cx="24403304" cy="98552"/>
          </a:xfrm>
        </p:grpSpPr>
        <p:sp>
          <p:nvSpPr>
            <p:cNvPr id="13" name="Freeform 13"/>
            <p:cNvSpPr/>
            <p:nvPr/>
          </p:nvSpPr>
          <p:spPr>
            <a:xfrm>
              <a:off x="0" y="0"/>
              <a:ext cx="24403304" cy="98552"/>
            </a:xfrm>
            <a:custGeom>
              <a:avLst/>
              <a:gdLst/>
              <a:ahLst/>
              <a:cxnLst/>
              <a:rect l="l" t="t" r="r" b="b"/>
              <a:pathLst>
                <a:path w="24403304" h="98552">
                  <a:moveTo>
                    <a:pt x="0" y="0"/>
                  </a:moveTo>
                  <a:lnTo>
                    <a:pt x="24403304" y="0"/>
                  </a:lnTo>
                  <a:lnTo>
                    <a:pt x="24403304" y="98552"/>
                  </a:lnTo>
                  <a:lnTo>
                    <a:pt x="0" y="98552"/>
                  </a:lnTo>
                  <a:close/>
                </a:path>
              </a:pathLst>
            </a:custGeom>
            <a:solidFill>
              <a:srgbClr val="1565C0"/>
            </a:solidFill>
            <a:ln w="19050" cap="sq">
              <a:solidFill>
                <a:srgbClr val="1565C0"/>
              </a:solidFill>
              <a:prstDash val="solid"/>
              <a:miter/>
            </a:ln>
          </p:spPr>
        </p:sp>
      </p:grpSp>
      <p:grpSp>
        <p:nvGrpSpPr>
          <p:cNvPr id="14" name="Group 14"/>
          <p:cNvGrpSpPr/>
          <p:nvPr/>
        </p:nvGrpSpPr>
        <p:grpSpPr>
          <a:xfrm>
            <a:off x="539115" y="1842135"/>
            <a:ext cx="17026890" cy="1733550"/>
            <a:chOff x="0" y="0"/>
            <a:chExt cx="22702520" cy="2311400"/>
          </a:xfrm>
        </p:grpSpPr>
        <p:sp>
          <p:nvSpPr>
            <p:cNvPr id="15" name="Freeform 15"/>
            <p:cNvSpPr/>
            <p:nvPr/>
          </p:nvSpPr>
          <p:spPr>
            <a:xfrm>
              <a:off x="0" y="0"/>
              <a:ext cx="22702520" cy="2311400"/>
            </a:xfrm>
            <a:custGeom>
              <a:avLst/>
              <a:gdLst/>
              <a:ahLst/>
              <a:cxnLst/>
              <a:rect l="l" t="t" r="r" b="b"/>
              <a:pathLst>
                <a:path w="22702520" h="2311400">
                  <a:moveTo>
                    <a:pt x="0" y="0"/>
                  </a:moveTo>
                  <a:lnTo>
                    <a:pt x="22702520" y="0"/>
                  </a:lnTo>
                  <a:lnTo>
                    <a:pt x="22702520" y="2311400"/>
                  </a:lnTo>
                  <a:lnTo>
                    <a:pt x="0" y="2311400"/>
                  </a:lnTo>
                  <a:close/>
                </a:path>
              </a:pathLst>
            </a:custGeom>
            <a:solidFill>
              <a:srgbClr val="EBF4FF"/>
            </a:solidFill>
            <a:ln w="19050" cap="sq">
              <a:solidFill>
                <a:srgbClr val="BEE3F8"/>
              </a:solidFill>
              <a:prstDash val="solid"/>
              <a:miter/>
            </a:ln>
          </p:spPr>
        </p:sp>
      </p:grpSp>
      <p:grpSp>
        <p:nvGrpSpPr>
          <p:cNvPr id="16" name="Group 16"/>
          <p:cNvGrpSpPr/>
          <p:nvPr/>
        </p:nvGrpSpPr>
        <p:grpSpPr>
          <a:xfrm>
            <a:off x="1013460" y="2302002"/>
            <a:ext cx="3017520" cy="685800"/>
            <a:chOff x="0" y="0"/>
            <a:chExt cx="4023360" cy="914400"/>
          </a:xfrm>
        </p:grpSpPr>
        <p:sp>
          <p:nvSpPr>
            <p:cNvPr id="17" name="Freeform 17"/>
            <p:cNvSpPr/>
            <p:nvPr/>
          </p:nvSpPr>
          <p:spPr>
            <a:xfrm>
              <a:off x="0" y="0"/>
              <a:ext cx="4023360" cy="914400"/>
            </a:xfrm>
            <a:custGeom>
              <a:avLst/>
              <a:gdLst/>
              <a:ahLst/>
              <a:cxnLst/>
              <a:rect l="l" t="t" r="r" b="b"/>
              <a:pathLst>
                <a:path w="4023360" h="914400">
                  <a:moveTo>
                    <a:pt x="0" y="0"/>
                  </a:moveTo>
                  <a:lnTo>
                    <a:pt x="4023360" y="0"/>
                  </a:lnTo>
                  <a:lnTo>
                    <a:pt x="4023360" y="914400"/>
                  </a:lnTo>
                  <a:lnTo>
                    <a:pt x="0" y="914400"/>
                  </a:lnTo>
                  <a:close/>
                </a:path>
              </a:pathLst>
            </a:custGeom>
            <a:blipFill>
              <a:blip r:embed="rId3">
                <a:alphaModFix amt="0"/>
              </a:blip>
              <a:stretch>
                <a:fillRect t="-35734" b="-35734"/>
              </a:stretch>
            </a:blipFill>
          </p:spPr>
        </p:sp>
        <p:sp>
          <p:nvSpPr>
            <p:cNvPr id="18" name="TextBox 18"/>
            <p:cNvSpPr txBox="1"/>
            <p:nvPr/>
          </p:nvSpPr>
          <p:spPr>
            <a:xfrm>
              <a:off x="0" y="9525"/>
              <a:ext cx="4023360" cy="904875"/>
            </a:xfrm>
            <a:prstGeom prst="rect">
              <a:avLst/>
            </a:prstGeom>
          </p:spPr>
          <p:txBody>
            <a:bodyPr lIns="0" tIns="0" rIns="0" bIns="0" rtlCol="0" anchor="ctr"/>
            <a:lstStyle/>
            <a:p>
              <a:pPr algn="l">
                <a:lnSpc>
                  <a:spcPts val="3179"/>
                </a:lnSpc>
              </a:pPr>
              <a:r>
                <a:rPr lang="en-US" sz="2649" b="1">
                  <a:solidFill>
                    <a:srgbClr val="1A5276"/>
                  </a:solidFill>
                  <a:latin typeface="DM Sans Bold"/>
                  <a:ea typeface="DM Sans Bold"/>
                  <a:cs typeface="DM Sans Bold"/>
                  <a:sym typeface="DM Sans Bold"/>
                </a:rPr>
                <a:t>Problem</a:t>
              </a:r>
            </a:p>
          </p:txBody>
        </p:sp>
      </p:grpSp>
      <p:grpSp>
        <p:nvGrpSpPr>
          <p:cNvPr id="19" name="Group 19"/>
          <p:cNvGrpSpPr/>
          <p:nvPr/>
        </p:nvGrpSpPr>
        <p:grpSpPr>
          <a:xfrm>
            <a:off x="3817620" y="2016252"/>
            <a:ext cx="13441680" cy="1440180"/>
            <a:chOff x="0" y="0"/>
            <a:chExt cx="17922240" cy="1920240"/>
          </a:xfrm>
        </p:grpSpPr>
        <p:sp>
          <p:nvSpPr>
            <p:cNvPr id="20" name="Freeform 20"/>
            <p:cNvSpPr/>
            <p:nvPr/>
          </p:nvSpPr>
          <p:spPr>
            <a:xfrm>
              <a:off x="0" y="0"/>
              <a:ext cx="17922239" cy="1920240"/>
            </a:xfrm>
            <a:custGeom>
              <a:avLst/>
              <a:gdLst/>
              <a:ahLst/>
              <a:cxnLst/>
              <a:rect l="l" t="t" r="r" b="b"/>
              <a:pathLst>
                <a:path w="17922239" h="1920240">
                  <a:moveTo>
                    <a:pt x="0" y="0"/>
                  </a:moveTo>
                  <a:lnTo>
                    <a:pt x="17922239" y="0"/>
                  </a:lnTo>
                  <a:lnTo>
                    <a:pt x="17922239" y="1920240"/>
                  </a:lnTo>
                  <a:lnTo>
                    <a:pt x="0" y="1920240"/>
                  </a:lnTo>
                  <a:close/>
                </a:path>
              </a:pathLst>
            </a:custGeom>
            <a:blipFill>
              <a:blip r:embed="rId3">
                <a:alphaModFix amt="0"/>
              </a:blip>
              <a:stretch>
                <a:fillRect t="-131860" b="-131860"/>
              </a:stretch>
            </a:blipFill>
          </p:spPr>
        </p:sp>
        <p:sp>
          <p:nvSpPr>
            <p:cNvPr id="21" name="TextBox 21"/>
            <p:cNvSpPr txBox="1"/>
            <p:nvPr/>
          </p:nvSpPr>
          <p:spPr>
            <a:xfrm>
              <a:off x="0" y="9525"/>
              <a:ext cx="17922240" cy="1910715"/>
            </a:xfrm>
            <a:prstGeom prst="rect">
              <a:avLst/>
            </a:prstGeom>
          </p:spPr>
          <p:txBody>
            <a:bodyPr lIns="0" tIns="0" rIns="0" bIns="0" rtlCol="0" anchor="ctr"/>
            <a:lstStyle/>
            <a:p>
              <a:pPr algn="l">
                <a:lnSpc>
                  <a:spcPts val="2070"/>
                </a:lnSpc>
              </a:pPr>
              <a:r>
                <a:rPr lang="en-US" sz="1725">
                  <a:solidFill>
                    <a:srgbClr val="0D1B2A"/>
                  </a:solidFill>
                  <a:latin typeface="DM Sans"/>
                  <a:ea typeface="DM Sans"/>
                  <a:cs typeface="DM Sans"/>
                  <a:sym typeface="DM Sans"/>
                </a:rPr>
                <a:t>With more than 1,900 mutual fund schemes available in the Indian market, there is a growing need for a centralized analytics platform that transforms raw fund data into meaningful insights. Retail investors lack data-driven tools to compare performance, risk, and suitability.</a:t>
              </a:r>
            </a:p>
          </p:txBody>
        </p:sp>
      </p:grpSp>
      <p:grpSp>
        <p:nvGrpSpPr>
          <p:cNvPr id="22" name="Group 22"/>
          <p:cNvGrpSpPr/>
          <p:nvPr/>
        </p:nvGrpSpPr>
        <p:grpSpPr>
          <a:xfrm>
            <a:off x="539115" y="3789807"/>
            <a:ext cx="17026890" cy="1733550"/>
            <a:chOff x="0" y="0"/>
            <a:chExt cx="22702520" cy="2311400"/>
          </a:xfrm>
        </p:grpSpPr>
        <p:sp>
          <p:nvSpPr>
            <p:cNvPr id="23" name="Freeform 23"/>
            <p:cNvSpPr/>
            <p:nvPr/>
          </p:nvSpPr>
          <p:spPr>
            <a:xfrm>
              <a:off x="0" y="0"/>
              <a:ext cx="22702520" cy="2311400"/>
            </a:xfrm>
            <a:custGeom>
              <a:avLst/>
              <a:gdLst/>
              <a:ahLst/>
              <a:cxnLst/>
              <a:rect l="l" t="t" r="r" b="b"/>
              <a:pathLst>
                <a:path w="22702520" h="2311400">
                  <a:moveTo>
                    <a:pt x="0" y="0"/>
                  </a:moveTo>
                  <a:lnTo>
                    <a:pt x="22702520" y="0"/>
                  </a:lnTo>
                  <a:lnTo>
                    <a:pt x="22702520" y="2311400"/>
                  </a:lnTo>
                  <a:lnTo>
                    <a:pt x="0" y="2311400"/>
                  </a:lnTo>
                  <a:close/>
                </a:path>
              </a:pathLst>
            </a:custGeom>
            <a:solidFill>
              <a:srgbClr val="FFFFFF"/>
            </a:solidFill>
            <a:ln w="19050" cap="sq">
              <a:solidFill>
                <a:srgbClr val="BEE3F8"/>
              </a:solidFill>
              <a:prstDash val="solid"/>
              <a:miter/>
            </a:ln>
          </p:spPr>
        </p:sp>
      </p:grpSp>
      <p:grpSp>
        <p:nvGrpSpPr>
          <p:cNvPr id="24" name="Group 24"/>
          <p:cNvGrpSpPr/>
          <p:nvPr/>
        </p:nvGrpSpPr>
        <p:grpSpPr>
          <a:xfrm>
            <a:off x="1013460" y="4249674"/>
            <a:ext cx="3017520" cy="685800"/>
            <a:chOff x="0" y="0"/>
            <a:chExt cx="4023360" cy="914400"/>
          </a:xfrm>
        </p:grpSpPr>
        <p:sp>
          <p:nvSpPr>
            <p:cNvPr id="25" name="Freeform 25"/>
            <p:cNvSpPr/>
            <p:nvPr/>
          </p:nvSpPr>
          <p:spPr>
            <a:xfrm>
              <a:off x="0" y="0"/>
              <a:ext cx="4023360" cy="914400"/>
            </a:xfrm>
            <a:custGeom>
              <a:avLst/>
              <a:gdLst/>
              <a:ahLst/>
              <a:cxnLst/>
              <a:rect l="l" t="t" r="r" b="b"/>
              <a:pathLst>
                <a:path w="4023360" h="914400">
                  <a:moveTo>
                    <a:pt x="0" y="0"/>
                  </a:moveTo>
                  <a:lnTo>
                    <a:pt x="4023360" y="0"/>
                  </a:lnTo>
                  <a:lnTo>
                    <a:pt x="4023360" y="914400"/>
                  </a:lnTo>
                  <a:lnTo>
                    <a:pt x="0" y="914400"/>
                  </a:lnTo>
                  <a:close/>
                </a:path>
              </a:pathLst>
            </a:custGeom>
            <a:blipFill>
              <a:blip r:embed="rId3">
                <a:alphaModFix amt="0"/>
              </a:blip>
              <a:stretch>
                <a:fillRect t="-35734" b="-35734"/>
              </a:stretch>
            </a:blipFill>
          </p:spPr>
        </p:sp>
        <p:sp>
          <p:nvSpPr>
            <p:cNvPr id="26" name="TextBox 26"/>
            <p:cNvSpPr txBox="1"/>
            <p:nvPr/>
          </p:nvSpPr>
          <p:spPr>
            <a:xfrm>
              <a:off x="0" y="9525"/>
              <a:ext cx="4023360" cy="904875"/>
            </a:xfrm>
            <a:prstGeom prst="rect">
              <a:avLst/>
            </a:prstGeom>
          </p:spPr>
          <p:txBody>
            <a:bodyPr lIns="0" tIns="0" rIns="0" bIns="0" rtlCol="0" anchor="ctr"/>
            <a:lstStyle/>
            <a:p>
              <a:pPr algn="l">
                <a:lnSpc>
                  <a:spcPts val="3179"/>
                </a:lnSpc>
              </a:pPr>
              <a:r>
                <a:rPr lang="en-US" sz="2649" b="1">
                  <a:solidFill>
                    <a:srgbClr val="1A5276"/>
                  </a:solidFill>
                  <a:latin typeface="DM Sans Bold"/>
                  <a:ea typeface="DM Sans Bold"/>
                  <a:cs typeface="DM Sans Bold"/>
                  <a:sym typeface="DM Sans Bold"/>
                </a:rPr>
                <a:t>Objective</a:t>
              </a:r>
            </a:p>
          </p:txBody>
        </p:sp>
      </p:grpSp>
      <p:grpSp>
        <p:nvGrpSpPr>
          <p:cNvPr id="27" name="Group 27"/>
          <p:cNvGrpSpPr/>
          <p:nvPr/>
        </p:nvGrpSpPr>
        <p:grpSpPr>
          <a:xfrm>
            <a:off x="3840480" y="3909060"/>
            <a:ext cx="13441680" cy="1440180"/>
            <a:chOff x="0" y="0"/>
            <a:chExt cx="17922240" cy="1920240"/>
          </a:xfrm>
        </p:grpSpPr>
        <p:sp>
          <p:nvSpPr>
            <p:cNvPr id="28" name="Freeform 28"/>
            <p:cNvSpPr/>
            <p:nvPr/>
          </p:nvSpPr>
          <p:spPr>
            <a:xfrm>
              <a:off x="0" y="0"/>
              <a:ext cx="17922239" cy="1920240"/>
            </a:xfrm>
            <a:custGeom>
              <a:avLst/>
              <a:gdLst/>
              <a:ahLst/>
              <a:cxnLst/>
              <a:rect l="l" t="t" r="r" b="b"/>
              <a:pathLst>
                <a:path w="17922239" h="1920240">
                  <a:moveTo>
                    <a:pt x="0" y="0"/>
                  </a:moveTo>
                  <a:lnTo>
                    <a:pt x="17922239" y="0"/>
                  </a:lnTo>
                  <a:lnTo>
                    <a:pt x="17922239" y="1920240"/>
                  </a:lnTo>
                  <a:lnTo>
                    <a:pt x="0" y="1920240"/>
                  </a:lnTo>
                  <a:close/>
                </a:path>
              </a:pathLst>
            </a:custGeom>
            <a:blipFill>
              <a:blip r:embed="rId3">
                <a:alphaModFix amt="0"/>
              </a:blip>
              <a:stretch>
                <a:fillRect t="-131860" b="-131860"/>
              </a:stretch>
            </a:blipFill>
          </p:spPr>
        </p:sp>
        <p:sp>
          <p:nvSpPr>
            <p:cNvPr id="29" name="TextBox 29"/>
            <p:cNvSpPr txBox="1"/>
            <p:nvPr/>
          </p:nvSpPr>
          <p:spPr>
            <a:xfrm>
              <a:off x="0" y="9525"/>
              <a:ext cx="17922240" cy="1910715"/>
            </a:xfrm>
            <a:prstGeom prst="rect">
              <a:avLst/>
            </a:prstGeom>
          </p:spPr>
          <p:txBody>
            <a:bodyPr lIns="0" tIns="0" rIns="0" bIns="0" rtlCol="0" anchor="ctr"/>
            <a:lstStyle/>
            <a:p>
              <a:pPr algn="l">
                <a:lnSpc>
                  <a:spcPts val="2070"/>
                </a:lnSpc>
              </a:pPr>
              <a:r>
                <a:rPr lang="en-US" sz="1725">
                  <a:solidFill>
                    <a:srgbClr val="0D1B2A"/>
                  </a:solidFill>
                  <a:latin typeface="DM Sans"/>
                  <a:ea typeface="DM Sans"/>
                  <a:cs typeface="DM Sans"/>
                  <a:sym typeface="DM Sans"/>
                </a:rPr>
                <a:t>The primary objective of this project is to develop a production-ready mutual fund analytics system capable of ingesting of AMFI data, clean it, analyzing and computing risk metrics, and visualizing large-scale mutual fund data. The final outcome is a comprehensive analytics platform that supports data-driven mutual fund evaluation and investment decision-making with interactive dashboard.</a:t>
              </a:r>
            </a:p>
          </p:txBody>
        </p:sp>
      </p:grpSp>
      <p:grpSp>
        <p:nvGrpSpPr>
          <p:cNvPr id="30" name="Group 30"/>
          <p:cNvGrpSpPr/>
          <p:nvPr/>
        </p:nvGrpSpPr>
        <p:grpSpPr>
          <a:xfrm>
            <a:off x="539115" y="5737479"/>
            <a:ext cx="17026890" cy="1733550"/>
            <a:chOff x="0" y="0"/>
            <a:chExt cx="22702520" cy="2311400"/>
          </a:xfrm>
        </p:grpSpPr>
        <p:sp>
          <p:nvSpPr>
            <p:cNvPr id="31" name="Freeform 31"/>
            <p:cNvSpPr/>
            <p:nvPr/>
          </p:nvSpPr>
          <p:spPr>
            <a:xfrm>
              <a:off x="0" y="0"/>
              <a:ext cx="22702520" cy="2311400"/>
            </a:xfrm>
            <a:custGeom>
              <a:avLst/>
              <a:gdLst/>
              <a:ahLst/>
              <a:cxnLst/>
              <a:rect l="l" t="t" r="r" b="b"/>
              <a:pathLst>
                <a:path w="22702520" h="2311400">
                  <a:moveTo>
                    <a:pt x="0" y="0"/>
                  </a:moveTo>
                  <a:lnTo>
                    <a:pt x="22702520" y="0"/>
                  </a:lnTo>
                  <a:lnTo>
                    <a:pt x="22702520" y="2311400"/>
                  </a:lnTo>
                  <a:lnTo>
                    <a:pt x="0" y="2311400"/>
                  </a:lnTo>
                  <a:close/>
                </a:path>
              </a:pathLst>
            </a:custGeom>
            <a:solidFill>
              <a:srgbClr val="EBF4FF"/>
            </a:solidFill>
            <a:ln w="19050" cap="sq">
              <a:solidFill>
                <a:srgbClr val="BEE3F8"/>
              </a:solidFill>
              <a:prstDash val="solid"/>
              <a:miter/>
            </a:ln>
          </p:spPr>
        </p:sp>
      </p:grpSp>
      <p:grpSp>
        <p:nvGrpSpPr>
          <p:cNvPr id="32" name="Group 32"/>
          <p:cNvGrpSpPr/>
          <p:nvPr/>
        </p:nvGrpSpPr>
        <p:grpSpPr>
          <a:xfrm>
            <a:off x="1013460" y="6197346"/>
            <a:ext cx="3017520" cy="685800"/>
            <a:chOff x="0" y="0"/>
            <a:chExt cx="4023360" cy="914400"/>
          </a:xfrm>
        </p:grpSpPr>
        <p:sp>
          <p:nvSpPr>
            <p:cNvPr id="33" name="Freeform 33"/>
            <p:cNvSpPr/>
            <p:nvPr/>
          </p:nvSpPr>
          <p:spPr>
            <a:xfrm>
              <a:off x="0" y="0"/>
              <a:ext cx="4023360" cy="914400"/>
            </a:xfrm>
            <a:custGeom>
              <a:avLst/>
              <a:gdLst/>
              <a:ahLst/>
              <a:cxnLst/>
              <a:rect l="l" t="t" r="r" b="b"/>
              <a:pathLst>
                <a:path w="4023360" h="914400">
                  <a:moveTo>
                    <a:pt x="0" y="0"/>
                  </a:moveTo>
                  <a:lnTo>
                    <a:pt x="4023360" y="0"/>
                  </a:lnTo>
                  <a:lnTo>
                    <a:pt x="4023360" y="914400"/>
                  </a:lnTo>
                  <a:lnTo>
                    <a:pt x="0" y="914400"/>
                  </a:lnTo>
                  <a:close/>
                </a:path>
              </a:pathLst>
            </a:custGeom>
            <a:blipFill>
              <a:blip r:embed="rId3">
                <a:alphaModFix amt="0"/>
              </a:blip>
              <a:stretch>
                <a:fillRect t="-35734" b="-35734"/>
              </a:stretch>
            </a:blipFill>
          </p:spPr>
        </p:sp>
        <p:sp>
          <p:nvSpPr>
            <p:cNvPr id="34" name="TextBox 34"/>
            <p:cNvSpPr txBox="1"/>
            <p:nvPr/>
          </p:nvSpPr>
          <p:spPr>
            <a:xfrm>
              <a:off x="0" y="9525"/>
              <a:ext cx="4023360" cy="904875"/>
            </a:xfrm>
            <a:prstGeom prst="rect">
              <a:avLst/>
            </a:prstGeom>
          </p:spPr>
          <p:txBody>
            <a:bodyPr lIns="0" tIns="0" rIns="0" bIns="0" rtlCol="0" anchor="ctr"/>
            <a:lstStyle/>
            <a:p>
              <a:pPr algn="l">
                <a:lnSpc>
                  <a:spcPts val="3179"/>
                </a:lnSpc>
              </a:pPr>
              <a:r>
                <a:rPr lang="en-US" sz="2649" b="1">
                  <a:solidFill>
                    <a:srgbClr val="1A5276"/>
                  </a:solidFill>
                  <a:latin typeface="DM Sans Bold"/>
                  <a:ea typeface="DM Sans Bold"/>
                  <a:cs typeface="DM Sans Bold"/>
                  <a:sym typeface="DM Sans Bold"/>
                </a:rPr>
                <a:t>Scope</a:t>
              </a:r>
            </a:p>
          </p:txBody>
        </p:sp>
      </p:grpSp>
      <p:grpSp>
        <p:nvGrpSpPr>
          <p:cNvPr id="35" name="Group 35"/>
          <p:cNvGrpSpPr/>
          <p:nvPr/>
        </p:nvGrpSpPr>
        <p:grpSpPr>
          <a:xfrm>
            <a:off x="3840480" y="5856732"/>
            <a:ext cx="13441680" cy="1440180"/>
            <a:chOff x="0" y="0"/>
            <a:chExt cx="17922240" cy="1920240"/>
          </a:xfrm>
        </p:grpSpPr>
        <p:sp>
          <p:nvSpPr>
            <p:cNvPr id="36" name="Freeform 36"/>
            <p:cNvSpPr/>
            <p:nvPr/>
          </p:nvSpPr>
          <p:spPr>
            <a:xfrm>
              <a:off x="0" y="0"/>
              <a:ext cx="17922239" cy="1920240"/>
            </a:xfrm>
            <a:custGeom>
              <a:avLst/>
              <a:gdLst/>
              <a:ahLst/>
              <a:cxnLst/>
              <a:rect l="l" t="t" r="r" b="b"/>
              <a:pathLst>
                <a:path w="17922239" h="1920240">
                  <a:moveTo>
                    <a:pt x="0" y="0"/>
                  </a:moveTo>
                  <a:lnTo>
                    <a:pt x="17922239" y="0"/>
                  </a:lnTo>
                  <a:lnTo>
                    <a:pt x="17922239" y="1920240"/>
                  </a:lnTo>
                  <a:lnTo>
                    <a:pt x="0" y="1920240"/>
                  </a:lnTo>
                  <a:close/>
                </a:path>
              </a:pathLst>
            </a:custGeom>
            <a:blipFill>
              <a:blip r:embed="rId3">
                <a:alphaModFix amt="0"/>
              </a:blip>
              <a:stretch>
                <a:fillRect t="-131860" b="-131860"/>
              </a:stretch>
            </a:blipFill>
          </p:spPr>
        </p:sp>
        <p:sp>
          <p:nvSpPr>
            <p:cNvPr id="37" name="TextBox 37"/>
            <p:cNvSpPr txBox="1"/>
            <p:nvPr/>
          </p:nvSpPr>
          <p:spPr>
            <a:xfrm>
              <a:off x="0" y="9525"/>
              <a:ext cx="17922240" cy="1910715"/>
            </a:xfrm>
            <a:prstGeom prst="rect">
              <a:avLst/>
            </a:prstGeom>
          </p:spPr>
          <p:txBody>
            <a:bodyPr lIns="0" tIns="0" rIns="0" bIns="0" rtlCol="0" anchor="ctr"/>
            <a:lstStyle/>
            <a:p>
              <a:pPr algn="l">
                <a:lnSpc>
                  <a:spcPts val="2070"/>
                </a:lnSpc>
              </a:pPr>
              <a:r>
                <a:rPr lang="en-US" sz="1725">
                  <a:solidFill>
                    <a:srgbClr val="0D1B2A"/>
                  </a:solidFill>
                  <a:latin typeface="DM Sans"/>
                  <a:ea typeface="DM Sans"/>
                  <a:cs typeface="DM Sans"/>
                  <a:sym typeface="DM Sans"/>
                </a:rPr>
                <a:t>40 Mutual Fund Schemes  | 10 Major Fund Houses | Jan 2022 – Dec 2025  |  73,080 Historical NAV Records  |  31,238 investor transactions  | Multiple Benchmark Indices | Portfolio Holdings and Sector Allocations | SIP and AUM Industry Statistics</a:t>
              </a:r>
            </a:p>
            <a:p>
              <a:pPr algn="l">
                <a:lnSpc>
                  <a:spcPts val="2070"/>
                </a:lnSpc>
              </a:pPr>
              <a:endParaRPr lang="en-US" sz="1725">
                <a:solidFill>
                  <a:srgbClr val="0D1B2A"/>
                </a:solidFill>
                <a:latin typeface="DM Sans"/>
                <a:ea typeface="DM Sans"/>
                <a:cs typeface="DM Sans"/>
                <a:sym typeface="DM Sans"/>
              </a:endParaRPr>
            </a:p>
            <a:p>
              <a:pPr algn="l">
                <a:lnSpc>
                  <a:spcPts val="2070"/>
                </a:lnSpc>
              </a:pPr>
              <a:r>
                <a:rPr lang="en-US" sz="1725">
                  <a:solidFill>
                    <a:srgbClr val="0D1B2A"/>
                  </a:solidFill>
                  <a:latin typeface="DM Sans"/>
                  <a:ea typeface="DM Sans"/>
                  <a:cs typeface="DM Sans"/>
                  <a:sym typeface="DM Sans"/>
                </a:rPr>
                <a:t>This scope enables both fund-level and industry-level analysis across performance, risk, investor behavior, and market trends.</a:t>
              </a:r>
            </a:p>
          </p:txBody>
        </p:sp>
      </p:grpSp>
      <p:grpSp>
        <p:nvGrpSpPr>
          <p:cNvPr id="38" name="Group 38"/>
          <p:cNvGrpSpPr/>
          <p:nvPr/>
        </p:nvGrpSpPr>
        <p:grpSpPr>
          <a:xfrm>
            <a:off x="539115" y="7685151"/>
            <a:ext cx="17026890" cy="1733550"/>
            <a:chOff x="0" y="0"/>
            <a:chExt cx="22702520" cy="2311400"/>
          </a:xfrm>
        </p:grpSpPr>
        <p:sp>
          <p:nvSpPr>
            <p:cNvPr id="39" name="Freeform 39"/>
            <p:cNvSpPr/>
            <p:nvPr/>
          </p:nvSpPr>
          <p:spPr>
            <a:xfrm>
              <a:off x="0" y="0"/>
              <a:ext cx="22702520" cy="2311400"/>
            </a:xfrm>
            <a:custGeom>
              <a:avLst/>
              <a:gdLst/>
              <a:ahLst/>
              <a:cxnLst/>
              <a:rect l="l" t="t" r="r" b="b"/>
              <a:pathLst>
                <a:path w="22702520" h="2311400">
                  <a:moveTo>
                    <a:pt x="0" y="0"/>
                  </a:moveTo>
                  <a:lnTo>
                    <a:pt x="22702520" y="0"/>
                  </a:lnTo>
                  <a:lnTo>
                    <a:pt x="22702520" y="2311400"/>
                  </a:lnTo>
                  <a:lnTo>
                    <a:pt x="0" y="2311400"/>
                  </a:lnTo>
                  <a:close/>
                </a:path>
              </a:pathLst>
            </a:custGeom>
            <a:solidFill>
              <a:srgbClr val="FFFFFF"/>
            </a:solidFill>
            <a:ln w="19050" cap="sq">
              <a:solidFill>
                <a:srgbClr val="BEE3F8"/>
              </a:solidFill>
              <a:prstDash val="solid"/>
              <a:miter/>
            </a:ln>
          </p:spPr>
        </p:sp>
      </p:grpSp>
      <p:grpSp>
        <p:nvGrpSpPr>
          <p:cNvPr id="40" name="Group 40"/>
          <p:cNvGrpSpPr/>
          <p:nvPr/>
        </p:nvGrpSpPr>
        <p:grpSpPr>
          <a:xfrm>
            <a:off x="1013460" y="8145018"/>
            <a:ext cx="3017520" cy="685800"/>
            <a:chOff x="0" y="0"/>
            <a:chExt cx="4023360" cy="914400"/>
          </a:xfrm>
        </p:grpSpPr>
        <p:sp>
          <p:nvSpPr>
            <p:cNvPr id="41" name="Freeform 41"/>
            <p:cNvSpPr/>
            <p:nvPr/>
          </p:nvSpPr>
          <p:spPr>
            <a:xfrm>
              <a:off x="0" y="0"/>
              <a:ext cx="4023360" cy="914400"/>
            </a:xfrm>
            <a:custGeom>
              <a:avLst/>
              <a:gdLst/>
              <a:ahLst/>
              <a:cxnLst/>
              <a:rect l="l" t="t" r="r" b="b"/>
              <a:pathLst>
                <a:path w="4023360" h="914400">
                  <a:moveTo>
                    <a:pt x="0" y="0"/>
                  </a:moveTo>
                  <a:lnTo>
                    <a:pt x="4023360" y="0"/>
                  </a:lnTo>
                  <a:lnTo>
                    <a:pt x="4023360" y="914400"/>
                  </a:lnTo>
                  <a:lnTo>
                    <a:pt x="0" y="914400"/>
                  </a:lnTo>
                  <a:close/>
                </a:path>
              </a:pathLst>
            </a:custGeom>
            <a:blipFill>
              <a:blip r:embed="rId3">
                <a:alphaModFix amt="0"/>
              </a:blip>
              <a:stretch>
                <a:fillRect t="-35734" b="-35734"/>
              </a:stretch>
            </a:blipFill>
          </p:spPr>
        </p:sp>
        <p:sp>
          <p:nvSpPr>
            <p:cNvPr id="42" name="TextBox 42"/>
            <p:cNvSpPr txBox="1"/>
            <p:nvPr/>
          </p:nvSpPr>
          <p:spPr>
            <a:xfrm>
              <a:off x="0" y="9525"/>
              <a:ext cx="4023360" cy="904875"/>
            </a:xfrm>
            <a:prstGeom prst="rect">
              <a:avLst/>
            </a:prstGeom>
          </p:spPr>
          <p:txBody>
            <a:bodyPr lIns="0" tIns="0" rIns="0" bIns="0" rtlCol="0" anchor="ctr"/>
            <a:lstStyle/>
            <a:p>
              <a:pPr algn="l">
                <a:lnSpc>
                  <a:spcPts val="3179"/>
                </a:lnSpc>
              </a:pPr>
              <a:r>
                <a:rPr lang="en-US" sz="2649" b="1">
                  <a:solidFill>
                    <a:srgbClr val="1A5276"/>
                  </a:solidFill>
                  <a:latin typeface="DM Sans Bold"/>
                  <a:ea typeface="DM Sans Bold"/>
                  <a:cs typeface="DM Sans Bold"/>
                  <a:sym typeface="DM Sans Bold"/>
                </a:rPr>
                <a:t>Stack</a:t>
              </a:r>
            </a:p>
          </p:txBody>
        </p:sp>
      </p:grpSp>
      <p:grpSp>
        <p:nvGrpSpPr>
          <p:cNvPr id="43" name="Group 43"/>
          <p:cNvGrpSpPr/>
          <p:nvPr/>
        </p:nvGrpSpPr>
        <p:grpSpPr>
          <a:xfrm>
            <a:off x="3840480" y="7804404"/>
            <a:ext cx="13441680" cy="1440180"/>
            <a:chOff x="0" y="0"/>
            <a:chExt cx="17922240" cy="1920240"/>
          </a:xfrm>
        </p:grpSpPr>
        <p:sp>
          <p:nvSpPr>
            <p:cNvPr id="44" name="Freeform 44"/>
            <p:cNvSpPr/>
            <p:nvPr/>
          </p:nvSpPr>
          <p:spPr>
            <a:xfrm>
              <a:off x="0" y="0"/>
              <a:ext cx="17922239" cy="1920240"/>
            </a:xfrm>
            <a:custGeom>
              <a:avLst/>
              <a:gdLst/>
              <a:ahLst/>
              <a:cxnLst/>
              <a:rect l="l" t="t" r="r" b="b"/>
              <a:pathLst>
                <a:path w="17922239" h="1920240">
                  <a:moveTo>
                    <a:pt x="0" y="0"/>
                  </a:moveTo>
                  <a:lnTo>
                    <a:pt x="17922239" y="0"/>
                  </a:lnTo>
                  <a:lnTo>
                    <a:pt x="17922239" y="1920240"/>
                  </a:lnTo>
                  <a:lnTo>
                    <a:pt x="0" y="1920240"/>
                  </a:lnTo>
                  <a:close/>
                </a:path>
              </a:pathLst>
            </a:custGeom>
            <a:blipFill>
              <a:blip r:embed="rId3">
                <a:alphaModFix amt="0"/>
              </a:blip>
              <a:stretch>
                <a:fillRect t="-131860" b="-131860"/>
              </a:stretch>
            </a:blipFill>
          </p:spPr>
        </p:sp>
        <p:sp>
          <p:nvSpPr>
            <p:cNvPr id="45" name="TextBox 45"/>
            <p:cNvSpPr txBox="1"/>
            <p:nvPr/>
          </p:nvSpPr>
          <p:spPr>
            <a:xfrm>
              <a:off x="0" y="9525"/>
              <a:ext cx="17922240" cy="1910715"/>
            </a:xfrm>
            <a:prstGeom prst="rect">
              <a:avLst/>
            </a:prstGeom>
          </p:spPr>
          <p:txBody>
            <a:bodyPr lIns="0" tIns="0" rIns="0" bIns="0" rtlCol="0" anchor="ctr"/>
            <a:lstStyle/>
            <a:p>
              <a:pPr algn="l">
                <a:lnSpc>
                  <a:spcPts val="2070"/>
                </a:lnSpc>
              </a:pPr>
              <a:r>
                <a:rPr lang="en-US" sz="1725">
                  <a:solidFill>
                    <a:srgbClr val="0D1B2A"/>
                  </a:solidFill>
                  <a:latin typeface="DM Sans"/>
                  <a:ea typeface="DM Sans"/>
                  <a:cs typeface="DM Sans"/>
                  <a:sym typeface="DM Sans"/>
                </a:rPr>
                <a:t>Python · Pandas · NumPy · SciPy · Matplotlib · Seaborn · Plotly · SQLite · Streamlit</a:t>
              </a:r>
            </a:p>
          </p:txBody>
        </p:sp>
      </p:grpSp>
      <p:grpSp>
        <p:nvGrpSpPr>
          <p:cNvPr id="46" name="Group 46"/>
          <p:cNvGrpSpPr/>
          <p:nvPr/>
        </p:nvGrpSpPr>
        <p:grpSpPr>
          <a:xfrm>
            <a:off x="-9525" y="9893427"/>
            <a:ext cx="18302478" cy="403098"/>
            <a:chOff x="0" y="0"/>
            <a:chExt cx="24403304" cy="537464"/>
          </a:xfrm>
        </p:grpSpPr>
        <p:sp>
          <p:nvSpPr>
            <p:cNvPr id="47" name="Freeform 47"/>
            <p:cNvSpPr/>
            <p:nvPr/>
          </p:nvSpPr>
          <p:spPr>
            <a:xfrm>
              <a:off x="0" y="0"/>
              <a:ext cx="24403304" cy="537464"/>
            </a:xfrm>
            <a:custGeom>
              <a:avLst/>
              <a:gdLst/>
              <a:ahLst/>
              <a:cxnLst/>
              <a:rect l="l" t="t" r="r" b="b"/>
              <a:pathLst>
                <a:path w="24403304" h="537464">
                  <a:moveTo>
                    <a:pt x="0" y="0"/>
                  </a:moveTo>
                  <a:lnTo>
                    <a:pt x="24403304" y="0"/>
                  </a:lnTo>
                  <a:lnTo>
                    <a:pt x="24403304" y="537464"/>
                  </a:lnTo>
                  <a:lnTo>
                    <a:pt x="0" y="537464"/>
                  </a:lnTo>
                  <a:close/>
                </a:path>
              </a:pathLst>
            </a:custGeom>
            <a:solidFill>
              <a:srgbClr val="132338"/>
            </a:solidFill>
            <a:ln w="19050" cap="sq">
              <a:solidFill>
                <a:srgbClr val="0D1B2A"/>
              </a:solidFill>
              <a:prstDash val="solid"/>
              <a:miter/>
            </a:ln>
          </p:spPr>
        </p:sp>
      </p:grpSp>
      <p:grpSp>
        <p:nvGrpSpPr>
          <p:cNvPr id="48" name="Group 48"/>
          <p:cNvGrpSpPr/>
          <p:nvPr/>
        </p:nvGrpSpPr>
        <p:grpSpPr>
          <a:xfrm>
            <a:off x="411480" y="9930384"/>
            <a:ext cx="16363188" cy="329184"/>
            <a:chOff x="0" y="0"/>
            <a:chExt cx="21817584" cy="438912"/>
          </a:xfrm>
        </p:grpSpPr>
        <p:sp>
          <p:nvSpPr>
            <p:cNvPr id="49" name="Freeform 49"/>
            <p:cNvSpPr/>
            <p:nvPr/>
          </p:nvSpPr>
          <p:spPr>
            <a:xfrm>
              <a:off x="0" y="0"/>
              <a:ext cx="21817585" cy="438912"/>
            </a:xfrm>
            <a:custGeom>
              <a:avLst/>
              <a:gdLst/>
              <a:ahLst/>
              <a:cxnLst/>
              <a:rect l="l" t="t" r="r" b="b"/>
              <a:pathLst>
                <a:path w="21817585" h="438912">
                  <a:moveTo>
                    <a:pt x="0" y="0"/>
                  </a:moveTo>
                  <a:lnTo>
                    <a:pt x="21817585" y="0"/>
                  </a:lnTo>
                  <a:lnTo>
                    <a:pt x="21817585" y="438912"/>
                  </a:lnTo>
                  <a:lnTo>
                    <a:pt x="0" y="438912"/>
                  </a:lnTo>
                  <a:close/>
                </a:path>
              </a:pathLst>
            </a:custGeom>
            <a:blipFill>
              <a:blip r:embed="rId3">
                <a:alphaModFix amt="0"/>
              </a:blip>
              <a:stretch>
                <a:fillRect t="-918568" b="-918568"/>
              </a:stretch>
            </a:blipFill>
          </p:spPr>
        </p:sp>
        <p:sp>
          <p:nvSpPr>
            <p:cNvPr id="50" name="TextBox 50"/>
            <p:cNvSpPr txBox="1"/>
            <p:nvPr/>
          </p:nvSpPr>
          <p:spPr>
            <a:xfrm>
              <a:off x="0" y="-9525"/>
              <a:ext cx="21817584" cy="448437"/>
            </a:xfrm>
            <a:prstGeom prst="rect">
              <a:avLst/>
            </a:prstGeom>
          </p:spPr>
          <p:txBody>
            <a:bodyPr lIns="0" tIns="0" rIns="0" bIns="0" rtlCol="0" anchor="ctr"/>
            <a:lstStyle/>
            <a:p>
              <a:pPr algn="l">
                <a:lnSpc>
                  <a:spcPts val="1439"/>
                </a:lnSpc>
              </a:pPr>
              <a:r>
                <a:rPr lang="en-US" sz="1200">
                  <a:solidFill>
                    <a:srgbClr val="DCEDFA"/>
                  </a:solidFill>
                  <a:latin typeface="DM Sans"/>
                  <a:ea typeface="DM Sans"/>
                  <a:cs typeface="DM Sans"/>
                  <a:sym typeface="DM Sans"/>
                </a:rPr>
                <a:t>Bluestock Fintech  |  Capstone Project I - Mutual Fund Analytics</a:t>
              </a:r>
            </a:p>
          </p:txBody>
        </p:sp>
      </p:grpSp>
      <p:grpSp>
        <p:nvGrpSpPr>
          <p:cNvPr id="51" name="Group 51"/>
          <p:cNvGrpSpPr/>
          <p:nvPr/>
        </p:nvGrpSpPr>
        <p:grpSpPr>
          <a:xfrm>
            <a:off x="16911828" y="9930384"/>
            <a:ext cx="1097280" cy="329184"/>
            <a:chOff x="0" y="0"/>
            <a:chExt cx="1463040" cy="438912"/>
          </a:xfrm>
        </p:grpSpPr>
        <p:sp>
          <p:nvSpPr>
            <p:cNvPr id="52" name="Freeform 52"/>
            <p:cNvSpPr/>
            <p:nvPr/>
          </p:nvSpPr>
          <p:spPr>
            <a:xfrm>
              <a:off x="0" y="0"/>
              <a:ext cx="1463040" cy="438912"/>
            </a:xfrm>
            <a:custGeom>
              <a:avLst/>
              <a:gdLst/>
              <a:ahLst/>
              <a:cxnLst/>
              <a:rect l="l" t="t" r="r" b="b"/>
              <a:pathLst>
                <a:path w="1463040" h="438912">
                  <a:moveTo>
                    <a:pt x="0" y="0"/>
                  </a:moveTo>
                  <a:lnTo>
                    <a:pt x="1463040" y="0"/>
                  </a:lnTo>
                  <a:lnTo>
                    <a:pt x="1463040" y="438912"/>
                  </a:lnTo>
                  <a:lnTo>
                    <a:pt x="0" y="438912"/>
                  </a:lnTo>
                  <a:close/>
                </a:path>
              </a:pathLst>
            </a:custGeom>
            <a:blipFill>
              <a:blip r:embed="rId3">
                <a:alphaModFix amt="0"/>
              </a:blip>
              <a:stretch>
                <a:fillRect t="-14950" b="-14950"/>
              </a:stretch>
            </a:blipFill>
          </p:spPr>
        </p:sp>
        <p:sp>
          <p:nvSpPr>
            <p:cNvPr id="53" name="TextBox 53"/>
            <p:cNvSpPr txBox="1"/>
            <p:nvPr/>
          </p:nvSpPr>
          <p:spPr>
            <a:xfrm>
              <a:off x="0" y="-9525"/>
              <a:ext cx="1463040" cy="448437"/>
            </a:xfrm>
            <a:prstGeom prst="rect">
              <a:avLst/>
            </a:prstGeom>
          </p:spPr>
          <p:txBody>
            <a:bodyPr lIns="0" tIns="0" rIns="0" bIns="0" rtlCol="0" anchor="ctr"/>
            <a:lstStyle/>
            <a:p>
              <a:pPr algn="r">
                <a:lnSpc>
                  <a:spcPts val="1439"/>
                </a:lnSpc>
              </a:pPr>
              <a:r>
                <a:rPr lang="en-US" sz="1200">
                  <a:solidFill>
                    <a:srgbClr val="DCEDFA"/>
                  </a:solidFill>
                  <a:latin typeface="DM Sans"/>
                  <a:ea typeface="DM Sans"/>
                  <a:cs typeface="DM Sans"/>
                  <a:sym typeface="DM Sans"/>
                </a:rPr>
                <a:t>2 / 12</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527810"/>
            <a:chOff x="0" y="0"/>
            <a:chExt cx="24403304" cy="2037080"/>
          </a:xfrm>
        </p:grpSpPr>
        <p:sp>
          <p:nvSpPr>
            <p:cNvPr id="3" name="Freeform 3"/>
            <p:cNvSpPr/>
            <p:nvPr/>
          </p:nvSpPr>
          <p:spPr>
            <a:xfrm>
              <a:off x="0" y="0"/>
              <a:ext cx="24403304" cy="2037080"/>
            </a:xfrm>
            <a:custGeom>
              <a:avLst/>
              <a:gdLst/>
              <a:ahLst/>
              <a:cxnLst/>
              <a:rect l="l" t="t" r="r" b="b"/>
              <a:pathLst>
                <a:path w="24403304" h="2037080">
                  <a:moveTo>
                    <a:pt x="0" y="0"/>
                  </a:moveTo>
                  <a:lnTo>
                    <a:pt x="24403304" y="0"/>
                  </a:lnTo>
                  <a:lnTo>
                    <a:pt x="24403304" y="2037080"/>
                  </a:lnTo>
                  <a:lnTo>
                    <a:pt x="0" y="2037080"/>
                  </a:lnTo>
                  <a:close/>
                </a:path>
              </a:pathLst>
            </a:custGeom>
            <a:solidFill>
              <a:srgbClr val="132338"/>
            </a:solidFill>
            <a:ln w="19050" cap="sq">
              <a:solidFill>
                <a:srgbClr val="0D1B2A"/>
              </a:solidFill>
              <a:prstDash val="solid"/>
              <a:miter/>
            </a:ln>
          </p:spPr>
        </p:sp>
      </p:grpSp>
      <p:grpSp>
        <p:nvGrpSpPr>
          <p:cNvPr id="4" name="Group 4"/>
          <p:cNvGrpSpPr/>
          <p:nvPr/>
        </p:nvGrpSpPr>
        <p:grpSpPr>
          <a:xfrm>
            <a:off x="548640" y="137160"/>
            <a:ext cx="16911828" cy="822960"/>
            <a:chOff x="0" y="0"/>
            <a:chExt cx="22549104" cy="1097280"/>
          </a:xfrm>
        </p:grpSpPr>
        <p:sp>
          <p:nvSpPr>
            <p:cNvPr id="5" name="Freeform 5"/>
            <p:cNvSpPr/>
            <p:nvPr/>
          </p:nvSpPr>
          <p:spPr>
            <a:xfrm>
              <a:off x="0" y="0"/>
              <a:ext cx="22549104" cy="1097280"/>
            </a:xfrm>
            <a:custGeom>
              <a:avLst/>
              <a:gdLst/>
              <a:ahLst/>
              <a:cxnLst/>
              <a:rect l="l" t="t" r="r" b="b"/>
              <a:pathLst>
                <a:path w="22549104" h="1097280">
                  <a:moveTo>
                    <a:pt x="0" y="0"/>
                  </a:moveTo>
                  <a:lnTo>
                    <a:pt x="22549104" y="0"/>
                  </a:lnTo>
                  <a:lnTo>
                    <a:pt x="22549104" y="1097280"/>
                  </a:lnTo>
                  <a:lnTo>
                    <a:pt x="0" y="1097280"/>
                  </a:lnTo>
                  <a:close/>
                </a:path>
              </a:pathLst>
            </a:custGeom>
            <a:blipFill>
              <a:blip r:embed="rId3">
                <a:alphaModFix amt="0"/>
              </a:blip>
              <a:stretch>
                <a:fillRect t="-350417" b="-350417"/>
              </a:stretch>
            </a:blipFill>
          </p:spPr>
        </p:sp>
        <p:sp>
          <p:nvSpPr>
            <p:cNvPr id="6" name="TextBox 6"/>
            <p:cNvSpPr txBox="1"/>
            <p:nvPr/>
          </p:nvSpPr>
          <p:spPr>
            <a:xfrm>
              <a:off x="0" y="0"/>
              <a:ext cx="22549104" cy="1097280"/>
            </a:xfrm>
            <a:prstGeom prst="rect">
              <a:avLst/>
            </a:prstGeom>
          </p:spPr>
          <p:txBody>
            <a:bodyPr lIns="0" tIns="0" rIns="0" bIns="0" rtlCol="0" anchor="ctr"/>
            <a:lstStyle/>
            <a:p>
              <a:pPr algn="l">
                <a:lnSpc>
                  <a:spcPts val="5040"/>
                </a:lnSpc>
              </a:pPr>
              <a:r>
                <a:rPr lang="en-US" sz="4200" b="1">
                  <a:solidFill>
                    <a:srgbClr val="FFFFFF"/>
                  </a:solidFill>
                  <a:latin typeface="DM Sans Bold"/>
                  <a:ea typeface="DM Sans Bold"/>
                  <a:cs typeface="DM Sans Bold"/>
                  <a:sym typeface="DM Sans Bold"/>
                </a:rPr>
                <a:t>Data Sources</a:t>
              </a:r>
            </a:p>
          </p:txBody>
        </p:sp>
      </p:grpSp>
      <p:grpSp>
        <p:nvGrpSpPr>
          <p:cNvPr id="7" name="Group 7"/>
          <p:cNvGrpSpPr/>
          <p:nvPr/>
        </p:nvGrpSpPr>
        <p:grpSpPr>
          <a:xfrm>
            <a:off x="548640" y="872490"/>
            <a:ext cx="16911828" cy="521208"/>
            <a:chOff x="0" y="0"/>
            <a:chExt cx="22549104" cy="694944"/>
          </a:xfrm>
        </p:grpSpPr>
        <p:sp>
          <p:nvSpPr>
            <p:cNvPr id="8" name="Freeform 8"/>
            <p:cNvSpPr/>
            <p:nvPr/>
          </p:nvSpPr>
          <p:spPr>
            <a:xfrm>
              <a:off x="0" y="0"/>
              <a:ext cx="22549104" cy="694944"/>
            </a:xfrm>
            <a:custGeom>
              <a:avLst/>
              <a:gdLst/>
              <a:ahLst/>
              <a:cxnLst/>
              <a:rect l="l" t="t" r="r" b="b"/>
              <a:pathLst>
                <a:path w="22549104" h="694944">
                  <a:moveTo>
                    <a:pt x="0" y="0"/>
                  </a:moveTo>
                  <a:lnTo>
                    <a:pt x="22549104" y="0"/>
                  </a:lnTo>
                  <a:lnTo>
                    <a:pt x="22549104" y="694944"/>
                  </a:lnTo>
                  <a:lnTo>
                    <a:pt x="0" y="694944"/>
                  </a:lnTo>
                  <a:close/>
                </a:path>
              </a:pathLst>
            </a:custGeom>
            <a:blipFill>
              <a:blip r:embed="rId3">
                <a:alphaModFix amt="0"/>
              </a:blip>
              <a:stretch>
                <a:fillRect t="-582238" b="-582238"/>
              </a:stretch>
            </a:blipFill>
          </p:spPr>
        </p:sp>
        <p:sp>
          <p:nvSpPr>
            <p:cNvPr id="9" name="TextBox 9"/>
            <p:cNvSpPr txBox="1"/>
            <p:nvPr/>
          </p:nvSpPr>
          <p:spPr>
            <a:xfrm>
              <a:off x="0" y="9525"/>
              <a:ext cx="22549104" cy="685419"/>
            </a:xfrm>
            <a:prstGeom prst="rect">
              <a:avLst/>
            </a:prstGeom>
          </p:spPr>
          <p:txBody>
            <a:bodyPr lIns="0" tIns="0" rIns="0" bIns="0" rtlCol="0" anchor="ctr"/>
            <a:lstStyle/>
            <a:p>
              <a:pPr algn="l">
                <a:lnSpc>
                  <a:spcPts val="2340"/>
                </a:lnSpc>
              </a:pPr>
              <a:r>
                <a:rPr lang="en-US" sz="1950">
                  <a:solidFill>
                    <a:srgbClr val="DCEDFA"/>
                  </a:solidFill>
                  <a:latin typeface="DM Sans"/>
                  <a:ea typeface="DM Sans"/>
                  <a:cs typeface="DM Sans"/>
                  <a:sym typeface="DM Sans"/>
                </a:rPr>
                <a:t>10 raw datasets from AMFI, NSE &amp; mfapi.in</a:t>
              </a:r>
            </a:p>
          </p:txBody>
        </p:sp>
      </p:grpSp>
      <p:grpSp>
        <p:nvGrpSpPr>
          <p:cNvPr id="10" name="Group 10"/>
          <p:cNvGrpSpPr/>
          <p:nvPr/>
        </p:nvGrpSpPr>
        <p:grpSpPr>
          <a:xfrm>
            <a:off x="-9525" y="1499235"/>
            <a:ext cx="18302478" cy="73914"/>
            <a:chOff x="0" y="0"/>
            <a:chExt cx="24403304" cy="98552"/>
          </a:xfrm>
        </p:grpSpPr>
        <p:sp>
          <p:nvSpPr>
            <p:cNvPr id="11" name="Freeform 11"/>
            <p:cNvSpPr/>
            <p:nvPr/>
          </p:nvSpPr>
          <p:spPr>
            <a:xfrm>
              <a:off x="0" y="0"/>
              <a:ext cx="24403304" cy="98552"/>
            </a:xfrm>
            <a:custGeom>
              <a:avLst/>
              <a:gdLst/>
              <a:ahLst/>
              <a:cxnLst/>
              <a:rect l="l" t="t" r="r" b="b"/>
              <a:pathLst>
                <a:path w="24403304" h="98552">
                  <a:moveTo>
                    <a:pt x="0" y="0"/>
                  </a:moveTo>
                  <a:lnTo>
                    <a:pt x="24403304" y="0"/>
                  </a:lnTo>
                  <a:lnTo>
                    <a:pt x="24403304" y="98552"/>
                  </a:lnTo>
                  <a:lnTo>
                    <a:pt x="0" y="98552"/>
                  </a:lnTo>
                  <a:close/>
                </a:path>
              </a:pathLst>
            </a:custGeom>
            <a:solidFill>
              <a:srgbClr val="1565C0"/>
            </a:solidFill>
            <a:ln w="19050" cap="sq">
              <a:solidFill>
                <a:srgbClr val="1565C0"/>
              </a:solidFill>
              <a:prstDash val="solid"/>
              <a:miter/>
            </a:ln>
          </p:spPr>
        </p:sp>
      </p:grpSp>
      <p:grpSp>
        <p:nvGrpSpPr>
          <p:cNvPr id="12" name="Group 12"/>
          <p:cNvGrpSpPr/>
          <p:nvPr/>
        </p:nvGrpSpPr>
        <p:grpSpPr>
          <a:xfrm>
            <a:off x="1668208" y="1878521"/>
            <a:ext cx="4408170" cy="718566"/>
            <a:chOff x="0" y="0"/>
            <a:chExt cx="5877560" cy="958088"/>
          </a:xfrm>
        </p:grpSpPr>
        <p:sp>
          <p:nvSpPr>
            <p:cNvPr id="13" name="Freeform 13"/>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1565C0"/>
            </a:solidFill>
            <a:ln w="19050" cap="sq">
              <a:solidFill>
                <a:srgbClr val="CBD5E0"/>
              </a:solidFill>
              <a:prstDash val="solid"/>
              <a:miter/>
            </a:ln>
          </p:spPr>
        </p:sp>
      </p:grpSp>
      <p:grpSp>
        <p:nvGrpSpPr>
          <p:cNvPr id="14" name="Group 14"/>
          <p:cNvGrpSpPr/>
          <p:nvPr/>
        </p:nvGrpSpPr>
        <p:grpSpPr>
          <a:xfrm>
            <a:off x="1814893" y="1888046"/>
            <a:ext cx="4224528" cy="699516"/>
            <a:chOff x="0" y="0"/>
            <a:chExt cx="5632704" cy="932688"/>
          </a:xfrm>
        </p:grpSpPr>
        <p:sp>
          <p:nvSpPr>
            <p:cNvPr id="15" name="Freeform 15"/>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16" name="TextBox 16"/>
            <p:cNvSpPr txBox="1"/>
            <p:nvPr/>
          </p:nvSpPr>
          <p:spPr>
            <a:xfrm>
              <a:off x="0" y="-9525"/>
              <a:ext cx="5632704" cy="942213"/>
            </a:xfrm>
            <a:prstGeom prst="rect">
              <a:avLst/>
            </a:prstGeom>
          </p:spPr>
          <p:txBody>
            <a:bodyPr lIns="0" tIns="0" rIns="0" bIns="0" rtlCol="0" anchor="ctr"/>
            <a:lstStyle/>
            <a:p>
              <a:pPr algn="l">
                <a:lnSpc>
                  <a:spcPts val="1800"/>
                </a:lnSpc>
              </a:pPr>
              <a:r>
                <a:rPr lang="en-US" sz="1500" b="1" spc="150">
                  <a:solidFill>
                    <a:srgbClr val="FFFFFF"/>
                  </a:solidFill>
                  <a:latin typeface="DM Sans Bold"/>
                  <a:ea typeface="DM Sans Bold"/>
                  <a:cs typeface="DM Sans Bold"/>
                  <a:sym typeface="DM Sans Bold"/>
                </a:rPr>
                <a:t>Dataset</a:t>
              </a:r>
            </a:p>
          </p:txBody>
        </p:sp>
      </p:grpSp>
      <p:grpSp>
        <p:nvGrpSpPr>
          <p:cNvPr id="17" name="Group 17"/>
          <p:cNvGrpSpPr/>
          <p:nvPr/>
        </p:nvGrpSpPr>
        <p:grpSpPr>
          <a:xfrm>
            <a:off x="6039421" y="1878521"/>
            <a:ext cx="2076450" cy="718566"/>
            <a:chOff x="0" y="0"/>
            <a:chExt cx="2768600" cy="958088"/>
          </a:xfrm>
        </p:grpSpPr>
        <p:sp>
          <p:nvSpPr>
            <p:cNvPr id="18" name="Freeform 18"/>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1565C0"/>
            </a:solidFill>
            <a:ln w="19050" cap="sq">
              <a:solidFill>
                <a:srgbClr val="CBD5E0"/>
              </a:solidFill>
              <a:prstDash val="solid"/>
              <a:miter/>
            </a:ln>
          </p:spPr>
        </p:sp>
      </p:grpSp>
      <p:grpSp>
        <p:nvGrpSpPr>
          <p:cNvPr id="19" name="Group 19"/>
          <p:cNvGrpSpPr/>
          <p:nvPr/>
        </p:nvGrpSpPr>
        <p:grpSpPr>
          <a:xfrm>
            <a:off x="6186106" y="1888046"/>
            <a:ext cx="1892808" cy="699516"/>
            <a:chOff x="0" y="0"/>
            <a:chExt cx="2523744" cy="932688"/>
          </a:xfrm>
        </p:grpSpPr>
        <p:sp>
          <p:nvSpPr>
            <p:cNvPr id="20" name="Freeform 20"/>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21" name="TextBox 21"/>
            <p:cNvSpPr txBox="1"/>
            <p:nvPr/>
          </p:nvSpPr>
          <p:spPr>
            <a:xfrm>
              <a:off x="0" y="-9525"/>
              <a:ext cx="2523744" cy="942213"/>
            </a:xfrm>
            <a:prstGeom prst="rect">
              <a:avLst/>
            </a:prstGeom>
          </p:spPr>
          <p:txBody>
            <a:bodyPr lIns="0" tIns="0" rIns="0" bIns="0" rtlCol="0" anchor="ctr"/>
            <a:lstStyle/>
            <a:p>
              <a:pPr algn="l">
                <a:lnSpc>
                  <a:spcPts val="1800"/>
                </a:lnSpc>
              </a:pPr>
              <a:r>
                <a:rPr lang="en-US" sz="1500" b="1" spc="150">
                  <a:solidFill>
                    <a:srgbClr val="FFFFFF"/>
                  </a:solidFill>
                  <a:latin typeface="DM Sans Bold"/>
                  <a:ea typeface="DM Sans Bold"/>
                  <a:cs typeface="DM Sans Bold"/>
                  <a:sym typeface="DM Sans Bold"/>
                </a:rPr>
                <a:t>Rows</a:t>
              </a:r>
            </a:p>
          </p:txBody>
        </p:sp>
      </p:grpSp>
      <p:grpSp>
        <p:nvGrpSpPr>
          <p:cNvPr id="22" name="Group 22"/>
          <p:cNvGrpSpPr/>
          <p:nvPr/>
        </p:nvGrpSpPr>
        <p:grpSpPr>
          <a:xfrm>
            <a:off x="8096821" y="1878521"/>
            <a:ext cx="8522970" cy="718566"/>
            <a:chOff x="0" y="0"/>
            <a:chExt cx="11363960" cy="958088"/>
          </a:xfrm>
        </p:grpSpPr>
        <p:sp>
          <p:nvSpPr>
            <p:cNvPr id="23" name="Freeform 23"/>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1565C0"/>
            </a:solidFill>
            <a:ln w="19050" cap="sq">
              <a:solidFill>
                <a:srgbClr val="CBD5E0"/>
              </a:solidFill>
              <a:prstDash val="solid"/>
              <a:miter/>
            </a:ln>
          </p:spPr>
        </p:sp>
      </p:grpSp>
      <p:grpSp>
        <p:nvGrpSpPr>
          <p:cNvPr id="24" name="Group 24"/>
          <p:cNvGrpSpPr/>
          <p:nvPr/>
        </p:nvGrpSpPr>
        <p:grpSpPr>
          <a:xfrm>
            <a:off x="8243506" y="1888046"/>
            <a:ext cx="8339328" cy="699516"/>
            <a:chOff x="0" y="0"/>
            <a:chExt cx="11119104" cy="932688"/>
          </a:xfrm>
        </p:grpSpPr>
        <p:sp>
          <p:nvSpPr>
            <p:cNvPr id="25" name="Freeform 25"/>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26" name="TextBox 26"/>
            <p:cNvSpPr txBox="1"/>
            <p:nvPr/>
          </p:nvSpPr>
          <p:spPr>
            <a:xfrm>
              <a:off x="0" y="-9525"/>
              <a:ext cx="11119104" cy="942213"/>
            </a:xfrm>
            <a:prstGeom prst="rect">
              <a:avLst/>
            </a:prstGeom>
          </p:spPr>
          <p:txBody>
            <a:bodyPr lIns="0" tIns="0" rIns="0" bIns="0" rtlCol="0" anchor="ctr"/>
            <a:lstStyle/>
            <a:p>
              <a:pPr algn="l">
                <a:lnSpc>
                  <a:spcPts val="1800"/>
                </a:lnSpc>
              </a:pPr>
              <a:r>
                <a:rPr lang="en-US" sz="1500" b="1" spc="150">
                  <a:solidFill>
                    <a:srgbClr val="FFFFFF"/>
                  </a:solidFill>
                  <a:latin typeface="DM Sans Bold"/>
                  <a:ea typeface="DM Sans Bold"/>
                  <a:cs typeface="DM Sans Bold"/>
                  <a:sym typeface="DM Sans Bold"/>
                </a:rPr>
                <a:t>Key Columns</a:t>
              </a:r>
            </a:p>
          </p:txBody>
        </p:sp>
      </p:grpSp>
      <p:grpSp>
        <p:nvGrpSpPr>
          <p:cNvPr id="27" name="Group 27"/>
          <p:cNvGrpSpPr/>
          <p:nvPr/>
        </p:nvGrpSpPr>
        <p:grpSpPr>
          <a:xfrm>
            <a:off x="1668208" y="2578037"/>
            <a:ext cx="4408170" cy="718566"/>
            <a:chOff x="0" y="0"/>
            <a:chExt cx="5877560" cy="958088"/>
          </a:xfrm>
        </p:grpSpPr>
        <p:sp>
          <p:nvSpPr>
            <p:cNvPr id="28" name="Freeform 28"/>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EBF4FF"/>
            </a:solidFill>
            <a:ln w="19050" cap="sq">
              <a:solidFill>
                <a:srgbClr val="CBD5E0"/>
              </a:solidFill>
              <a:prstDash val="solid"/>
              <a:miter/>
            </a:ln>
          </p:spPr>
        </p:sp>
      </p:grpSp>
      <p:grpSp>
        <p:nvGrpSpPr>
          <p:cNvPr id="29" name="Group 29"/>
          <p:cNvGrpSpPr/>
          <p:nvPr/>
        </p:nvGrpSpPr>
        <p:grpSpPr>
          <a:xfrm>
            <a:off x="1668208" y="8169974"/>
            <a:ext cx="4408170" cy="718566"/>
            <a:chOff x="0" y="0"/>
            <a:chExt cx="5877560" cy="958088"/>
          </a:xfrm>
        </p:grpSpPr>
        <p:sp>
          <p:nvSpPr>
            <p:cNvPr id="30" name="Freeform 30"/>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EBF4FF"/>
            </a:solidFill>
            <a:ln w="19050" cap="sq">
              <a:solidFill>
                <a:srgbClr val="CBD5E0"/>
              </a:solidFill>
              <a:prstDash val="solid"/>
              <a:miter/>
            </a:ln>
          </p:spPr>
        </p:sp>
      </p:grpSp>
      <p:grpSp>
        <p:nvGrpSpPr>
          <p:cNvPr id="31" name="Group 31"/>
          <p:cNvGrpSpPr/>
          <p:nvPr/>
        </p:nvGrpSpPr>
        <p:grpSpPr>
          <a:xfrm>
            <a:off x="1814893" y="2587562"/>
            <a:ext cx="4224528" cy="699516"/>
            <a:chOff x="0" y="0"/>
            <a:chExt cx="5632704" cy="932688"/>
          </a:xfrm>
        </p:grpSpPr>
        <p:sp>
          <p:nvSpPr>
            <p:cNvPr id="32" name="Freeform 32"/>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33" name="TextBox 33"/>
            <p:cNvSpPr txBox="1"/>
            <p:nvPr/>
          </p:nvSpPr>
          <p:spPr>
            <a:xfrm>
              <a:off x="0" y="0"/>
              <a:ext cx="56327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fund_master.csv</a:t>
              </a:r>
            </a:p>
          </p:txBody>
        </p:sp>
      </p:grpSp>
      <p:grpSp>
        <p:nvGrpSpPr>
          <p:cNvPr id="34" name="Group 34"/>
          <p:cNvGrpSpPr/>
          <p:nvPr/>
        </p:nvGrpSpPr>
        <p:grpSpPr>
          <a:xfrm>
            <a:off x="1814893" y="8179499"/>
            <a:ext cx="4224528" cy="699516"/>
            <a:chOff x="0" y="0"/>
            <a:chExt cx="5632704" cy="932688"/>
          </a:xfrm>
        </p:grpSpPr>
        <p:sp>
          <p:nvSpPr>
            <p:cNvPr id="35" name="Freeform 35"/>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36" name="TextBox 36"/>
            <p:cNvSpPr txBox="1"/>
            <p:nvPr/>
          </p:nvSpPr>
          <p:spPr>
            <a:xfrm>
              <a:off x="0" y="0"/>
              <a:ext cx="56327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benchmark_indices.csv</a:t>
              </a:r>
            </a:p>
          </p:txBody>
        </p:sp>
      </p:grpSp>
      <p:grpSp>
        <p:nvGrpSpPr>
          <p:cNvPr id="37" name="Group 37"/>
          <p:cNvGrpSpPr/>
          <p:nvPr/>
        </p:nvGrpSpPr>
        <p:grpSpPr>
          <a:xfrm>
            <a:off x="6039421" y="2578037"/>
            <a:ext cx="2076450" cy="718566"/>
            <a:chOff x="0" y="0"/>
            <a:chExt cx="2768600" cy="958088"/>
          </a:xfrm>
        </p:grpSpPr>
        <p:sp>
          <p:nvSpPr>
            <p:cNvPr id="38" name="Freeform 38"/>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EBF4FF"/>
            </a:solidFill>
            <a:ln w="19050" cap="sq">
              <a:solidFill>
                <a:srgbClr val="CBD5E0"/>
              </a:solidFill>
              <a:prstDash val="solid"/>
              <a:miter/>
            </a:ln>
          </p:spPr>
        </p:sp>
      </p:grpSp>
      <p:grpSp>
        <p:nvGrpSpPr>
          <p:cNvPr id="39" name="Group 39"/>
          <p:cNvGrpSpPr/>
          <p:nvPr/>
        </p:nvGrpSpPr>
        <p:grpSpPr>
          <a:xfrm>
            <a:off x="6039421" y="8169974"/>
            <a:ext cx="2076450" cy="718566"/>
            <a:chOff x="0" y="0"/>
            <a:chExt cx="2768600" cy="958088"/>
          </a:xfrm>
        </p:grpSpPr>
        <p:sp>
          <p:nvSpPr>
            <p:cNvPr id="40" name="Freeform 40"/>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EBF4FF"/>
            </a:solidFill>
            <a:ln w="19050" cap="sq">
              <a:solidFill>
                <a:srgbClr val="CBD5E0"/>
              </a:solidFill>
              <a:prstDash val="solid"/>
              <a:miter/>
            </a:ln>
          </p:spPr>
        </p:sp>
      </p:grpSp>
      <p:grpSp>
        <p:nvGrpSpPr>
          <p:cNvPr id="41" name="Group 41"/>
          <p:cNvGrpSpPr/>
          <p:nvPr/>
        </p:nvGrpSpPr>
        <p:grpSpPr>
          <a:xfrm>
            <a:off x="6186106" y="2587562"/>
            <a:ext cx="1892808" cy="699516"/>
            <a:chOff x="0" y="0"/>
            <a:chExt cx="2523744" cy="932688"/>
          </a:xfrm>
        </p:grpSpPr>
        <p:sp>
          <p:nvSpPr>
            <p:cNvPr id="42" name="Freeform 42"/>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43" name="TextBox 43"/>
            <p:cNvSpPr txBox="1"/>
            <p:nvPr/>
          </p:nvSpPr>
          <p:spPr>
            <a:xfrm>
              <a:off x="0" y="0"/>
              <a:ext cx="252374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40</a:t>
              </a:r>
            </a:p>
          </p:txBody>
        </p:sp>
      </p:grpSp>
      <p:grpSp>
        <p:nvGrpSpPr>
          <p:cNvPr id="44" name="Group 44"/>
          <p:cNvGrpSpPr/>
          <p:nvPr/>
        </p:nvGrpSpPr>
        <p:grpSpPr>
          <a:xfrm>
            <a:off x="6186106" y="8179499"/>
            <a:ext cx="1892808" cy="699516"/>
            <a:chOff x="0" y="0"/>
            <a:chExt cx="2523744" cy="932688"/>
          </a:xfrm>
        </p:grpSpPr>
        <p:sp>
          <p:nvSpPr>
            <p:cNvPr id="45" name="Freeform 45"/>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46" name="TextBox 46"/>
            <p:cNvSpPr txBox="1"/>
            <p:nvPr/>
          </p:nvSpPr>
          <p:spPr>
            <a:xfrm>
              <a:off x="0" y="0"/>
              <a:ext cx="252374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8050</a:t>
              </a:r>
            </a:p>
          </p:txBody>
        </p:sp>
      </p:grpSp>
      <p:grpSp>
        <p:nvGrpSpPr>
          <p:cNvPr id="47" name="Group 47"/>
          <p:cNvGrpSpPr/>
          <p:nvPr/>
        </p:nvGrpSpPr>
        <p:grpSpPr>
          <a:xfrm>
            <a:off x="8096821" y="2578037"/>
            <a:ext cx="8522970" cy="718566"/>
            <a:chOff x="0" y="0"/>
            <a:chExt cx="11363960" cy="958088"/>
          </a:xfrm>
        </p:grpSpPr>
        <p:sp>
          <p:nvSpPr>
            <p:cNvPr id="48" name="Freeform 48"/>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EBF4FF"/>
            </a:solidFill>
            <a:ln w="19050" cap="sq">
              <a:solidFill>
                <a:srgbClr val="CBD5E0"/>
              </a:solidFill>
              <a:prstDash val="solid"/>
              <a:miter/>
            </a:ln>
          </p:spPr>
        </p:sp>
      </p:grpSp>
      <p:grpSp>
        <p:nvGrpSpPr>
          <p:cNvPr id="49" name="Group 49"/>
          <p:cNvGrpSpPr/>
          <p:nvPr/>
        </p:nvGrpSpPr>
        <p:grpSpPr>
          <a:xfrm>
            <a:off x="8096821" y="8169974"/>
            <a:ext cx="8522970" cy="718566"/>
            <a:chOff x="0" y="0"/>
            <a:chExt cx="11363960" cy="958088"/>
          </a:xfrm>
        </p:grpSpPr>
        <p:sp>
          <p:nvSpPr>
            <p:cNvPr id="50" name="Freeform 50"/>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EBF4FF"/>
            </a:solidFill>
            <a:ln w="19050" cap="sq">
              <a:solidFill>
                <a:srgbClr val="CBD5E0"/>
              </a:solidFill>
              <a:prstDash val="solid"/>
              <a:miter/>
            </a:ln>
          </p:spPr>
        </p:sp>
      </p:grpSp>
      <p:grpSp>
        <p:nvGrpSpPr>
          <p:cNvPr id="51" name="Group 51"/>
          <p:cNvGrpSpPr/>
          <p:nvPr/>
        </p:nvGrpSpPr>
        <p:grpSpPr>
          <a:xfrm>
            <a:off x="8243506" y="2587562"/>
            <a:ext cx="8339328" cy="699516"/>
            <a:chOff x="0" y="0"/>
            <a:chExt cx="11119104" cy="932688"/>
          </a:xfrm>
        </p:grpSpPr>
        <p:sp>
          <p:nvSpPr>
            <p:cNvPr id="52" name="Freeform 52"/>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53" name="TextBox 53"/>
            <p:cNvSpPr txBox="1"/>
            <p:nvPr/>
          </p:nvSpPr>
          <p:spPr>
            <a:xfrm>
              <a:off x="0" y="0"/>
              <a:ext cx="111191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amfi_code, scheme_name, fund_house, category</a:t>
              </a:r>
            </a:p>
          </p:txBody>
        </p:sp>
      </p:grpSp>
      <p:grpSp>
        <p:nvGrpSpPr>
          <p:cNvPr id="54" name="Group 54"/>
          <p:cNvGrpSpPr/>
          <p:nvPr/>
        </p:nvGrpSpPr>
        <p:grpSpPr>
          <a:xfrm>
            <a:off x="8243506" y="8179499"/>
            <a:ext cx="8339328" cy="699516"/>
            <a:chOff x="0" y="0"/>
            <a:chExt cx="11119104" cy="932688"/>
          </a:xfrm>
        </p:grpSpPr>
        <p:sp>
          <p:nvSpPr>
            <p:cNvPr id="55" name="Freeform 55"/>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56" name="TextBox 56"/>
            <p:cNvSpPr txBox="1"/>
            <p:nvPr/>
          </p:nvSpPr>
          <p:spPr>
            <a:xfrm>
              <a:off x="0" y="0"/>
              <a:ext cx="111191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Date, index_name, close_value</a:t>
              </a:r>
            </a:p>
          </p:txBody>
        </p:sp>
      </p:grpSp>
      <p:grpSp>
        <p:nvGrpSpPr>
          <p:cNvPr id="57" name="Group 57"/>
          <p:cNvGrpSpPr/>
          <p:nvPr/>
        </p:nvGrpSpPr>
        <p:grpSpPr>
          <a:xfrm>
            <a:off x="1668208" y="3277553"/>
            <a:ext cx="4408170" cy="718566"/>
            <a:chOff x="0" y="0"/>
            <a:chExt cx="5877560" cy="958088"/>
          </a:xfrm>
        </p:grpSpPr>
        <p:sp>
          <p:nvSpPr>
            <p:cNvPr id="58" name="Freeform 58"/>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FFFFFF"/>
            </a:solidFill>
            <a:ln w="19050" cap="sq">
              <a:solidFill>
                <a:srgbClr val="CBD5E0"/>
              </a:solidFill>
              <a:prstDash val="solid"/>
              <a:miter/>
            </a:ln>
          </p:spPr>
        </p:sp>
      </p:grpSp>
      <p:grpSp>
        <p:nvGrpSpPr>
          <p:cNvPr id="59" name="Group 59"/>
          <p:cNvGrpSpPr/>
          <p:nvPr/>
        </p:nvGrpSpPr>
        <p:grpSpPr>
          <a:xfrm>
            <a:off x="1668208" y="8869490"/>
            <a:ext cx="4408170" cy="718566"/>
            <a:chOff x="0" y="0"/>
            <a:chExt cx="5877560" cy="958088"/>
          </a:xfrm>
        </p:grpSpPr>
        <p:sp>
          <p:nvSpPr>
            <p:cNvPr id="60" name="Freeform 60"/>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FFFFFF"/>
            </a:solidFill>
            <a:ln w="19050" cap="sq">
              <a:solidFill>
                <a:srgbClr val="CBD5E0"/>
              </a:solidFill>
              <a:prstDash val="solid"/>
              <a:miter/>
            </a:ln>
          </p:spPr>
        </p:sp>
      </p:grpSp>
      <p:grpSp>
        <p:nvGrpSpPr>
          <p:cNvPr id="61" name="Group 61"/>
          <p:cNvGrpSpPr/>
          <p:nvPr/>
        </p:nvGrpSpPr>
        <p:grpSpPr>
          <a:xfrm>
            <a:off x="1814893" y="3287078"/>
            <a:ext cx="4224528" cy="699516"/>
            <a:chOff x="0" y="0"/>
            <a:chExt cx="5632704" cy="932688"/>
          </a:xfrm>
        </p:grpSpPr>
        <p:sp>
          <p:nvSpPr>
            <p:cNvPr id="62" name="Freeform 62"/>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63" name="TextBox 63"/>
            <p:cNvSpPr txBox="1"/>
            <p:nvPr/>
          </p:nvSpPr>
          <p:spPr>
            <a:xfrm>
              <a:off x="0" y="0"/>
              <a:ext cx="56327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nav_history.csv </a:t>
              </a:r>
            </a:p>
          </p:txBody>
        </p:sp>
      </p:grpSp>
      <p:grpSp>
        <p:nvGrpSpPr>
          <p:cNvPr id="64" name="Group 64"/>
          <p:cNvGrpSpPr/>
          <p:nvPr/>
        </p:nvGrpSpPr>
        <p:grpSpPr>
          <a:xfrm>
            <a:off x="1814893" y="8879015"/>
            <a:ext cx="4224528" cy="699516"/>
            <a:chOff x="0" y="0"/>
            <a:chExt cx="5632704" cy="932688"/>
          </a:xfrm>
        </p:grpSpPr>
        <p:sp>
          <p:nvSpPr>
            <p:cNvPr id="65" name="Freeform 65"/>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66" name="TextBox 66"/>
            <p:cNvSpPr txBox="1"/>
            <p:nvPr/>
          </p:nvSpPr>
          <p:spPr>
            <a:xfrm>
              <a:off x="0" y="0"/>
              <a:ext cx="56327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industry_folio_count.csv</a:t>
              </a:r>
            </a:p>
          </p:txBody>
        </p:sp>
      </p:grpSp>
      <p:grpSp>
        <p:nvGrpSpPr>
          <p:cNvPr id="67" name="Group 67"/>
          <p:cNvGrpSpPr/>
          <p:nvPr/>
        </p:nvGrpSpPr>
        <p:grpSpPr>
          <a:xfrm>
            <a:off x="6039421" y="3277553"/>
            <a:ext cx="2076450" cy="718566"/>
            <a:chOff x="0" y="0"/>
            <a:chExt cx="2768600" cy="958088"/>
          </a:xfrm>
        </p:grpSpPr>
        <p:sp>
          <p:nvSpPr>
            <p:cNvPr id="68" name="Freeform 68"/>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FFFFFF"/>
            </a:solidFill>
            <a:ln w="19050" cap="sq">
              <a:solidFill>
                <a:srgbClr val="CBD5E0"/>
              </a:solidFill>
              <a:prstDash val="solid"/>
              <a:miter/>
            </a:ln>
          </p:spPr>
        </p:sp>
      </p:grpSp>
      <p:grpSp>
        <p:nvGrpSpPr>
          <p:cNvPr id="69" name="Group 69"/>
          <p:cNvGrpSpPr/>
          <p:nvPr/>
        </p:nvGrpSpPr>
        <p:grpSpPr>
          <a:xfrm>
            <a:off x="6039421" y="8869490"/>
            <a:ext cx="2076450" cy="718566"/>
            <a:chOff x="0" y="0"/>
            <a:chExt cx="2768600" cy="958088"/>
          </a:xfrm>
        </p:grpSpPr>
        <p:sp>
          <p:nvSpPr>
            <p:cNvPr id="70" name="Freeform 70"/>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FFFFFF"/>
            </a:solidFill>
            <a:ln w="19050" cap="sq">
              <a:solidFill>
                <a:srgbClr val="CBD5E0"/>
              </a:solidFill>
              <a:prstDash val="solid"/>
              <a:miter/>
            </a:ln>
          </p:spPr>
        </p:sp>
      </p:grpSp>
      <p:grpSp>
        <p:nvGrpSpPr>
          <p:cNvPr id="71" name="Group 71"/>
          <p:cNvGrpSpPr/>
          <p:nvPr/>
        </p:nvGrpSpPr>
        <p:grpSpPr>
          <a:xfrm>
            <a:off x="6186106" y="3287078"/>
            <a:ext cx="1892808" cy="699516"/>
            <a:chOff x="0" y="0"/>
            <a:chExt cx="2523744" cy="932688"/>
          </a:xfrm>
        </p:grpSpPr>
        <p:sp>
          <p:nvSpPr>
            <p:cNvPr id="72" name="Freeform 72"/>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73" name="TextBox 73"/>
            <p:cNvSpPr txBox="1"/>
            <p:nvPr/>
          </p:nvSpPr>
          <p:spPr>
            <a:xfrm>
              <a:off x="0" y="0"/>
              <a:ext cx="252374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46,000</a:t>
              </a:r>
            </a:p>
          </p:txBody>
        </p:sp>
      </p:grpSp>
      <p:grpSp>
        <p:nvGrpSpPr>
          <p:cNvPr id="74" name="Group 74"/>
          <p:cNvGrpSpPr/>
          <p:nvPr/>
        </p:nvGrpSpPr>
        <p:grpSpPr>
          <a:xfrm>
            <a:off x="6186106" y="8879015"/>
            <a:ext cx="1892808" cy="699516"/>
            <a:chOff x="0" y="0"/>
            <a:chExt cx="2523744" cy="932688"/>
          </a:xfrm>
        </p:grpSpPr>
        <p:sp>
          <p:nvSpPr>
            <p:cNvPr id="75" name="Freeform 75"/>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76" name="TextBox 76"/>
            <p:cNvSpPr txBox="1"/>
            <p:nvPr/>
          </p:nvSpPr>
          <p:spPr>
            <a:xfrm>
              <a:off x="0" y="0"/>
              <a:ext cx="252374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21</a:t>
              </a:r>
            </a:p>
          </p:txBody>
        </p:sp>
      </p:grpSp>
      <p:grpSp>
        <p:nvGrpSpPr>
          <p:cNvPr id="77" name="Group 77"/>
          <p:cNvGrpSpPr/>
          <p:nvPr/>
        </p:nvGrpSpPr>
        <p:grpSpPr>
          <a:xfrm>
            <a:off x="8096821" y="3277553"/>
            <a:ext cx="8522970" cy="718566"/>
            <a:chOff x="0" y="0"/>
            <a:chExt cx="11363960" cy="958088"/>
          </a:xfrm>
        </p:grpSpPr>
        <p:sp>
          <p:nvSpPr>
            <p:cNvPr id="78" name="Freeform 78"/>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FFFFFF"/>
            </a:solidFill>
            <a:ln w="19050" cap="sq">
              <a:solidFill>
                <a:srgbClr val="CBD5E0"/>
              </a:solidFill>
              <a:prstDash val="solid"/>
              <a:miter/>
            </a:ln>
          </p:spPr>
        </p:sp>
      </p:grpSp>
      <p:grpSp>
        <p:nvGrpSpPr>
          <p:cNvPr id="79" name="Group 79"/>
          <p:cNvGrpSpPr/>
          <p:nvPr/>
        </p:nvGrpSpPr>
        <p:grpSpPr>
          <a:xfrm>
            <a:off x="8096821" y="8869490"/>
            <a:ext cx="8522970" cy="718566"/>
            <a:chOff x="0" y="0"/>
            <a:chExt cx="11363960" cy="958088"/>
          </a:xfrm>
        </p:grpSpPr>
        <p:sp>
          <p:nvSpPr>
            <p:cNvPr id="80" name="Freeform 80"/>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FFFFFF"/>
            </a:solidFill>
            <a:ln w="19050" cap="sq">
              <a:solidFill>
                <a:srgbClr val="CBD5E0"/>
              </a:solidFill>
              <a:prstDash val="solid"/>
              <a:miter/>
            </a:ln>
          </p:spPr>
        </p:sp>
      </p:grpSp>
      <p:grpSp>
        <p:nvGrpSpPr>
          <p:cNvPr id="81" name="Group 81"/>
          <p:cNvGrpSpPr/>
          <p:nvPr/>
        </p:nvGrpSpPr>
        <p:grpSpPr>
          <a:xfrm>
            <a:off x="8243506" y="3287078"/>
            <a:ext cx="8339328" cy="699516"/>
            <a:chOff x="0" y="0"/>
            <a:chExt cx="11119104" cy="932688"/>
          </a:xfrm>
        </p:grpSpPr>
        <p:sp>
          <p:nvSpPr>
            <p:cNvPr id="82" name="Freeform 82"/>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83" name="TextBox 83"/>
            <p:cNvSpPr txBox="1"/>
            <p:nvPr/>
          </p:nvSpPr>
          <p:spPr>
            <a:xfrm>
              <a:off x="0" y="0"/>
              <a:ext cx="111191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amfi_code, date, nav, daily_return_pct </a:t>
              </a:r>
            </a:p>
          </p:txBody>
        </p:sp>
      </p:grpSp>
      <p:grpSp>
        <p:nvGrpSpPr>
          <p:cNvPr id="84" name="Group 84"/>
          <p:cNvGrpSpPr/>
          <p:nvPr/>
        </p:nvGrpSpPr>
        <p:grpSpPr>
          <a:xfrm>
            <a:off x="8243506" y="8879015"/>
            <a:ext cx="8339328" cy="699516"/>
            <a:chOff x="0" y="0"/>
            <a:chExt cx="11119104" cy="932688"/>
          </a:xfrm>
        </p:grpSpPr>
        <p:sp>
          <p:nvSpPr>
            <p:cNvPr id="85" name="Freeform 85"/>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86" name="TextBox 86"/>
            <p:cNvSpPr txBox="1"/>
            <p:nvPr/>
          </p:nvSpPr>
          <p:spPr>
            <a:xfrm>
              <a:off x="0" y="0"/>
              <a:ext cx="111191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month, total_folios_crore</a:t>
              </a:r>
            </a:p>
          </p:txBody>
        </p:sp>
      </p:grpSp>
      <p:grpSp>
        <p:nvGrpSpPr>
          <p:cNvPr id="87" name="Group 87"/>
          <p:cNvGrpSpPr/>
          <p:nvPr/>
        </p:nvGrpSpPr>
        <p:grpSpPr>
          <a:xfrm>
            <a:off x="1668208" y="3977069"/>
            <a:ext cx="4408170" cy="718566"/>
            <a:chOff x="0" y="0"/>
            <a:chExt cx="5877560" cy="958088"/>
          </a:xfrm>
        </p:grpSpPr>
        <p:sp>
          <p:nvSpPr>
            <p:cNvPr id="88" name="Freeform 88"/>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EBF4FF"/>
            </a:solidFill>
            <a:ln w="19050" cap="sq">
              <a:solidFill>
                <a:srgbClr val="CBD5E0"/>
              </a:solidFill>
              <a:prstDash val="solid"/>
              <a:miter/>
            </a:ln>
          </p:spPr>
        </p:sp>
      </p:grpSp>
      <p:grpSp>
        <p:nvGrpSpPr>
          <p:cNvPr id="89" name="Group 89"/>
          <p:cNvGrpSpPr/>
          <p:nvPr/>
        </p:nvGrpSpPr>
        <p:grpSpPr>
          <a:xfrm>
            <a:off x="1814893" y="3986594"/>
            <a:ext cx="4224528" cy="699516"/>
            <a:chOff x="0" y="0"/>
            <a:chExt cx="5632704" cy="932688"/>
          </a:xfrm>
        </p:grpSpPr>
        <p:sp>
          <p:nvSpPr>
            <p:cNvPr id="90" name="Freeform 90"/>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91" name="TextBox 91"/>
            <p:cNvSpPr txBox="1"/>
            <p:nvPr/>
          </p:nvSpPr>
          <p:spPr>
            <a:xfrm>
              <a:off x="0" y="0"/>
              <a:ext cx="56327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investor_transactions.csv</a:t>
              </a:r>
            </a:p>
          </p:txBody>
        </p:sp>
      </p:grpSp>
      <p:grpSp>
        <p:nvGrpSpPr>
          <p:cNvPr id="92" name="Group 92"/>
          <p:cNvGrpSpPr/>
          <p:nvPr/>
        </p:nvGrpSpPr>
        <p:grpSpPr>
          <a:xfrm>
            <a:off x="6039421" y="3977069"/>
            <a:ext cx="2076450" cy="718566"/>
            <a:chOff x="0" y="0"/>
            <a:chExt cx="2768600" cy="958088"/>
          </a:xfrm>
        </p:grpSpPr>
        <p:sp>
          <p:nvSpPr>
            <p:cNvPr id="93" name="Freeform 93"/>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EBF4FF"/>
            </a:solidFill>
            <a:ln w="19050" cap="sq">
              <a:solidFill>
                <a:srgbClr val="CBD5E0"/>
              </a:solidFill>
              <a:prstDash val="solid"/>
              <a:miter/>
            </a:ln>
          </p:spPr>
        </p:sp>
      </p:grpSp>
      <p:grpSp>
        <p:nvGrpSpPr>
          <p:cNvPr id="94" name="Group 94"/>
          <p:cNvGrpSpPr/>
          <p:nvPr/>
        </p:nvGrpSpPr>
        <p:grpSpPr>
          <a:xfrm>
            <a:off x="6186106" y="3986594"/>
            <a:ext cx="1892808" cy="699516"/>
            <a:chOff x="0" y="0"/>
            <a:chExt cx="2523744" cy="932688"/>
          </a:xfrm>
        </p:grpSpPr>
        <p:sp>
          <p:nvSpPr>
            <p:cNvPr id="95" name="Freeform 95"/>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96" name="TextBox 96"/>
            <p:cNvSpPr txBox="1"/>
            <p:nvPr/>
          </p:nvSpPr>
          <p:spPr>
            <a:xfrm>
              <a:off x="0" y="0"/>
              <a:ext cx="252374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13,048</a:t>
              </a:r>
            </a:p>
          </p:txBody>
        </p:sp>
      </p:grpSp>
      <p:grpSp>
        <p:nvGrpSpPr>
          <p:cNvPr id="97" name="Group 97"/>
          <p:cNvGrpSpPr/>
          <p:nvPr/>
        </p:nvGrpSpPr>
        <p:grpSpPr>
          <a:xfrm>
            <a:off x="8096821" y="3977069"/>
            <a:ext cx="8522970" cy="718566"/>
            <a:chOff x="0" y="0"/>
            <a:chExt cx="11363960" cy="958088"/>
          </a:xfrm>
        </p:grpSpPr>
        <p:sp>
          <p:nvSpPr>
            <p:cNvPr id="98" name="Freeform 98"/>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EBF4FF"/>
            </a:solidFill>
            <a:ln w="19050" cap="sq">
              <a:solidFill>
                <a:srgbClr val="CBD5E0"/>
              </a:solidFill>
              <a:prstDash val="solid"/>
              <a:miter/>
            </a:ln>
          </p:spPr>
        </p:sp>
      </p:grpSp>
      <p:grpSp>
        <p:nvGrpSpPr>
          <p:cNvPr id="99" name="Group 99"/>
          <p:cNvGrpSpPr/>
          <p:nvPr/>
        </p:nvGrpSpPr>
        <p:grpSpPr>
          <a:xfrm>
            <a:off x="8243506" y="3986594"/>
            <a:ext cx="8339328" cy="699516"/>
            <a:chOff x="0" y="0"/>
            <a:chExt cx="11119104" cy="932688"/>
          </a:xfrm>
        </p:grpSpPr>
        <p:sp>
          <p:nvSpPr>
            <p:cNvPr id="100" name="Freeform 100"/>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101" name="TextBox 101"/>
            <p:cNvSpPr txBox="1"/>
            <p:nvPr/>
          </p:nvSpPr>
          <p:spPr>
            <a:xfrm>
              <a:off x="0" y="0"/>
              <a:ext cx="111191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investor_id, transaction_type, amount_inr, state</a:t>
              </a:r>
            </a:p>
          </p:txBody>
        </p:sp>
      </p:grpSp>
      <p:grpSp>
        <p:nvGrpSpPr>
          <p:cNvPr id="102" name="Group 102"/>
          <p:cNvGrpSpPr/>
          <p:nvPr/>
        </p:nvGrpSpPr>
        <p:grpSpPr>
          <a:xfrm>
            <a:off x="1668208" y="4676585"/>
            <a:ext cx="4408170" cy="718566"/>
            <a:chOff x="0" y="0"/>
            <a:chExt cx="5877560" cy="958088"/>
          </a:xfrm>
        </p:grpSpPr>
        <p:sp>
          <p:nvSpPr>
            <p:cNvPr id="103" name="Freeform 103"/>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FFFFFF"/>
            </a:solidFill>
            <a:ln w="19050" cap="sq">
              <a:solidFill>
                <a:srgbClr val="CBD5E0"/>
              </a:solidFill>
              <a:prstDash val="solid"/>
              <a:miter/>
            </a:ln>
          </p:spPr>
        </p:sp>
      </p:grpSp>
      <p:grpSp>
        <p:nvGrpSpPr>
          <p:cNvPr id="104" name="Group 104"/>
          <p:cNvGrpSpPr/>
          <p:nvPr/>
        </p:nvGrpSpPr>
        <p:grpSpPr>
          <a:xfrm>
            <a:off x="1814893" y="4686110"/>
            <a:ext cx="4224528" cy="699516"/>
            <a:chOff x="0" y="0"/>
            <a:chExt cx="5632704" cy="932688"/>
          </a:xfrm>
        </p:grpSpPr>
        <p:sp>
          <p:nvSpPr>
            <p:cNvPr id="105" name="Freeform 105"/>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106" name="TextBox 106"/>
            <p:cNvSpPr txBox="1"/>
            <p:nvPr/>
          </p:nvSpPr>
          <p:spPr>
            <a:xfrm>
              <a:off x="0" y="0"/>
              <a:ext cx="56327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scheme_performance.csv </a:t>
              </a:r>
            </a:p>
          </p:txBody>
        </p:sp>
      </p:grpSp>
      <p:grpSp>
        <p:nvGrpSpPr>
          <p:cNvPr id="107" name="Group 107"/>
          <p:cNvGrpSpPr/>
          <p:nvPr/>
        </p:nvGrpSpPr>
        <p:grpSpPr>
          <a:xfrm>
            <a:off x="6039421" y="4676585"/>
            <a:ext cx="2076450" cy="718566"/>
            <a:chOff x="0" y="0"/>
            <a:chExt cx="2768600" cy="958088"/>
          </a:xfrm>
        </p:grpSpPr>
        <p:sp>
          <p:nvSpPr>
            <p:cNvPr id="108" name="Freeform 108"/>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FFFFFF"/>
            </a:solidFill>
            <a:ln w="19050" cap="sq">
              <a:solidFill>
                <a:srgbClr val="CBD5E0"/>
              </a:solidFill>
              <a:prstDash val="solid"/>
              <a:miter/>
            </a:ln>
          </p:spPr>
        </p:sp>
      </p:grpSp>
      <p:grpSp>
        <p:nvGrpSpPr>
          <p:cNvPr id="109" name="Group 109"/>
          <p:cNvGrpSpPr/>
          <p:nvPr/>
        </p:nvGrpSpPr>
        <p:grpSpPr>
          <a:xfrm>
            <a:off x="6186106" y="4686110"/>
            <a:ext cx="1892808" cy="699516"/>
            <a:chOff x="0" y="0"/>
            <a:chExt cx="2523744" cy="932688"/>
          </a:xfrm>
        </p:grpSpPr>
        <p:sp>
          <p:nvSpPr>
            <p:cNvPr id="110" name="Freeform 110"/>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111" name="TextBox 111"/>
            <p:cNvSpPr txBox="1"/>
            <p:nvPr/>
          </p:nvSpPr>
          <p:spPr>
            <a:xfrm>
              <a:off x="0" y="0"/>
              <a:ext cx="252374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40</a:t>
              </a:r>
            </a:p>
          </p:txBody>
        </p:sp>
      </p:grpSp>
      <p:grpSp>
        <p:nvGrpSpPr>
          <p:cNvPr id="112" name="Group 112"/>
          <p:cNvGrpSpPr/>
          <p:nvPr/>
        </p:nvGrpSpPr>
        <p:grpSpPr>
          <a:xfrm>
            <a:off x="8096821" y="4676585"/>
            <a:ext cx="8522970" cy="718566"/>
            <a:chOff x="0" y="0"/>
            <a:chExt cx="11363960" cy="958088"/>
          </a:xfrm>
        </p:grpSpPr>
        <p:sp>
          <p:nvSpPr>
            <p:cNvPr id="113" name="Freeform 113"/>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FFFFFF"/>
            </a:solidFill>
            <a:ln w="19050" cap="sq">
              <a:solidFill>
                <a:srgbClr val="CBD5E0"/>
              </a:solidFill>
              <a:prstDash val="solid"/>
              <a:miter/>
            </a:ln>
          </p:spPr>
        </p:sp>
      </p:grpSp>
      <p:grpSp>
        <p:nvGrpSpPr>
          <p:cNvPr id="114" name="Group 114"/>
          <p:cNvGrpSpPr/>
          <p:nvPr/>
        </p:nvGrpSpPr>
        <p:grpSpPr>
          <a:xfrm>
            <a:off x="8243506" y="4686110"/>
            <a:ext cx="8339328" cy="699516"/>
            <a:chOff x="0" y="0"/>
            <a:chExt cx="11119104" cy="932688"/>
          </a:xfrm>
        </p:grpSpPr>
        <p:sp>
          <p:nvSpPr>
            <p:cNvPr id="115" name="Freeform 115"/>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116" name="TextBox 116"/>
            <p:cNvSpPr txBox="1"/>
            <p:nvPr/>
          </p:nvSpPr>
          <p:spPr>
            <a:xfrm>
              <a:off x="0" y="0"/>
              <a:ext cx="111191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sharpe_ratio, beta, alpha, expense_ratio_pct</a:t>
              </a:r>
            </a:p>
          </p:txBody>
        </p:sp>
      </p:grpSp>
      <p:grpSp>
        <p:nvGrpSpPr>
          <p:cNvPr id="117" name="Group 117"/>
          <p:cNvGrpSpPr/>
          <p:nvPr/>
        </p:nvGrpSpPr>
        <p:grpSpPr>
          <a:xfrm>
            <a:off x="1668208" y="5376101"/>
            <a:ext cx="4408170" cy="718566"/>
            <a:chOff x="0" y="0"/>
            <a:chExt cx="5877560" cy="958088"/>
          </a:xfrm>
        </p:grpSpPr>
        <p:sp>
          <p:nvSpPr>
            <p:cNvPr id="118" name="Freeform 118"/>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EBF4FF"/>
            </a:solidFill>
            <a:ln w="19050" cap="sq">
              <a:solidFill>
                <a:srgbClr val="CBD5E0"/>
              </a:solidFill>
              <a:prstDash val="solid"/>
              <a:miter/>
            </a:ln>
          </p:spPr>
        </p:sp>
      </p:grpSp>
      <p:grpSp>
        <p:nvGrpSpPr>
          <p:cNvPr id="119" name="Group 119"/>
          <p:cNvGrpSpPr/>
          <p:nvPr/>
        </p:nvGrpSpPr>
        <p:grpSpPr>
          <a:xfrm>
            <a:off x="1814893" y="5385626"/>
            <a:ext cx="4224528" cy="699516"/>
            <a:chOff x="0" y="0"/>
            <a:chExt cx="5632704" cy="932688"/>
          </a:xfrm>
        </p:grpSpPr>
        <p:sp>
          <p:nvSpPr>
            <p:cNvPr id="120" name="Freeform 120"/>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121" name="TextBox 121"/>
            <p:cNvSpPr txBox="1"/>
            <p:nvPr/>
          </p:nvSpPr>
          <p:spPr>
            <a:xfrm>
              <a:off x="0" y="0"/>
              <a:ext cx="56327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aum_by_fund_house.csv</a:t>
              </a:r>
            </a:p>
          </p:txBody>
        </p:sp>
      </p:grpSp>
      <p:grpSp>
        <p:nvGrpSpPr>
          <p:cNvPr id="122" name="Group 122"/>
          <p:cNvGrpSpPr/>
          <p:nvPr/>
        </p:nvGrpSpPr>
        <p:grpSpPr>
          <a:xfrm>
            <a:off x="6039421" y="5376101"/>
            <a:ext cx="2076450" cy="718566"/>
            <a:chOff x="0" y="0"/>
            <a:chExt cx="2768600" cy="958088"/>
          </a:xfrm>
        </p:grpSpPr>
        <p:sp>
          <p:nvSpPr>
            <p:cNvPr id="123" name="Freeform 123"/>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EBF4FF"/>
            </a:solidFill>
            <a:ln w="19050" cap="sq">
              <a:solidFill>
                <a:srgbClr val="CBD5E0"/>
              </a:solidFill>
              <a:prstDash val="solid"/>
              <a:miter/>
            </a:ln>
          </p:spPr>
        </p:sp>
      </p:grpSp>
      <p:grpSp>
        <p:nvGrpSpPr>
          <p:cNvPr id="124" name="Group 124"/>
          <p:cNvGrpSpPr/>
          <p:nvPr/>
        </p:nvGrpSpPr>
        <p:grpSpPr>
          <a:xfrm>
            <a:off x="6186106" y="5385626"/>
            <a:ext cx="1892808" cy="699516"/>
            <a:chOff x="0" y="0"/>
            <a:chExt cx="2523744" cy="932688"/>
          </a:xfrm>
        </p:grpSpPr>
        <p:sp>
          <p:nvSpPr>
            <p:cNvPr id="125" name="Freeform 125"/>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126" name="TextBox 126"/>
            <p:cNvSpPr txBox="1"/>
            <p:nvPr/>
          </p:nvSpPr>
          <p:spPr>
            <a:xfrm>
              <a:off x="0" y="0"/>
              <a:ext cx="252374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90</a:t>
              </a:r>
            </a:p>
          </p:txBody>
        </p:sp>
      </p:grpSp>
      <p:grpSp>
        <p:nvGrpSpPr>
          <p:cNvPr id="127" name="Group 127"/>
          <p:cNvGrpSpPr/>
          <p:nvPr/>
        </p:nvGrpSpPr>
        <p:grpSpPr>
          <a:xfrm>
            <a:off x="8096821" y="5376101"/>
            <a:ext cx="8522970" cy="718566"/>
            <a:chOff x="0" y="0"/>
            <a:chExt cx="11363960" cy="958088"/>
          </a:xfrm>
        </p:grpSpPr>
        <p:sp>
          <p:nvSpPr>
            <p:cNvPr id="128" name="Freeform 128"/>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EBF4FF"/>
            </a:solidFill>
            <a:ln w="19050" cap="sq">
              <a:solidFill>
                <a:srgbClr val="CBD5E0"/>
              </a:solidFill>
              <a:prstDash val="solid"/>
              <a:miter/>
            </a:ln>
          </p:spPr>
        </p:sp>
      </p:grpSp>
      <p:grpSp>
        <p:nvGrpSpPr>
          <p:cNvPr id="129" name="Group 129"/>
          <p:cNvGrpSpPr/>
          <p:nvPr/>
        </p:nvGrpSpPr>
        <p:grpSpPr>
          <a:xfrm>
            <a:off x="8243506" y="5385626"/>
            <a:ext cx="8339328" cy="699516"/>
            <a:chOff x="0" y="0"/>
            <a:chExt cx="11119104" cy="932688"/>
          </a:xfrm>
        </p:grpSpPr>
        <p:sp>
          <p:nvSpPr>
            <p:cNvPr id="130" name="Freeform 130"/>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131" name="TextBox 131"/>
            <p:cNvSpPr txBox="1"/>
            <p:nvPr/>
          </p:nvSpPr>
          <p:spPr>
            <a:xfrm>
              <a:off x="0" y="0"/>
              <a:ext cx="111191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fund_house, year, aum_lakh_crore </a:t>
              </a:r>
            </a:p>
          </p:txBody>
        </p:sp>
      </p:grpSp>
      <p:grpSp>
        <p:nvGrpSpPr>
          <p:cNvPr id="132" name="Group 132"/>
          <p:cNvGrpSpPr/>
          <p:nvPr/>
        </p:nvGrpSpPr>
        <p:grpSpPr>
          <a:xfrm>
            <a:off x="1668208" y="6075617"/>
            <a:ext cx="4408170" cy="718566"/>
            <a:chOff x="0" y="0"/>
            <a:chExt cx="5877560" cy="958088"/>
          </a:xfrm>
        </p:grpSpPr>
        <p:sp>
          <p:nvSpPr>
            <p:cNvPr id="133" name="Freeform 133"/>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FFFFFF"/>
            </a:solidFill>
            <a:ln w="19050" cap="sq">
              <a:solidFill>
                <a:srgbClr val="CBD5E0"/>
              </a:solidFill>
              <a:prstDash val="solid"/>
              <a:miter/>
            </a:ln>
          </p:spPr>
        </p:sp>
      </p:grpSp>
      <p:grpSp>
        <p:nvGrpSpPr>
          <p:cNvPr id="134" name="Group 134"/>
          <p:cNvGrpSpPr/>
          <p:nvPr/>
        </p:nvGrpSpPr>
        <p:grpSpPr>
          <a:xfrm>
            <a:off x="1814893" y="6085142"/>
            <a:ext cx="4224528" cy="699516"/>
            <a:chOff x="0" y="0"/>
            <a:chExt cx="5632704" cy="932688"/>
          </a:xfrm>
        </p:grpSpPr>
        <p:sp>
          <p:nvSpPr>
            <p:cNvPr id="135" name="Freeform 135"/>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136" name="TextBox 136"/>
            <p:cNvSpPr txBox="1"/>
            <p:nvPr/>
          </p:nvSpPr>
          <p:spPr>
            <a:xfrm>
              <a:off x="0" y="0"/>
              <a:ext cx="56327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monthly_sip_inflows.csv </a:t>
              </a:r>
            </a:p>
          </p:txBody>
        </p:sp>
      </p:grpSp>
      <p:grpSp>
        <p:nvGrpSpPr>
          <p:cNvPr id="137" name="Group 137"/>
          <p:cNvGrpSpPr/>
          <p:nvPr/>
        </p:nvGrpSpPr>
        <p:grpSpPr>
          <a:xfrm>
            <a:off x="6039421" y="6075617"/>
            <a:ext cx="2076450" cy="718566"/>
            <a:chOff x="0" y="0"/>
            <a:chExt cx="2768600" cy="958088"/>
          </a:xfrm>
        </p:grpSpPr>
        <p:sp>
          <p:nvSpPr>
            <p:cNvPr id="138" name="Freeform 138"/>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FFFFFF"/>
            </a:solidFill>
            <a:ln w="19050" cap="sq">
              <a:solidFill>
                <a:srgbClr val="CBD5E0"/>
              </a:solidFill>
              <a:prstDash val="solid"/>
              <a:miter/>
            </a:ln>
          </p:spPr>
        </p:sp>
      </p:grpSp>
      <p:grpSp>
        <p:nvGrpSpPr>
          <p:cNvPr id="139" name="Group 139"/>
          <p:cNvGrpSpPr/>
          <p:nvPr/>
        </p:nvGrpSpPr>
        <p:grpSpPr>
          <a:xfrm>
            <a:off x="6186106" y="6085142"/>
            <a:ext cx="1892808" cy="699516"/>
            <a:chOff x="0" y="0"/>
            <a:chExt cx="2523744" cy="932688"/>
          </a:xfrm>
        </p:grpSpPr>
        <p:sp>
          <p:nvSpPr>
            <p:cNvPr id="140" name="Freeform 140"/>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141" name="TextBox 141"/>
            <p:cNvSpPr txBox="1"/>
            <p:nvPr/>
          </p:nvSpPr>
          <p:spPr>
            <a:xfrm>
              <a:off x="0" y="0"/>
              <a:ext cx="252374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48</a:t>
              </a:r>
            </a:p>
          </p:txBody>
        </p:sp>
      </p:grpSp>
      <p:grpSp>
        <p:nvGrpSpPr>
          <p:cNvPr id="142" name="Group 142"/>
          <p:cNvGrpSpPr/>
          <p:nvPr/>
        </p:nvGrpSpPr>
        <p:grpSpPr>
          <a:xfrm>
            <a:off x="8096821" y="6075617"/>
            <a:ext cx="8522970" cy="718566"/>
            <a:chOff x="0" y="0"/>
            <a:chExt cx="11363960" cy="958088"/>
          </a:xfrm>
        </p:grpSpPr>
        <p:sp>
          <p:nvSpPr>
            <p:cNvPr id="143" name="Freeform 143"/>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FFFFFF"/>
            </a:solidFill>
            <a:ln w="19050" cap="sq">
              <a:solidFill>
                <a:srgbClr val="CBD5E0"/>
              </a:solidFill>
              <a:prstDash val="solid"/>
              <a:miter/>
            </a:ln>
          </p:spPr>
        </p:sp>
      </p:grpSp>
      <p:grpSp>
        <p:nvGrpSpPr>
          <p:cNvPr id="144" name="Group 144"/>
          <p:cNvGrpSpPr/>
          <p:nvPr/>
        </p:nvGrpSpPr>
        <p:grpSpPr>
          <a:xfrm>
            <a:off x="8243506" y="6085142"/>
            <a:ext cx="8339328" cy="699516"/>
            <a:chOff x="0" y="0"/>
            <a:chExt cx="11119104" cy="932688"/>
          </a:xfrm>
        </p:grpSpPr>
        <p:sp>
          <p:nvSpPr>
            <p:cNvPr id="145" name="Freeform 145"/>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146" name="TextBox 146"/>
            <p:cNvSpPr txBox="1"/>
            <p:nvPr/>
          </p:nvSpPr>
          <p:spPr>
            <a:xfrm>
              <a:off x="0" y="0"/>
              <a:ext cx="111191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month, sip_inflow_crore, active_sip_accounts_crore </a:t>
              </a:r>
            </a:p>
          </p:txBody>
        </p:sp>
      </p:grpSp>
      <p:grpSp>
        <p:nvGrpSpPr>
          <p:cNvPr id="147" name="Group 147"/>
          <p:cNvGrpSpPr/>
          <p:nvPr/>
        </p:nvGrpSpPr>
        <p:grpSpPr>
          <a:xfrm>
            <a:off x="1668208" y="6775133"/>
            <a:ext cx="4408170" cy="718566"/>
            <a:chOff x="0" y="0"/>
            <a:chExt cx="5877560" cy="958088"/>
          </a:xfrm>
        </p:grpSpPr>
        <p:sp>
          <p:nvSpPr>
            <p:cNvPr id="148" name="Freeform 148"/>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EBF4FF"/>
            </a:solidFill>
            <a:ln w="19050" cap="sq">
              <a:solidFill>
                <a:srgbClr val="CBD5E0"/>
              </a:solidFill>
              <a:prstDash val="solid"/>
              <a:miter/>
            </a:ln>
          </p:spPr>
        </p:sp>
      </p:grpSp>
      <p:grpSp>
        <p:nvGrpSpPr>
          <p:cNvPr id="149" name="Group 149"/>
          <p:cNvGrpSpPr/>
          <p:nvPr/>
        </p:nvGrpSpPr>
        <p:grpSpPr>
          <a:xfrm>
            <a:off x="1814893" y="6784658"/>
            <a:ext cx="4224528" cy="699516"/>
            <a:chOff x="0" y="0"/>
            <a:chExt cx="5632704" cy="932688"/>
          </a:xfrm>
        </p:grpSpPr>
        <p:sp>
          <p:nvSpPr>
            <p:cNvPr id="150" name="Freeform 150"/>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151" name="TextBox 151"/>
            <p:cNvSpPr txBox="1"/>
            <p:nvPr/>
          </p:nvSpPr>
          <p:spPr>
            <a:xfrm>
              <a:off x="0" y="0"/>
              <a:ext cx="56327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category_inflows.csv </a:t>
              </a:r>
            </a:p>
          </p:txBody>
        </p:sp>
      </p:grpSp>
      <p:grpSp>
        <p:nvGrpSpPr>
          <p:cNvPr id="152" name="Group 152"/>
          <p:cNvGrpSpPr/>
          <p:nvPr/>
        </p:nvGrpSpPr>
        <p:grpSpPr>
          <a:xfrm>
            <a:off x="6039421" y="6775133"/>
            <a:ext cx="2076450" cy="718566"/>
            <a:chOff x="0" y="0"/>
            <a:chExt cx="2768600" cy="958088"/>
          </a:xfrm>
        </p:grpSpPr>
        <p:sp>
          <p:nvSpPr>
            <p:cNvPr id="153" name="Freeform 153"/>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EBF4FF"/>
            </a:solidFill>
            <a:ln w="19050" cap="sq">
              <a:solidFill>
                <a:srgbClr val="CBD5E0"/>
              </a:solidFill>
              <a:prstDash val="solid"/>
              <a:miter/>
            </a:ln>
          </p:spPr>
        </p:sp>
      </p:grpSp>
      <p:grpSp>
        <p:nvGrpSpPr>
          <p:cNvPr id="154" name="Group 154"/>
          <p:cNvGrpSpPr/>
          <p:nvPr/>
        </p:nvGrpSpPr>
        <p:grpSpPr>
          <a:xfrm>
            <a:off x="6186106" y="6784658"/>
            <a:ext cx="1892808" cy="699516"/>
            <a:chOff x="0" y="0"/>
            <a:chExt cx="2523744" cy="932688"/>
          </a:xfrm>
        </p:grpSpPr>
        <p:sp>
          <p:nvSpPr>
            <p:cNvPr id="155" name="Freeform 155"/>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156" name="TextBox 156"/>
            <p:cNvSpPr txBox="1"/>
            <p:nvPr/>
          </p:nvSpPr>
          <p:spPr>
            <a:xfrm>
              <a:off x="0" y="0"/>
              <a:ext cx="252374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144</a:t>
              </a:r>
            </a:p>
          </p:txBody>
        </p:sp>
      </p:grpSp>
      <p:grpSp>
        <p:nvGrpSpPr>
          <p:cNvPr id="157" name="Group 157"/>
          <p:cNvGrpSpPr/>
          <p:nvPr/>
        </p:nvGrpSpPr>
        <p:grpSpPr>
          <a:xfrm>
            <a:off x="8096821" y="6775133"/>
            <a:ext cx="8522970" cy="718566"/>
            <a:chOff x="0" y="0"/>
            <a:chExt cx="11363960" cy="958088"/>
          </a:xfrm>
        </p:grpSpPr>
        <p:sp>
          <p:nvSpPr>
            <p:cNvPr id="158" name="Freeform 158"/>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EBF4FF"/>
            </a:solidFill>
            <a:ln w="19050" cap="sq">
              <a:solidFill>
                <a:srgbClr val="CBD5E0"/>
              </a:solidFill>
              <a:prstDash val="solid"/>
              <a:miter/>
            </a:ln>
          </p:spPr>
        </p:sp>
      </p:grpSp>
      <p:grpSp>
        <p:nvGrpSpPr>
          <p:cNvPr id="159" name="Group 159"/>
          <p:cNvGrpSpPr/>
          <p:nvPr/>
        </p:nvGrpSpPr>
        <p:grpSpPr>
          <a:xfrm>
            <a:off x="8243506" y="6784658"/>
            <a:ext cx="8339328" cy="699516"/>
            <a:chOff x="0" y="0"/>
            <a:chExt cx="11119104" cy="932688"/>
          </a:xfrm>
        </p:grpSpPr>
        <p:sp>
          <p:nvSpPr>
            <p:cNvPr id="160" name="Freeform 160"/>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161" name="TextBox 161"/>
            <p:cNvSpPr txBox="1"/>
            <p:nvPr/>
          </p:nvSpPr>
          <p:spPr>
            <a:xfrm>
              <a:off x="0" y="0"/>
              <a:ext cx="111191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month, category, net_inflow_crore</a:t>
              </a:r>
            </a:p>
          </p:txBody>
        </p:sp>
      </p:grpSp>
      <p:grpSp>
        <p:nvGrpSpPr>
          <p:cNvPr id="162" name="Group 162"/>
          <p:cNvGrpSpPr/>
          <p:nvPr/>
        </p:nvGrpSpPr>
        <p:grpSpPr>
          <a:xfrm>
            <a:off x="1668208" y="7474649"/>
            <a:ext cx="4408170" cy="718566"/>
            <a:chOff x="0" y="0"/>
            <a:chExt cx="5877560" cy="958088"/>
          </a:xfrm>
        </p:grpSpPr>
        <p:sp>
          <p:nvSpPr>
            <p:cNvPr id="163" name="Freeform 163"/>
            <p:cNvSpPr/>
            <p:nvPr/>
          </p:nvSpPr>
          <p:spPr>
            <a:xfrm>
              <a:off x="0" y="0"/>
              <a:ext cx="5877560" cy="958088"/>
            </a:xfrm>
            <a:custGeom>
              <a:avLst/>
              <a:gdLst/>
              <a:ahLst/>
              <a:cxnLst/>
              <a:rect l="l" t="t" r="r" b="b"/>
              <a:pathLst>
                <a:path w="5877560" h="958088">
                  <a:moveTo>
                    <a:pt x="0" y="0"/>
                  </a:moveTo>
                  <a:lnTo>
                    <a:pt x="5877560" y="0"/>
                  </a:lnTo>
                  <a:lnTo>
                    <a:pt x="5877560" y="958088"/>
                  </a:lnTo>
                  <a:lnTo>
                    <a:pt x="0" y="958088"/>
                  </a:lnTo>
                  <a:close/>
                </a:path>
              </a:pathLst>
            </a:custGeom>
            <a:solidFill>
              <a:srgbClr val="FFFFFF"/>
            </a:solidFill>
            <a:ln w="19050" cap="sq">
              <a:solidFill>
                <a:srgbClr val="CBD5E0"/>
              </a:solidFill>
              <a:prstDash val="solid"/>
              <a:miter/>
            </a:ln>
          </p:spPr>
        </p:sp>
      </p:grpSp>
      <p:grpSp>
        <p:nvGrpSpPr>
          <p:cNvPr id="164" name="Group 164"/>
          <p:cNvGrpSpPr/>
          <p:nvPr/>
        </p:nvGrpSpPr>
        <p:grpSpPr>
          <a:xfrm>
            <a:off x="1814893" y="7484174"/>
            <a:ext cx="4224528" cy="699516"/>
            <a:chOff x="0" y="0"/>
            <a:chExt cx="5632704" cy="932688"/>
          </a:xfrm>
        </p:grpSpPr>
        <p:sp>
          <p:nvSpPr>
            <p:cNvPr id="165" name="Freeform 165"/>
            <p:cNvSpPr/>
            <p:nvPr/>
          </p:nvSpPr>
          <p:spPr>
            <a:xfrm>
              <a:off x="0" y="0"/>
              <a:ext cx="5632704" cy="932688"/>
            </a:xfrm>
            <a:custGeom>
              <a:avLst/>
              <a:gdLst/>
              <a:ahLst/>
              <a:cxnLst/>
              <a:rect l="l" t="t" r="r" b="b"/>
              <a:pathLst>
                <a:path w="5632704" h="932688">
                  <a:moveTo>
                    <a:pt x="0" y="0"/>
                  </a:moveTo>
                  <a:lnTo>
                    <a:pt x="5632704" y="0"/>
                  </a:lnTo>
                  <a:lnTo>
                    <a:pt x="5632704" y="932688"/>
                  </a:lnTo>
                  <a:lnTo>
                    <a:pt x="0" y="932688"/>
                  </a:lnTo>
                  <a:close/>
                </a:path>
              </a:pathLst>
            </a:custGeom>
            <a:blipFill>
              <a:blip r:embed="rId3">
                <a:alphaModFix amt="0"/>
              </a:blip>
              <a:stretch>
                <a:fillRect t="-67674" b="-67674"/>
              </a:stretch>
            </a:blipFill>
          </p:spPr>
        </p:sp>
        <p:sp>
          <p:nvSpPr>
            <p:cNvPr id="166" name="TextBox 166"/>
            <p:cNvSpPr txBox="1"/>
            <p:nvPr/>
          </p:nvSpPr>
          <p:spPr>
            <a:xfrm>
              <a:off x="0" y="0"/>
              <a:ext cx="56327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portfolio_holdings.csv</a:t>
              </a:r>
            </a:p>
          </p:txBody>
        </p:sp>
      </p:grpSp>
      <p:grpSp>
        <p:nvGrpSpPr>
          <p:cNvPr id="167" name="Group 167"/>
          <p:cNvGrpSpPr/>
          <p:nvPr/>
        </p:nvGrpSpPr>
        <p:grpSpPr>
          <a:xfrm>
            <a:off x="6039421" y="7474649"/>
            <a:ext cx="2076450" cy="718566"/>
            <a:chOff x="0" y="0"/>
            <a:chExt cx="2768600" cy="958088"/>
          </a:xfrm>
        </p:grpSpPr>
        <p:sp>
          <p:nvSpPr>
            <p:cNvPr id="168" name="Freeform 168"/>
            <p:cNvSpPr/>
            <p:nvPr/>
          </p:nvSpPr>
          <p:spPr>
            <a:xfrm>
              <a:off x="0" y="0"/>
              <a:ext cx="2768600" cy="958088"/>
            </a:xfrm>
            <a:custGeom>
              <a:avLst/>
              <a:gdLst/>
              <a:ahLst/>
              <a:cxnLst/>
              <a:rect l="l" t="t" r="r" b="b"/>
              <a:pathLst>
                <a:path w="2768600" h="958088">
                  <a:moveTo>
                    <a:pt x="0" y="0"/>
                  </a:moveTo>
                  <a:lnTo>
                    <a:pt x="2768600" y="0"/>
                  </a:lnTo>
                  <a:lnTo>
                    <a:pt x="2768600" y="958088"/>
                  </a:lnTo>
                  <a:lnTo>
                    <a:pt x="0" y="958088"/>
                  </a:lnTo>
                  <a:close/>
                </a:path>
              </a:pathLst>
            </a:custGeom>
            <a:solidFill>
              <a:srgbClr val="FFFFFF"/>
            </a:solidFill>
            <a:ln w="19050" cap="sq">
              <a:solidFill>
                <a:srgbClr val="CBD5E0"/>
              </a:solidFill>
              <a:prstDash val="solid"/>
              <a:miter/>
            </a:ln>
          </p:spPr>
        </p:sp>
      </p:grpSp>
      <p:grpSp>
        <p:nvGrpSpPr>
          <p:cNvPr id="169" name="Group 169"/>
          <p:cNvGrpSpPr/>
          <p:nvPr/>
        </p:nvGrpSpPr>
        <p:grpSpPr>
          <a:xfrm>
            <a:off x="6186106" y="7484174"/>
            <a:ext cx="1892808" cy="699516"/>
            <a:chOff x="0" y="0"/>
            <a:chExt cx="2523744" cy="932688"/>
          </a:xfrm>
        </p:grpSpPr>
        <p:sp>
          <p:nvSpPr>
            <p:cNvPr id="170" name="Freeform 170"/>
            <p:cNvSpPr/>
            <p:nvPr/>
          </p:nvSpPr>
          <p:spPr>
            <a:xfrm>
              <a:off x="0" y="0"/>
              <a:ext cx="2523744" cy="932688"/>
            </a:xfrm>
            <a:custGeom>
              <a:avLst/>
              <a:gdLst/>
              <a:ahLst/>
              <a:cxnLst/>
              <a:rect l="l" t="t" r="r" b="b"/>
              <a:pathLst>
                <a:path w="2523744" h="932688">
                  <a:moveTo>
                    <a:pt x="0" y="0"/>
                  </a:moveTo>
                  <a:lnTo>
                    <a:pt x="2523744" y="0"/>
                  </a:lnTo>
                  <a:lnTo>
                    <a:pt x="2523744" y="932688"/>
                  </a:lnTo>
                  <a:lnTo>
                    <a:pt x="0" y="932688"/>
                  </a:lnTo>
                  <a:close/>
                </a:path>
              </a:pathLst>
            </a:custGeom>
            <a:blipFill>
              <a:blip r:embed="rId3">
                <a:alphaModFix amt="0"/>
              </a:blip>
              <a:stretch>
                <a:fillRect t="-2724" b="-2724"/>
              </a:stretch>
            </a:blipFill>
          </p:spPr>
        </p:sp>
        <p:sp>
          <p:nvSpPr>
            <p:cNvPr id="171" name="TextBox 171"/>
            <p:cNvSpPr txBox="1"/>
            <p:nvPr/>
          </p:nvSpPr>
          <p:spPr>
            <a:xfrm>
              <a:off x="0" y="0"/>
              <a:ext cx="252374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322</a:t>
              </a:r>
            </a:p>
          </p:txBody>
        </p:sp>
      </p:grpSp>
      <p:grpSp>
        <p:nvGrpSpPr>
          <p:cNvPr id="172" name="Group 172"/>
          <p:cNvGrpSpPr/>
          <p:nvPr/>
        </p:nvGrpSpPr>
        <p:grpSpPr>
          <a:xfrm>
            <a:off x="8096821" y="7474649"/>
            <a:ext cx="8522970" cy="718566"/>
            <a:chOff x="0" y="0"/>
            <a:chExt cx="11363960" cy="958088"/>
          </a:xfrm>
        </p:grpSpPr>
        <p:sp>
          <p:nvSpPr>
            <p:cNvPr id="173" name="Freeform 173"/>
            <p:cNvSpPr/>
            <p:nvPr/>
          </p:nvSpPr>
          <p:spPr>
            <a:xfrm>
              <a:off x="0" y="0"/>
              <a:ext cx="11363960" cy="958088"/>
            </a:xfrm>
            <a:custGeom>
              <a:avLst/>
              <a:gdLst/>
              <a:ahLst/>
              <a:cxnLst/>
              <a:rect l="l" t="t" r="r" b="b"/>
              <a:pathLst>
                <a:path w="11363960" h="958088">
                  <a:moveTo>
                    <a:pt x="0" y="0"/>
                  </a:moveTo>
                  <a:lnTo>
                    <a:pt x="11363960" y="0"/>
                  </a:lnTo>
                  <a:lnTo>
                    <a:pt x="11363960" y="958088"/>
                  </a:lnTo>
                  <a:lnTo>
                    <a:pt x="0" y="958088"/>
                  </a:lnTo>
                  <a:close/>
                </a:path>
              </a:pathLst>
            </a:custGeom>
            <a:solidFill>
              <a:srgbClr val="FFFFFF"/>
            </a:solidFill>
            <a:ln w="19050" cap="sq">
              <a:solidFill>
                <a:srgbClr val="CBD5E0"/>
              </a:solidFill>
              <a:prstDash val="solid"/>
              <a:miter/>
            </a:ln>
          </p:spPr>
        </p:sp>
      </p:grpSp>
      <p:grpSp>
        <p:nvGrpSpPr>
          <p:cNvPr id="174" name="Group 174"/>
          <p:cNvGrpSpPr/>
          <p:nvPr/>
        </p:nvGrpSpPr>
        <p:grpSpPr>
          <a:xfrm>
            <a:off x="8243506" y="7484174"/>
            <a:ext cx="8339328" cy="699516"/>
            <a:chOff x="0" y="0"/>
            <a:chExt cx="11119104" cy="932688"/>
          </a:xfrm>
        </p:grpSpPr>
        <p:sp>
          <p:nvSpPr>
            <p:cNvPr id="175" name="Freeform 175"/>
            <p:cNvSpPr/>
            <p:nvPr/>
          </p:nvSpPr>
          <p:spPr>
            <a:xfrm>
              <a:off x="0" y="0"/>
              <a:ext cx="11119104" cy="932688"/>
            </a:xfrm>
            <a:custGeom>
              <a:avLst/>
              <a:gdLst/>
              <a:ahLst/>
              <a:cxnLst/>
              <a:rect l="l" t="t" r="r" b="b"/>
              <a:pathLst>
                <a:path w="11119104" h="932688">
                  <a:moveTo>
                    <a:pt x="0" y="0"/>
                  </a:moveTo>
                  <a:lnTo>
                    <a:pt x="11119104" y="0"/>
                  </a:lnTo>
                  <a:lnTo>
                    <a:pt x="11119104" y="932688"/>
                  </a:lnTo>
                  <a:lnTo>
                    <a:pt x="0" y="932688"/>
                  </a:lnTo>
                  <a:close/>
                </a:path>
              </a:pathLst>
            </a:custGeom>
            <a:blipFill>
              <a:blip r:embed="rId3">
                <a:alphaModFix amt="0"/>
              </a:blip>
              <a:stretch>
                <a:fillRect t="-182292" b="-182292"/>
              </a:stretch>
            </a:blipFill>
          </p:spPr>
        </p:sp>
        <p:sp>
          <p:nvSpPr>
            <p:cNvPr id="176" name="TextBox 176"/>
            <p:cNvSpPr txBox="1"/>
            <p:nvPr/>
          </p:nvSpPr>
          <p:spPr>
            <a:xfrm>
              <a:off x="0" y="0"/>
              <a:ext cx="11119104"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amfi_code, stock_symbol, weight_pct, sector</a:t>
              </a:r>
            </a:p>
          </p:txBody>
        </p:sp>
      </p:grpSp>
      <p:grpSp>
        <p:nvGrpSpPr>
          <p:cNvPr id="177" name="Group 177"/>
          <p:cNvGrpSpPr/>
          <p:nvPr/>
        </p:nvGrpSpPr>
        <p:grpSpPr>
          <a:xfrm>
            <a:off x="-9525" y="9893427"/>
            <a:ext cx="18302478" cy="403098"/>
            <a:chOff x="0" y="0"/>
            <a:chExt cx="24403304" cy="537464"/>
          </a:xfrm>
        </p:grpSpPr>
        <p:sp>
          <p:nvSpPr>
            <p:cNvPr id="178" name="Freeform 178"/>
            <p:cNvSpPr/>
            <p:nvPr/>
          </p:nvSpPr>
          <p:spPr>
            <a:xfrm>
              <a:off x="0" y="0"/>
              <a:ext cx="24403304" cy="537464"/>
            </a:xfrm>
            <a:custGeom>
              <a:avLst/>
              <a:gdLst/>
              <a:ahLst/>
              <a:cxnLst/>
              <a:rect l="l" t="t" r="r" b="b"/>
              <a:pathLst>
                <a:path w="24403304" h="537464">
                  <a:moveTo>
                    <a:pt x="0" y="0"/>
                  </a:moveTo>
                  <a:lnTo>
                    <a:pt x="24403304" y="0"/>
                  </a:lnTo>
                  <a:lnTo>
                    <a:pt x="24403304" y="537464"/>
                  </a:lnTo>
                  <a:lnTo>
                    <a:pt x="0" y="537464"/>
                  </a:lnTo>
                  <a:close/>
                </a:path>
              </a:pathLst>
            </a:custGeom>
            <a:solidFill>
              <a:srgbClr val="132338"/>
            </a:solidFill>
            <a:ln w="19050" cap="sq">
              <a:solidFill>
                <a:srgbClr val="0D1B2A"/>
              </a:solidFill>
              <a:prstDash val="solid"/>
              <a:miter/>
            </a:ln>
          </p:spPr>
        </p:sp>
      </p:grpSp>
      <p:grpSp>
        <p:nvGrpSpPr>
          <p:cNvPr id="179" name="Group 179"/>
          <p:cNvGrpSpPr/>
          <p:nvPr/>
        </p:nvGrpSpPr>
        <p:grpSpPr>
          <a:xfrm>
            <a:off x="16911828" y="9930384"/>
            <a:ext cx="1097280" cy="329184"/>
            <a:chOff x="0" y="0"/>
            <a:chExt cx="1463040" cy="438912"/>
          </a:xfrm>
        </p:grpSpPr>
        <p:sp>
          <p:nvSpPr>
            <p:cNvPr id="180" name="Freeform 180"/>
            <p:cNvSpPr/>
            <p:nvPr/>
          </p:nvSpPr>
          <p:spPr>
            <a:xfrm>
              <a:off x="0" y="0"/>
              <a:ext cx="1463040" cy="438912"/>
            </a:xfrm>
            <a:custGeom>
              <a:avLst/>
              <a:gdLst/>
              <a:ahLst/>
              <a:cxnLst/>
              <a:rect l="l" t="t" r="r" b="b"/>
              <a:pathLst>
                <a:path w="1463040" h="438912">
                  <a:moveTo>
                    <a:pt x="0" y="0"/>
                  </a:moveTo>
                  <a:lnTo>
                    <a:pt x="1463040" y="0"/>
                  </a:lnTo>
                  <a:lnTo>
                    <a:pt x="1463040" y="438912"/>
                  </a:lnTo>
                  <a:lnTo>
                    <a:pt x="0" y="438912"/>
                  </a:lnTo>
                  <a:close/>
                </a:path>
              </a:pathLst>
            </a:custGeom>
            <a:blipFill>
              <a:blip r:embed="rId3">
                <a:alphaModFix amt="0"/>
              </a:blip>
              <a:stretch>
                <a:fillRect t="-14950" b="-14950"/>
              </a:stretch>
            </a:blipFill>
          </p:spPr>
        </p:sp>
        <p:sp>
          <p:nvSpPr>
            <p:cNvPr id="181" name="TextBox 181"/>
            <p:cNvSpPr txBox="1"/>
            <p:nvPr/>
          </p:nvSpPr>
          <p:spPr>
            <a:xfrm>
              <a:off x="0" y="-9525"/>
              <a:ext cx="1463040" cy="448437"/>
            </a:xfrm>
            <a:prstGeom prst="rect">
              <a:avLst/>
            </a:prstGeom>
          </p:spPr>
          <p:txBody>
            <a:bodyPr lIns="0" tIns="0" rIns="0" bIns="0" rtlCol="0" anchor="ctr"/>
            <a:lstStyle/>
            <a:p>
              <a:pPr algn="r">
                <a:lnSpc>
                  <a:spcPts val="1439"/>
                </a:lnSpc>
              </a:pPr>
              <a:r>
                <a:rPr lang="en-US" sz="1200">
                  <a:solidFill>
                    <a:srgbClr val="DCEDFA"/>
                  </a:solidFill>
                  <a:latin typeface="DM Sans"/>
                  <a:ea typeface="DM Sans"/>
                  <a:cs typeface="DM Sans"/>
                  <a:sym typeface="DM Sans"/>
                </a:rPr>
                <a:t>3 / 12</a:t>
              </a:r>
            </a:p>
          </p:txBody>
        </p:sp>
      </p:grpSp>
      <p:grpSp>
        <p:nvGrpSpPr>
          <p:cNvPr id="182" name="Group 182"/>
          <p:cNvGrpSpPr/>
          <p:nvPr/>
        </p:nvGrpSpPr>
        <p:grpSpPr>
          <a:xfrm>
            <a:off x="411480" y="9930384"/>
            <a:ext cx="16363188" cy="329184"/>
            <a:chOff x="0" y="0"/>
            <a:chExt cx="21817584" cy="438912"/>
          </a:xfrm>
        </p:grpSpPr>
        <p:sp>
          <p:nvSpPr>
            <p:cNvPr id="183" name="Freeform 183"/>
            <p:cNvSpPr/>
            <p:nvPr/>
          </p:nvSpPr>
          <p:spPr>
            <a:xfrm>
              <a:off x="0" y="0"/>
              <a:ext cx="21817585" cy="438912"/>
            </a:xfrm>
            <a:custGeom>
              <a:avLst/>
              <a:gdLst/>
              <a:ahLst/>
              <a:cxnLst/>
              <a:rect l="l" t="t" r="r" b="b"/>
              <a:pathLst>
                <a:path w="21817585" h="438912">
                  <a:moveTo>
                    <a:pt x="0" y="0"/>
                  </a:moveTo>
                  <a:lnTo>
                    <a:pt x="21817585" y="0"/>
                  </a:lnTo>
                  <a:lnTo>
                    <a:pt x="21817585" y="438912"/>
                  </a:lnTo>
                  <a:lnTo>
                    <a:pt x="0" y="438912"/>
                  </a:lnTo>
                  <a:close/>
                </a:path>
              </a:pathLst>
            </a:custGeom>
            <a:blipFill>
              <a:blip r:embed="rId3">
                <a:alphaModFix amt="0"/>
              </a:blip>
              <a:stretch>
                <a:fillRect t="-918568" b="-918568"/>
              </a:stretch>
            </a:blipFill>
          </p:spPr>
        </p:sp>
        <p:sp>
          <p:nvSpPr>
            <p:cNvPr id="184" name="TextBox 184"/>
            <p:cNvSpPr txBox="1"/>
            <p:nvPr/>
          </p:nvSpPr>
          <p:spPr>
            <a:xfrm>
              <a:off x="0" y="-9525"/>
              <a:ext cx="21817584" cy="448437"/>
            </a:xfrm>
            <a:prstGeom prst="rect">
              <a:avLst/>
            </a:prstGeom>
          </p:spPr>
          <p:txBody>
            <a:bodyPr lIns="0" tIns="0" rIns="0" bIns="0" rtlCol="0" anchor="ctr"/>
            <a:lstStyle/>
            <a:p>
              <a:pPr algn="l">
                <a:lnSpc>
                  <a:spcPts val="1439"/>
                </a:lnSpc>
              </a:pPr>
              <a:r>
                <a:rPr lang="en-US" sz="1200">
                  <a:solidFill>
                    <a:srgbClr val="DCEDFA"/>
                  </a:solidFill>
                  <a:latin typeface="DM Sans"/>
                  <a:ea typeface="DM Sans"/>
                  <a:cs typeface="DM Sans"/>
                  <a:sym typeface="DM Sans"/>
                </a:rPr>
                <a:t>Bluestock Fintech  |  Capstone Project I - Mutual Fund Analytics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527810"/>
            <a:chOff x="0" y="0"/>
            <a:chExt cx="24403304" cy="2037080"/>
          </a:xfrm>
        </p:grpSpPr>
        <p:sp>
          <p:nvSpPr>
            <p:cNvPr id="3" name="Freeform 3"/>
            <p:cNvSpPr/>
            <p:nvPr/>
          </p:nvSpPr>
          <p:spPr>
            <a:xfrm>
              <a:off x="0" y="0"/>
              <a:ext cx="24403304" cy="2037080"/>
            </a:xfrm>
            <a:custGeom>
              <a:avLst/>
              <a:gdLst/>
              <a:ahLst/>
              <a:cxnLst/>
              <a:rect l="l" t="t" r="r" b="b"/>
              <a:pathLst>
                <a:path w="24403304" h="2037080">
                  <a:moveTo>
                    <a:pt x="0" y="0"/>
                  </a:moveTo>
                  <a:lnTo>
                    <a:pt x="24403304" y="0"/>
                  </a:lnTo>
                  <a:lnTo>
                    <a:pt x="24403304" y="2037080"/>
                  </a:lnTo>
                  <a:lnTo>
                    <a:pt x="0" y="2037080"/>
                  </a:lnTo>
                  <a:close/>
                </a:path>
              </a:pathLst>
            </a:custGeom>
            <a:solidFill>
              <a:srgbClr val="132338"/>
            </a:solidFill>
            <a:ln w="19050" cap="sq">
              <a:solidFill>
                <a:srgbClr val="0D1B2A"/>
              </a:solidFill>
              <a:prstDash val="solid"/>
              <a:miter/>
            </a:ln>
          </p:spPr>
        </p:sp>
      </p:grpSp>
      <p:grpSp>
        <p:nvGrpSpPr>
          <p:cNvPr id="4" name="Group 4"/>
          <p:cNvGrpSpPr/>
          <p:nvPr/>
        </p:nvGrpSpPr>
        <p:grpSpPr>
          <a:xfrm>
            <a:off x="548640" y="137160"/>
            <a:ext cx="16911828" cy="822960"/>
            <a:chOff x="0" y="0"/>
            <a:chExt cx="22549104" cy="1097280"/>
          </a:xfrm>
        </p:grpSpPr>
        <p:sp>
          <p:nvSpPr>
            <p:cNvPr id="5" name="Freeform 5"/>
            <p:cNvSpPr/>
            <p:nvPr/>
          </p:nvSpPr>
          <p:spPr>
            <a:xfrm>
              <a:off x="0" y="0"/>
              <a:ext cx="22549104" cy="1097280"/>
            </a:xfrm>
            <a:custGeom>
              <a:avLst/>
              <a:gdLst/>
              <a:ahLst/>
              <a:cxnLst/>
              <a:rect l="l" t="t" r="r" b="b"/>
              <a:pathLst>
                <a:path w="22549104" h="1097280">
                  <a:moveTo>
                    <a:pt x="0" y="0"/>
                  </a:moveTo>
                  <a:lnTo>
                    <a:pt x="22549104" y="0"/>
                  </a:lnTo>
                  <a:lnTo>
                    <a:pt x="22549104" y="1097280"/>
                  </a:lnTo>
                  <a:lnTo>
                    <a:pt x="0" y="1097280"/>
                  </a:lnTo>
                  <a:close/>
                </a:path>
              </a:pathLst>
            </a:custGeom>
            <a:blipFill>
              <a:blip r:embed="rId3">
                <a:alphaModFix amt="0"/>
              </a:blip>
              <a:stretch>
                <a:fillRect t="-350417" b="-350417"/>
              </a:stretch>
            </a:blipFill>
          </p:spPr>
        </p:sp>
        <p:sp>
          <p:nvSpPr>
            <p:cNvPr id="6" name="TextBox 6"/>
            <p:cNvSpPr txBox="1"/>
            <p:nvPr/>
          </p:nvSpPr>
          <p:spPr>
            <a:xfrm>
              <a:off x="0" y="0"/>
              <a:ext cx="22549104" cy="1097280"/>
            </a:xfrm>
            <a:prstGeom prst="rect">
              <a:avLst/>
            </a:prstGeom>
          </p:spPr>
          <p:txBody>
            <a:bodyPr lIns="0" tIns="0" rIns="0" bIns="0" rtlCol="0" anchor="ctr"/>
            <a:lstStyle/>
            <a:p>
              <a:pPr algn="l">
                <a:lnSpc>
                  <a:spcPts val="5040"/>
                </a:lnSpc>
              </a:pPr>
              <a:r>
                <a:rPr lang="en-US" sz="4200" b="1">
                  <a:solidFill>
                    <a:srgbClr val="FFFFFF"/>
                  </a:solidFill>
                  <a:latin typeface="DM Sans Bold"/>
                  <a:ea typeface="DM Sans Bold"/>
                  <a:cs typeface="DM Sans Bold"/>
                  <a:sym typeface="DM Sans Bold"/>
                </a:rPr>
                <a:t>Project Architecture</a:t>
              </a:r>
            </a:p>
          </p:txBody>
        </p:sp>
      </p:grpSp>
      <p:grpSp>
        <p:nvGrpSpPr>
          <p:cNvPr id="7" name="Group 7"/>
          <p:cNvGrpSpPr/>
          <p:nvPr/>
        </p:nvGrpSpPr>
        <p:grpSpPr>
          <a:xfrm>
            <a:off x="548640" y="891540"/>
            <a:ext cx="16911828" cy="521208"/>
            <a:chOff x="0" y="0"/>
            <a:chExt cx="22549104" cy="694944"/>
          </a:xfrm>
        </p:grpSpPr>
        <p:sp>
          <p:nvSpPr>
            <p:cNvPr id="8" name="Freeform 8"/>
            <p:cNvSpPr/>
            <p:nvPr/>
          </p:nvSpPr>
          <p:spPr>
            <a:xfrm>
              <a:off x="0" y="0"/>
              <a:ext cx="22549104" cy="694944"/>
            </a:xfrm>
            <a:custGeom>
              <a:avLst/>
              <a:gdLst/>
              <a:ahLst/>
              <a:cxnLst/>
              <a:rect l="l" t="t" r="r" b="b"/>
              <a:pathLst>
                <a:path w="22549104" h="694944">
                  <a:moveTo>
                    <a:pt x="0" y="0"/>
                  </a:moveTo>
                  <a:lnTo>
                    <a:pt x="22549104" y="0"/>
                  </a:lnTo>
                  <a:lnTo>
                    <a:pt x="22549104" y="694944"/>
                  </a:lnTo>
                  <a:lnTo>
                    <a:pt x="0" y="694944"/>
                  </a:lnTo>
                  <a:close/>
                </a:path>
              </a:pathLst>
            </a:custGeom>
            <a:blipFill>
              <a:blip r:embed="rId3">
                <a:alphaModFix amt="0"/>
              </a:blip>
              <a:stretch>
                <a:fillRect t="-582238" b="-582238"/>
              </a:stretch>
            </a:blipFill>
          </p:spPr>
        </p:sp>
        <p:sp>
          <p:nvSpPr>
            <p:cNvPr id="9" name="TextBox 9"/>
            <p:cNvSpPr txBox="1"/>
            <p:nvPr/>
          </p:nvSpPr>
          <p:spPr>
            <a:xfrm>
              <a:off x="0" y="9525"/>
              <a:ext cx="22549104" cy="685419"/>
            </a:xfrm>
            <a:prstGeom prst="rect">
              <a:avLst/>
            </a:prstGeom>
          </p:spPr>
          <p:txBody>
            <a:bodyPr lIns="0" tIns="0" rIns="0" bIns="0" rtlCol="0" anchor="ctr"/>
            <a:lstStyle/>
            <a:p>
              <a:pPr algn="l">
                <a:lnSpc>
                  <a:spcPts val="2340"/>
                </a:lnSpc>
              </a:pPr>
              <a:r>
                <a:rPr lang="en-US" sz="1950">
                  <a:solidFill>
                    <a:srgbClr val="DCEDFA"/>
                  </a:solidFill>
                  <a:latin typeface="DM Sans"/>
                  <a:ea typeface="DM Sans"/>
                  <a:cs typeface="DM Sans"/>
                  <a:sym typeface="DM Sans"/>
                </a:rPr>
                <a:t>7-day end-to-end analytics pipeline</a:t>
              </a:r>
            </a:p>
          </p:txBody>
        </p:sp>
      </p:grpSp>
      <p:grpSp>
        <p:nvGrpSpPr>
          <p:cNvPr id="10" name="Group 10"/>
          <p:cNvGrpSpPr/>
          <p:nvPr/>
        </p:nvGrpSpPr>
        <p:grpSpPr>
          <a:xfrm>
            <a:off x="-9525" y="1499235"/>
            <a:ext cx="18302478" cy="73914"/>
            <a:chOff x="0" y="0"/>
            <a:chExt cx="24403304" cy="98552"/>
          </a:xfrm>
        </p:grpSpPr>
        <p:sp>
          <p:nvSpPr>
            <p:cNvPr id="11" name="Freeform 11"/>
            <p:cNvSpPr/>
            <p:nvPr/>
          </p:nvSpPr>
          <p:spPr>
            <a:xfrm>
              <a:off x="0" y="0"/>
              <a:ext cx="24403304" cy="98552"/>
            </a:xfrm>
            <a:custGeom>
              <a:avLst/>
              <a:gdLst/>
              <a:ahLst/>
              <a:cxnLst/>
              <a:rect l="l" t="t" r="r" b="b"/>
              <a:pathLst>
                <a:path w="24403304" h="98552">
                  <a:moveTo>
                    <a:pt x="0" y="0"/>
                  </a:moveTo>
                  <a:lnTo>
                    <a:pt x="24403304" y="0"/>
                  </a:lnTo>
                  <a:lnTo>
                    <a:pt x="24403304" y="98552"/>
                  </a:lnTo>
                  <a:lnTo>
                    <a:pt x="0" y="98552"/>
                  </a:lnTo>
                  <a:close/>
                </a:path>
              </a:pathLst>
            </a:custGeom>
            <a:solidFill>
              <a:srgbClr val="1565C0"/>
            </a:solidFill>
            <a:ln w="19050" cap="sq">
              <a:solidFill>
                <a:srgbClr val="1565C0"/>
              </a:solidFill>
              <a:prstDash val="solid"/>
              <a:miter/>
            </a:ln>
          </p:spPr>
        </p:sp>
      </p:grpSp>
      <p:grpSp>
        <p:nvGrpSpPr>
          <p:cNvPr id="12" name="Group 12"/>
          <p:cNvGrpSpPr/>
          <p:nvPr/>
        </p:nvGrpSpPr>
        <p:grpSpPr>
          <a:xfrm>
            <a:off x="-9525" y="9893427"/>
            <a:ext cx="18302478" cy="403098"/>
            <a:chOff x="0" y="0"/>
            <a:chExt cx="24403304" cy="537464"/>
          </a:xfrm>
        </p:grpSpPr>
        <p:sp>
          <p:nvSpPr>
            <p:cNvPr id="13" name="Freeform 13"/>
            <p:cNvSpPr/>
            <p:nvPr/>
          </p:nvSpPr>
          <p:spPr>
            <a:xfrm>
              <a:off x="0" y="0"/>
              <a:ext cx="24403304" cy="537464"/>
            </a:xfrm>
            <a:custGeom>
              <a:avLst/>
              <a:gdLst/>
              <a:ahLst/>
              <a:cxnLst/>
              <a:rect l="l" t="t" r="r" b="b"/>
              <a:pathLst>
                <a:path w="24403304" h="537464">
                  <a:moveTo>
                    <a:pt x="0" y="0"/>
                  </a:moveTo>
                  <a:lnTo>
                    <a:pt x="24403304" y="0"/>
                  </a:lnTo>
                  <a:lnTo>
                    <a:pt x="24403304" y="537464"/>
                  </a:lnTo>
                  <a:lnTo>
                    <a:pt x="0" y="537464"/>
                  </a:lnTo>
                  <a:close/>
                </a:path>
              </a:pathLst>
            </a:custGeom>
            <a:solidFill>
              <a:srgbClr val="132338"/>
            </a:solidFill>
            <a:ln w="19050" cap="sq">
              <a:solidFill>
                <a:srgbClr val="0D1B2A"/>
              </a:solidFill>
              <a:prstDash val="solid"/>
              <a:miter/>
            </a:ln>
          </p:spPr>
        </p:sp>
      </p:grpSp>
      <p:grpSp>
        <p:nvGrpSpPr>
          <p:cNvPr id="14" name="Group 14"/>
          <p:cNvGrpSpPr/>
          <p:nvPr/>
        </p:nvGrpSpPr>
        <p:grpSpPr>
          <a:xfrm>
            <a:off x="16911828" y="9930384"/>
            <a:ext cx="1097280" cy="329184"/>
            <a:chOff x="0" y="0"/>
            <a:chExt cx="1463040" cy="438912"/>
          </a:xfrm>
        </p:grpSpPr>
        <p:sp>
          <p:nvSpPr>
            <p:cNvPr id="15" name="Freeform 15"/>
            <p:cNvSpPr/>
            <p:nvPr/>
          </p:nvSpPr>
          <p:spPr>
            <a:xfrm>
              <a:off x="0" y="0"/>
              <a:ext cx="1463040" cy="438912"/>
            </a:xfrm>
            <a:custGeom>
              <a:avLst/>
              <a:gdLst/>
              <a:ahLst/>
              <a:cxnLst/>
              <a:rect l="l" t="t" r="r" b="b"/>
              <a:pathLst>
                <a:path w="1463040" h="438912">
                  <a:moveTo>
                    <a:pt x="0" y="0"/>
                  </a:moveTo>
                  <a:lnTo>
                    <a:pt x="1463040" y="0"/>
                  </a:lnTo>
                  <a:lnTo>
                    <a:pt x="1463040" y="438912"/>
                  </a:lnTo>
                  <a:lnTo>
                    <a:pt x="0" y="438912"/>
                  </a:lnTo>
                  <a:close/>
                </a:path>
              </a:pathLst>
            </a:custGeom>
            <a:blipFill>
              <a:blip r:embed="rId3">
                <a:alphaModFix amt="0"/>
              </a:blip>
              <a:stretch>
                <a:fillRect t="-14950" b="-14950"/>
              </a:stretch>
            </a:blipFill>
          </p:spPr>
        </p:sp>
        <p:sp>
          <p:nvSpPr>
            <p:cNvPr id="16" name="TextBox 16"/>
            <p:cNvSpPr txBox="1"/>
            <p:nvPr/>
          </p:nvSpPr>
          <p:spPr>
            <a:xfrm>
              <a:off x="0" y="-9525"/>
              <a:ext cx="1463040" cy="448437"/>
            </a:xfrm>
            <a:prstGeom prst="rect">
              <a:avLst/>
            </a:prstGeom>
          </p:spPr>
          <p:txBody>
            <a:bodyPr lIns="0" tIns="0" rIns="0" bIns="0" rtlCol="0" anchor="ctr"/>
            <a:lstStyle/>
            <a:p>
              <a:pPr algn="r">
                <a:lnSpc>
                  <a:spcPts val="1439"/>
                </a:lnSpc>
              </a:pPr>
              <a:r>
                <a:rPr lang="en-US" sz="1200">
                  <a:solidFill>
                    <a:srgbClr val="DCEDFA"/>
                  </a:solidFill>
                  <a:latin typeface="DM Sans"/>
                  <a:ea typeface="DM Sans"/>
                  <a:cs typeface="DM Sans"/>
                  <a:sym typeface="DM Sans"/>
                </a:rPr>
                <a:t>4 / 12</a:t>
              </a:r>
            </a:p>
          </p:txBody>
        </p:sp>
      </p:grpSp>
      <p:grpSp>
        <p:nvGrpSpPr>
          <p:cNvPr id="17" name="Group 17"/>
          <p:cNvGrpSpPr/>
          <p:nvPr/>
        </p:nvGrpSpPr>
        <p:grpSpPr>
          <a:xfrm>
            <a:off x="411480" y="9930384"/>
            <a:ext cx="16363188" cy="329184"/>
            <a:chOff x="0" y="0"/>
            <a:chExt cx="21817584" cy="438912"/>
          </a:xfrm>
        </p:grpSpPr>
        <p:sp>
          <p:nvSpPr>
            <p:cNvPr id="18" name="Freeform 18"/>
            <p:cNvSpPr/>
            <p:nvPr/>
          </p:nvSpPr>
          <p:spPr>
            <a:xfrm>
              <a:off x="0" y="0"/>
              <a:ext cx="21817585" cy="438912"/>
            </a:xfrm>
            <a:custGeom>
              <a:avLst/>
              <a:gdLst/>
              <a:ahLst/>
              <a:cxnLst/>
              <a:rect l="l" t="t" r="r" b="b"/>
              <a:pathLst>
                <a:path w="21817585" h="438912">
                  <a:moveTo>
                    <a:pt x="0" y="0"/>
                  </a:moveTo>
                  <a:lnTo>
                    <a:pt x="21817585" y="0"/>
                  </a:lnTo>
                  <a:lnTo>
                    <a:pt x="21817585" y="438912"/>
                  </a:lnTo>
                  <a:lnTo>
                    <a:pt x="0" y="438912"/>
                  </a:lnTo>
                  <a:close/>
                </a:path>
              </a:pathLst>
            </a:custGeom>
            <a:blipFill>
              <a:blip r:embed="rId3">
                <a:alphaModFix amt="0"/>
              </a:blip>
              <a:stretch>
                <a:fillRect t="-918568" b="-918568"/>
              </a:stretch>
            </a:blipFill>
          </p:spPr>
        </p:sp>
        <p:sp>
          <p:nvSpPr>
            <p:cNvPr id="19" name="TextBox 19"/>
            <p:cNvSpPr txBox="1"/>
            <p:nvPr/>
          </p:nvSpPr>
          <p:spPr>
            <a:xfrm>
              <a:off x="0" y="-9525"/>
              <a:ext cx="21817584" cy="448437"/>
            </a:xfrm>
            <a:prstGeom prst="rect">
              <a:avLst/>
            </a:prstGeom>
          </p:spPr>
          <p:txBody>
            <a:bodyPr lIns="0" tIns="0" rIns="0" bIns="0" rtlCol="0" anchor="ctr"/>
            <a:lstStyle/>
            <a:p>
              <a:pPr algn="l">
                <a:lnSpc>
                  <a:spcPts val="1439"/>
                </a:lnSpc>
              </a:pPr>
              <a:r>
                <a:rPr lang="en-US" sz="1200">
                  <a:solidFill>
                    <a:srgbClr val="DCEDFA"/>
                  </a:solidFill>
                  <a:latin typeface="DM Sans"/>
                  <a:ea typeface="DM Sans"/>
                  <a:cs typeface="DM Sans"/>
                  <a:sym typeface="DM Sans"/>
                </a:rPr>
                <a:t>Bluestock Fintech  |  Capstone Project I - Mutual Fund Analytics</a:t>
              </a:r>
            </a:p>
          </p:txBody>
        </p:sp>
      </p:grpSp>
      <p:sp>
        <p:nvSpPr>
          <p:cNvPr id="20" name="Freeform 20"/>
          <p:cNvSpPr/>
          <p:nvPr/>
        </p:nvSpPr>
        <p:spPr>
          <a:xfrm>
            <a:off x="-2331571" y="4810978"/>
            <a:ext cx="22951143" cy="1334706"/>
          </a:xfrm>
          <a:custGeom>
            <a:avLst/>
            <a:gdLst/>
            <a:ahLst/>
            <a:cxnLst/>
            <a:rect l="l" t="t" r="r" b="b"/>
            <a:pathLst>
              <a:path w="22951143" h="1334706">
                <a:moveTo>
                  <a:pt x="0" y="0"/>
                </a:moveTo>
                <a:lnTo>
                  <a:pt x="22951142" y="0"/>
                </a:lnTo>
                <a:lnTo>
                  <a:pt x="22951142" y="1334706"/>
                </a:lnTo>
                <a:lnTo>
                  <a:pt x="0" y="133470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1" name="Freeform 21"/>
          <p:cNvSpPr/>
          <p:nvPr/>
        </p:nvSpPr>
        <p:spPr>
          <a:xfrm rot="-10800000">
            <a:off x="-2331571" y="4598573"/>
            <a:ext cx="22951143" cy="1334706"/>
          </a:xfrm>
          <a:custGeom>
            <a:avLst/>
            <a:gdLst/>
            <a:ahLst/>
            <a:cxnLst/>
            <a:rect l="l" t="t" r="r" b="b"/>
            <a:pathLst>
              <a:path w="22951143" h="1334706">
                <a:moveTo>
                  <a:pt x="0" y="0"/>
                </a:moveTo>
                <a:lnTo>
                  <a:pt x="22951142" y="0"/>
                </a:lnTo>
                <a:lnTo>
                  <a:pt x="22951142" y="1334706"/>
                </a:lnTo>
                <a:lnTo>
                  <a:pt x="0" y="1334706"/>
                </a:lnTo>
                <a:lnTo>
                  <a:pt x="0" y="0"/>
                </a:lnTo>
                <a:close/>
              </a:path>
            </a:pathLst>
          </a:custGeom>
          <a:blipFill>
            <a:blip>
              <a:alphaModFix amt="28000"/>
              <a:extLst>
                <a:ext uri="{96DAC541-7B7A-43D3-8B79-37D633B846F1}">
                  <asvg:svgBlip xmlns:asvg="http://schemas.microsoft.com/office/drawing/2016/SVG/main" r:embed="rId4"/>
                </a:ext>
              </a:extLst>
            </a:blip>
            <a:stretch>
              <a:fillRect/>
            </a:stretch>
          </a:blipFill>
        </p:spPr>
      </p:sp>
      <p:grpSp>
        <p:nvGrpSpPr>
          <p:cNvPr id="22" name="Group 22"/>
          <p:cNvGrpSpPr/>
          <p:nvPr/>
        </p:nvGrpSpPr>
        <p:grpSpPr>
          <a:xfrm>
            <a:off x="1389557" y="5122106"/>
            <a:ext cx="1905000" cy="1894550"/>
            <a:chOff x="0" y="0"/>
            <a:chExt cx="812800" cy="808341"/>
          </a:xfrm>
        </p:grpSpPr>
        <p:sp>
          <p:nvSpPr>
            <p:cNvPr id="23" name="Freeform 23"/>
            <p:cNvSpPr/>
            <p:nvPr/>
          </p:nvSpPr>
          <p:spPr>
            <a:xfrm>
              <a:off x="0" y="0"/>
              <a:ext cx="812800" cy="808341"/>
            </a:xfrm>
            <a:custGeom>
              <a:avLst/>
              <a:gdLst/>
              <a:ahLst/>
              <a:cxnLst/>
              <a:rect l="l" t="t" r="r" b="b"/>
              <a:pathLst>
                <a:path w="812800" h="808341">
                  <a:moveTo>
                    <a:pt x="406400" y="0"/>
                  </a:moveTo>
                  <a:cubicBezTo>
                    <a:pt x="181951" y="0"/>
                    <a:pt x="0" y="180953"/>
                    <a:pt x="0" y="404171"/>
                  </a:cubicBezTo>
                  <a:cubicBezTo>
                    <a:pt x="0" y="627388"/>
                    <a:pt x="181951" y="808341"/>
                    <a:pt x="406400" y="808341"/>
                  </a:cubicBezTo>
                  <a:cubicBezTo>
                    <a:pt x="630849" y="808341"/>
                    <a:pt x="812800" y="627388"/>
                    <a:pt x="812800" y="404171"/>
                  </a:cubicBezTo>
                  <a:cubicBezTo>
                    <a:pt x="812800" y="180953"/>
                    <a:pt x="630849" y="0"/>
                    <a:pt x="406400" y="0"/>
                  </a:cubicBezTo>
                  <a:close/>
                </a:path>
              </a:pathLst>
            </a:custGeom>
            <a:solidFill>
              <a:srgbClr val="F7DF75"/>
            </a:solidFill>
            <a:ln cap="sq">
              <a:noFill/>
              <a:prstDash val="solid"/>
              <a:miter/>
            </a:ln>
          </p:spPr>
        </p:sp>
        <p:sp>
          <p:nvSpPr>
            <p:cNvPr id="24" name="TextBox 24"/>
            <p:cNvSpPr txBox="1"/>
            <p:nvPr/>
          </p:nvSpPr>
          <p:spPr>
            <a:xfrm>
              <a:off x="76200" y="18632"/>
              <a:ext cx="660400" cy="713927"/>
            </a:xfrm>
            <a:prstGeom prst="rect">
              <a:avLst/>
            </a:prstGeom>
          </p:spPr>
          <p:txBody>
            <a:bodyPr lIns="65468" tIns="65468" rIns="65468" bIns="65468" rtlCol="0" anchor="ctr"/>
            <a:lstStyle/>
            <a:p>
              <a:pPr marL="0" lvl="0" indent="0" algn="ctr">
                <a:lnSpc>
                  <a:spcPts val="3919"/>
                </a:lnSpc>
              </a:pPr>
              <a:r>
                <a:rPr lang="en-US" sz="2799" b="1">
                  <a:solidFill>
                    <a:srgbClr val="000000"/>
                  </a:solidFill>
                  <a:latin typeface="DM Sans Bold"/>
                  <a:ea typeface="DM Sans Bold"/>
                  <a:cs typeface="DM Sans Bold"/>
                  <a:sym typeface="DM Sans Bold"/>
                </a:rPr>
                <a:t>Day 1</a:t>
              </a:r>
            </a:p>
          </p:txBody>
        </p:sp>
      </p:grpSp>
      <p:grpSp>
        <p:nvGrpSpPr>
          <p:cNvPr id="25" name="Group 25"/>
          <p:cNvGrpSpPr/>
          <p:nvPr/>
        </p:nvGrpSpPr>
        <p:grpSpPr>
          <a:xfrm>
            <a:off x="10445972" y="5122106"/>
            <a:ext cx="1905000" cy="1894550"/>
            <a:chOff x="0" y="0"/>
            <a:chExt cx="812800" cy="808341"/>
          </a:xfrm>
        </p:grpSpPr>
        <p:sp>
          <p:nvSpPr>
            <p:cNvPr id="26" name="Freeform 26"/>
            <p:cNvSpPr/>
            <p:nvPr/>
          </p:nvSpPr>
          <p:spPr>
            <a:xfrm>
              <a:off x="0" y="0"/>
              <a:ext cx="812800" cy="808341"/>
            </a:xfrm>
            <a:custGeom>
              <a:avLst/>
              <a:gdLst/>
              <a:ahLst/>
              <a:cxnLst/>
              <a:rect l="l" t="t" r="r" b="b"/>
              <a:pathLst>
                <a:path w="812800" h="808341">
                  <a:moveTo>
                    <a:pt x="406400" y="0"/>
                  </a:moveTo>
                  <a:cubicBezTo>
                    <a:pt x="181951" y="0"/>
                    <a:pt x="0" y="180953"/>
                    <a:pt x="0" y="404171"/>
                  </a:cubicBezTo>
                  <a:cubicBezTo>
                    <a:pt x="0" y="627388"/>
                    <a:pt x="181951" y="808341"/>
                    <a:pt x="406400" y="808341"/>
                  </a:cubicBezTo>
                  <a:cubicBezTo>
                    <a:pt x="630849" y="808341"/>
                    <a:pt x="812800" y="627388"/>
                    <a:pt x="812800" y="404171"/>
                  </a:cubicBezTo>
                  <a:cubicBezTo>
                    <a:pt x="812800" y="180953"/>
                    <a:pt x="630849" y="0"/>
                    <a:pt x="406400" y="0"/>
                  </a:cubicBezTo>
                  <a:close/>
                </a:path>
              </a:pathLst>
            </a:custGeom>
            <a:solidFill>
              <a:srgbClr val="CACEFE"/>
            </a:solidFill>
            <a:ln cap="sq">
              <a:noFill/>
              <a:prstDash val="solid"/>
              <a:miter/>
            </a:ln>
          </p:spPr>
        </p:sp>
        <p:sp>
          <p:nvSpPr>
            <p:cNvPr id="27" name="TextBox 27"/>
            <p:cNvSpPr txBox="1"/>
            <p:nvPr/>
          </p:nvSpPr>
          <p:spPr>
            <a:xfrm>
              <a:off x="76200" y="18632"/>
              <a:ext cx="660400" cy="713927"/>
            </a:xfrm>
            <a:prstGeom prst="rect">
              <a:avLst/>
            </a:prstGeom>
          </p:spPr>
          <p:txBody>
            <a:bodyPr lIns="65468" tIns="65468" rIns="65468" bIns="65468" rtlCol="0" anchor="ctr"/>
            <a:lstStyle/>
            <a:p>
              <a:pPr marL="0" lvl="0" indent="0" algn="ctr">
                <a:lnSpc>
                  <a:spcPts val="3919"/>
                </a:lnSpc>
              </a:pPr>
              <a:r>
                <a:rPr lang="en-US" sz="2799" b="1">
                  <a:solidFill>
                    <a:srgbClr val="000000"/>
                  </a:solidFill>
                  <a:latin typeface="DM Sans Bold"/>
                  <a:ea typeface="DM Sans Bold"/>
                  <a:cs typeface="DM Sans Bold"/>
                  <a:sym typeface="DM Sans Bold"/>
                </a:rPr>
                <a:t>Day 5</a:t>
              </a:r>
            </a:p>
          </p:txBody>
        </p:sp>
      </p:grpSp>
      <p:grpSp>
        <p:nvGrpSpPr>
          <p:cNvPr id="28" name="Group 28"/>
          <p:cNvGrpSpPr/>
          <p:nvPr/>
        </p:nvGrpSpPr>
        <p:grpSpPr>
          <a:xfrm>
            <a:off x="14969210" y="5122106"/>
            <a:ext cx="1905000" cy="1894550"/>
            <a:chOff x="0" y="0"/>
            <a:chExt cx="812800" cy="808341"/>
          </a:xfrm>
        </p:grpSpPr>
        <p:sp>
          <p:nvSpPr>
            <p:cNvPr id="29" name="Freeform 29"/>
            <p:cNvSpPr/>
            <p:nvPr/>
          </p:nvSpPr>
          <p:spPr>
            <a:xfrm>
              <a:off x="0" y="0"/>
              <a:ext cx="812800" cy="808341"/>
            </a:xfrm>
            <a:custGeom>
              <a:avLst/>
              <a:gdLst/>
              <a:ahLst/>
              <a:cxnLst/>
              <a:rect l="l" t="t" r="r" b="b"/>
              <a:pathLst>
                <a:path w="812800" h="808341">
                  <a:moveTo>
                    <a:pt x="406400" y="0"/>
                  </a:moveTo>
                  <a:cubicBezTo>
                    <a:pt x="181951" y="0"/>
                    <a:pt x="0" y="180953"/>
                    <a:pt x="0" y="404171"/>
                  </a:cubicBezTo>
                  <a:cubicBezTo>
                    <a:pt x="0" y="627388"/>
                    <a:pt x="181951" y="808341"/>
                    <a:pt x="406400" y="808341"/>
                  </a:cubicBezTo>
                  <a:cubicBezTo>
                    <a:pt x="630849" y="808341"/>
                    <a:pt x="812800" y="627388"/>
                    <a:pt x="812800" y="404171"/>
                  </a:cubicBezTo>
                  <a:cubicBezTo>
                    <a:pt x="812800" y="180953"/>
                    <a:pt x="630849" y="0"/>
                    <a:pt x="406400" y="0"/>
                  </a:cubicBezTo>
                  <a:close/>
                </a:path>
              </a:pathLst>
            </a:custGeom>
            <a:solidFill>
              <a:srgbClr val="F2A3D0"/>
            </a:solidFill>
            <a:ln cap="sq">
              <a:noFill/>
              <a:prstDash val="solid"/>
              <a:miter/>
            </a:ln>
          </p:spPr>
        </p:sp>
        <p:sp>
          <p:nvSpPr>
            <p:cNvPr id="30" name="TextBox 30"/>
            <p:cNvSpPr txBox="1"/>
            <p:nvPr/>
          </p:nvSpPr>
          <p:spPr>
            <a:xfrm>
              <a:off x="76200" y="18632"/>
              <a:ext cx="660400" cy="713927"/>
            </a:xfrm>
            <a:prstGeom prst="rect">
              <a:avLst/>
            </a:prstGeom>
          </p:spPr>
          <p:txBody>
            <a:bodyPr lIns="65468" tIns="65468" rIns="65468" bIns="65468" rtlCol="0" anchor="ctr"/>
            <a:lstStyle/>
            <a:p>
              <a:pPr marL="0" lvl="0" indent="0" algn="ctr">
                <a:lnSpc>
                  <a:spcPts val="3919"/>
                </a:lnSpc>
              </a:pPr>
              <a:r>
                <a:rPr lang="en-US" sz="2799" b="1">
                  <a:solidFill>
                    <a:srgbClr val="000000"/>
                  </a:solidFill>
                  <a:latin typeface="DM Sans Bold"/>
                  <a:ea typeface="DM Sans Bold"/>
                  <a:cs typeface="DM Sans Bold"/>
                  <a:sym typeface="DM Sans Bold"/>
                </a:rPr>
                <a:t>Day 7</a:t>
              </a:r>
            </a:p>
          </p:txBody>
        </p:sp>
      </p:grpSp>
      <p:grpSp>
        <p:nvGrpSpPr>
          <p:cNvPr id="31" name="Group 31"/>
          <p:cNvGrpSpPr/>
          <p:nvPr/>
        </p:nvGrpSpPr>
        <p:grpSpPr>
          <a:xfrm rot="-10800000">
            <a:off x="1568759" y="1940577"/>
            <a:ext cx="1546595" cy="126458"/>
            <a:chOff x="0" y="0"/>
            <a:chExt cx="1863865" cy="152400"/>
          </a:xfrm>
        </p:grpSpPr>
        <p:sp>
          <p:nvSpPr>
            <p:cNvPr id="32" name="Freeform 32"/>
            <p:cNvSpPr/>
            <p:nvPr/>
          </p:nvSpPr>
          <p:spPr>
            <a:xfrm>
              <a:off x="0" y="0"/>
              <a:ext cx="1863865" cy="152400"/>
            </a:xfrm>
            <a:custGeom>
              <a:avLst/>
              <a:gdLst/>
              <a:ahLst/>
              <a:cxnLst/>
              <a:rect l="l" t="t" r="r" b="b"/>
              <a:pathLst>
                <a:path w="1863865" h="152400">
                  <a:moveTo>
                    <a:pt x="0" y="0"/>
                  </a:moveTo>
                  <a:lnTo>
                    <a:pt x="1863865" y="0"/>
                  </a:lnTo>
                  <a:lnTo>
                    <a:pt x="1863865" y="152400"/>
                  </a:lnTo>
                  <a:lnTo>
                    <a:pt x="0" y="152400"/>
                  </a:lnTo>
                  <a:close/>
                </a:path>
              </a:pathLst>
            </a:custGeom>
            <a:solidFill>
              <a:srgbClr val="F7DF75"/>
            </a:solidFill>
          </p:spPr>
        </p:sp>
      </p:grpSp>
      <p:sp>
        <p:nvSpPr>
          <p:cNvPr id="33" name="TextBox 33"/>
          <p:cNvSpPr txBox="1"/>
          <p:nvPr/>
        </p:nvSpPr>
        <p:spPr>
          <a:xfrm>
            <a:off x="730662" y="2143235"/>
            <a:ext cx="3222789" cy="932576"/>
          </a:xfrm>
          <a:prstGeom prst="rect">
            <a:avLst/>
          </a:prstGeom>
        </p:spPr>
        <p:txBody>
          <a:bodyPr lIns="0" tIns="0" rIns="0" bIns="0" rtlCol="0" anchor="t">
            <a:spAutoFit/>
          </a:bodyPr>
          <a:lstStyle/>
          <a:p>
            <a:pPr marL="0" lvl="0" indent="0" algn="ctr">
              <a:lnSpc>
                <a:spcPts val="2510"/>
              </a:lnSpc>
            </a:pPr>
            <a:r>
              <a:rPr lang="en-US" sz="1961" b="1">
                <a:solidFill>
                  <a:srgbClr val="000000"/>
                </a:solidFill>
                <a:latin typeface="DM Sans Bold"/>
                <a:ea typeface="DM Sans Bold"/>
                <a:cs typeface="DM Sans Bold"/>
                <a:sym typeface="DM Sans Bold"/>
              </a:rPr>
              <a:t>Project Setup + Data Ingestion</a:t>
            </a:r>
          </a:p>
          <a:p>
            <a:pPr marL="0" lvl="0" indent="0" algn="ctr">
              <a:lnSpc>
                <a:spcPts val="2510"/>
              </a:lnSpc>
            </a:pPr>
            <a:endParaRPr lang="en-US" sz="1961" b="1">
              <a:solidFill>
                <a:srgbClr val="000000"/>
              </a:solidFill>
              <a:latin typeface="DM Sans Bold"/>
              <a:ea typeface="DM Sans Bold"/>
              <a:cs typeface="DM Sans Bold"/>
              <a:sym typeface="DM Sans Bold"/>
            </a:endParaRPr>
          </a:p>
        </p:txBody>
      </p:sp>
      <p:grpSp>
        <p:nvGrpSpPr>
          <p:cNvPr id="34" name="Group 34"/>
          <p:cNvGrpSpPr/>
          <p:nvPr/>
        </p:nvGrpSpPr>
        <p:grpSpPr>
          <a:xfrm>
            <a:off x="5940199" y="5122106"/>
            <a:ext cx="1905000" cy="1894550"/>
            <a:chOff x="0" y="0"/>
            <a:chExt cx="812800" cy="808341"/>
          </a:xfrm>
        </p:grpSpPr>
        <p:sp>
          <p:nvSpPr>
            <p:cNvPr id="35" name="Freeform 35"/>
            <p:cNvSpPr/>
            <p:nvPr/>
          </p:nvSpPr>
          <p:spPr>
            <a:xfrm>
              <a:off x="0" y="0"/>
              <a:ext cx="812800" cy="808341"/>
            </a:xfrm>
            <a:custGeom>
              <a:avLst/>
              <a:gdLst/>
              <a:ahLst/>
              <a:cxnLst/>
              <a:rect l="l" t="t" r="r" b="b"/>
              <a:pathLst>
                <a:path w="812800" h="808341">
                  <a:moveTo>
                    <a:pt x="406400" y="0"/>
                  </a:moveTo>
                  <a:cubicBezTo>
                    <a:pt x="181951" y="0"/>
                    <a:pt x="0" y="180953"/>
                    <a:pt x="0" y="404171"/>
                  </a:cubicBezTo>
                  <a:cubicBezTo>
                    <a:pt x="0" y="627388"/>
                    <a:pt x="181951" y="808341"/>
                    <a:pt x="406400" y="808341"/>
                  </a:cubicBezTo>
                  <a:cubicBezTo>
                    <a:pt x="630849" y="808341"/>
                    <a:pt x="812800" y="627388"/>
                    <a:pt x="812800" y="404171"/>
                  </a:cubicBezTo>
                  <a:cubicBezTo>
                    <a:pt x="812800" y="180953"/>
                    <a:pt x="630849" y="0"/>
                    <a:pt x="406400" y="0"/>
                  </a:cubicBezTo>
                  <a:close/>
                </a:path>
              </a:pathLst>
            </a:custGeom>
            <a:solidFill>
              <a:srgbClr val="8FCEDF"/>
            </a:solidFill>
            <a:ln cap="sq">
              <a:noFill/>
              <a:prstDash val="solid"/>
              <a:miter/>
            </a:ln>
          </p:spPr>
        </p:sp>
        <p:sp>
          <p:nvSpPr>
            <p:cNvPr id="36" name="TextBox 36"/>
            <p:cNvSpPr txBox="1"/>
            <p:nvPr/>
          </p:nvSpPr>
          <p:spPr>
            <a:xfrm>
              <a:off x="76200" y="18632"/>
              <a:ext cx="660400" cy="713927"/>
            </a:xfrm>
            <a:prstGeom prst="rect">
              <a:avLst/>
            </a:prstGeom>
          </p:spPr>
          <p:txBody>
            <a:bodyPr lIns="65468" tIns="65468" rIns="65468" bIns="65468" rtlCol="0" anchor="ctr"/>
            <a:lstStyle/>
            <a:p>
              <a:pPr marL="0" lvl="0" indent="0" algn="ctr">
                <a:lnSpc>
                  <a:spcPts val="3919"/>
                </a:lnSpc>
              </a:pPr>
              <a:r>
                <a:rPr lang="en-US" sz="2799" b="1">
                  <a:solidFill>
                    <a:srgbClr val="000000"/>
                  </a:solidFill>
                  <a:latin typeface="DM Sans Bold"/>
                  <a:ea typeface="DM Sans Bold"/>
                  <a:cs typeface="DM Sans Bold"/>
                  <a:sym typeface="DM Sans Bold"/>
                </a:rPr>
                <a:t>Day 3</a:t>
              </a:r>
            </a:p>
          </p:txBody>
        </p:sp>
      </p:grpSp>
      <p:grpSp>
        <p:nvGrpSpPr>
          <p:cNvPr id="37" name="Group 37"/>
          <p:cNvGrpSpPr/>
          <p:nvPr/>
        </p:nvGrpSpPr>
        <p:grpSpPr>
          <a:xfrm rot="-10800000">
            <a:off x="6119401" y="1940577"/>
            <a:ext cx="1546595" cy="126458"/>
            <a:chOff x="0" y="0"/>
            <a:chExt cx="1863865" cy="152400"/>
          </a:xfrm>
        </p:grpSpPr>
        <p:sp>
          <p:nvSpPr>
            <p:cNvPr id="38" name="Freeform 38"/>
            <p:cNvSpPr/>
            <p:nvPr/>
          </p:nvSpPr>
          <p:spPr>
            <a:xfrm>
              <a:off x="0" y="0"/>
              <a:ext cx="1863865" cy="152400"/>
            </a:xfrm>
            <a:custGeom>
              <a:avLst/>
              <a:gdLst/>
              <a:ahLst/>
              <a:cxnLst/>
              <a:rect l="l" t="t" r="r" b="b"/>
              <a:pathLst>
                <a:path w="1863865" h="152400">
                  <a:moveTo>
                    <a:pt x="0" y="0"/>
                  </a:moveTo>
                  <a:lnTo>
                    <a:pt x="1863865" y="0"/>
                  </a:lnTo>
                  <a:lnTo>
                    <a:pt x="1863865" y="152400"/>
                  </a:lnTo>
                  <a:lnTo>
                    <a:pt x="0" y="152400"/>
                  </a:lnTo>
                  <a:close/>
                </a:path>
              </a:pathLst>
            </a:custGeom>
            <a:solidFill>
              <a:srgbClr val="8FCEDF"/>
            </a:solidFill>
          </p:spPr>
        </p:sp>
      </p:grpSp>
      <p:sp>
        <p:nvSpPr>
          <p:cNvPr id="39" name="TextBox 39"/>
          <p:cNvSpPr txBox="1"/>
          <p:nvPr/>
        </p:nvSpPr>
        <p:spPr>
          <a:xfrm>
            <a:off x="5557937" y="2143235"/>
            <a:ext cx="2669524" cy="618251"/>
          </a:xfrm>
          <a:prstGeom prst="rect">
            <a:avLst/>
          </a:prstGeom>
        </p:spPr>
        <p:txBody>
          <a:bodyPr lIns="0" tIns="0" rIns="0" bIns="0" rtlCol="0" anchor="t">
            <a:spAutoFit/>
          </a:bodyPr>
          <a:lstStyle/>
          <a:p>
            <a:pPr marL="0" lvl="0" indent="0" algn="ctr">
              <a:lnSpc>
                <a:spcPts val="2510"/>
              </a:lnSpc>
            </a:pPr>
            <a:r>
              <a:rPr lang="en-US" sz="1961" b="1">
                <a:solidFill>
                  <a:srgbClr val="000000"/>
                </a:solidFill>
                <a:latin typeface="DM Sans Bold"/>
                <a:ea typeface="DM Sans Bold"/>
                <a:cs typeface="DM Sans Bold"/>
                <a:sym typeface="DM Sans Bold"/>
              </a:rPr>
              <a:t>Exploratory Data Analysis (EDA)</a:t>
            </a:r>
          </a:p>
        </p:txBody>
      </p:sp>
      <p:grpSp>
        <p:nvGrpSpPr>
          <p:cNvPr id="40" name="Group 40"/>
          <p:cNvGrpSpPr/>
          <p:nvPr/>
        </p:nvGrpSpPr>
        <p:grpSpPr>
          <a:xfrm rot="-10800000">
            <a:off x="10625174" y="1940577"/>
            <a:ext cx="1546595" cy="126458"/>
            <a:chOff x="0" y="0"/>
            <a:chExt cx="1863865" cy="152400"/>
          </a:xfrm>
        </p:grpSpPr>
        <p:sp>
          <p:nvSpPr>
            <p:cNvPr id="41" name="Freeform 41"/>
            <p:cNvSpPr/>
            <p:nvPr/>
          </p:nvSpPr>
          <p:spPr>
            <a:xfrm>
              <a:off x="0" y="0"/>
              <a:ext cx="1863865" cy="152400"/>
            </a:xfrm>
            <a:custGeom>
              <a:avLst/>
              <a:gdLst/>
              <a:ahLst/>
              <a:cxnLst/>
              <a:rect l="l" t="t" r="r" b="b"/>
              <a:pathLst>
                <a:path w="1863865" h="152400">
                  <a:moveTo>
                    <a:pt x="0" y="0"/>
                  </a:moveTo>
                  <a:lnTo>
                    <a:pt x="1863865" y="0"/>
                  </a:lnTo>
                  <a:lnTo>
                    <a:pt x="1863865" y="152400"/>
                  </a:lnTo>
                  <a:lnTo>
                    <a:pt x="0" y="152400"/>
                  </a:lnTo>
                  <a:close/>
                </a:path>
              </a:pathLst>
            </a:custGeom>
            <a:solidFill>
              <a:srgbClr val="BABFFF"/>
            </a:solidFill>
          </p:spPr>
        </p:sp>
      </p:grpSp>
      <p:sp>
        <p:nvSpPr>
          <p:cNvPr id="42" name="TextBox 42"/>
          <p:cNvSpPr txBox="1"/>
          <p:nvPr/>
        </p:nvSpPr>
        <p:spPr>
          <a:xfrm>
            <a:off x="10439064" y="2143235"/>
            <a:ext cx="1918817" cy="618251"/>
          </a:xfrm>
          <a:prstGeom prst="rect">
            <a:avLst/>
          </a:prstGeom>
        </p:spPr>
        <p:txBody>
          <a:bodyPr lIns="0" tIns="0" rIns="0" bIns="0" rtlCol="0" anchor="t">
            <a:spAutoFit/>
          </a:bodyPr>
          <a:lstStyle/>
          <a:p>
            <a:pPr marL="0" lvl="0" indent="0" algn="ctr">
              <a:lnSpc>
                <a:spcPts val="2510"/>
              </a:lnSpc>
            </a:pPr>
            <a:r>
              <a:rPr lang="en-US" sz="1961" b="1">
                <a:solidFill>
                  <a:srgbClr val="000000"/>
                </a:solidFill>
                <a:latin typeface="DM Sans Bold"/>
                <a:ea typeface="DM Sans Bold"/>
                <a:cs typeface="DM Sans Bold"/>
                <a:sym typeface="DM Sans Bold"/>
              </a:rPr>
              <a:t>Dashboard Development</a:t>
            </a:r>
          </a:p>
        </p:txBody>
      </p:sp>
      <p:grpSp>
        <p:nvGrpSpPr>
          <p:cNvPr id="43" name="Group 43"/>
          <p:cNvGrpSpPr/>
          <p:nvPr/>
        </p:nvGrpSpPr>
        <p:grpSpPr>
          <a:xfrm rot="-10800000">
            <a:off x="15148413" y="1940577"/>
            <a:ext cx="1546595" cy="126458"/>
            <a:chOff x="0" y="0"/>
            <a:chExt cx="1863865" cy="152400"/>
          </a:xfrm>
        </p:grpSpPr>
        <p:sp>
          <p:nvSpPr>
            <p:cNvPr id="44" name="Freeform 44"/>
            <p:cNvSpPr/>
            <p:nvPr/>
          </p:nvSpPr>
          <p:spPr>
            <a:xfrm>
              <a:off x="0" y="0"/>
              <a:ext cx="1863865" cy="152400"/>
            </a:xfrm>
            <a:custGeom>
              <a:avLst/>
              <a:gdLst/>
              <a:ahLst/>
              <a:cxnLst/>
              <a:rect l="l" t="t" r="r" b="b"/>
              <a:pathLst>
                <a:path w="1863865" h="152400">
                  <a:moveTo>
                    <a:pt x="0" y="0"/>
                  </a:moveTo>
                  <a:lnTo>
                    <a:pt x="1863865" y="0"/>
                  </a:lnTo>
                  <a:lnTo>
                    <a:pt x="1863865" y="152400"/>
                  </a:lnTo>
                  <a:lnTo>
                    <a:pt x="0" y="152400"/>
                  </a:lnTo>
                  <a:close/>
                </a:path>
              </a:pathLst>
            </a:custGeom>
            <a:solidFill>
              <a:srgbClr val="F2A3D0"/>
            </a:solidFill>
          </p:spPr>
        </p:sp>
      </p:grpSp>
      <p:sp>
        <p:nvSpPr>
          <p:cNvPr id="45" name="TextBox 45"/>
          <p:cNvSpPr txBox="1"/>
          <p:nvPr/>
        </p:nvSpPr>
        <p:spPr>
          <a:xfrm>
            <a:off x="14258861" y="2143235"/>
            <a:ext cx="3325698" cy="303926"/>
          </a:xfrm>
          <a:prstGeom prst="rect">
            <a:avLst/>
          </a:prstGeom>
        </p:spPr>
        <p:txBody>
          <a:bodyPr lIns="0" tIns="0" rIns="0" bIns="0" rtlCol="0" anchor="t">
            <a:spAutoFit/>
          </a:bodyPr>
          <a:lstStyle/>
          <a:p>
            <a:pPr marL="0" lvl="0" indent="0" algn="ctr">
              <a:lnSpc>
                <a:spcPts val="2510"/>
              </a:lnSpc>
            </a:pPr>
            <a:r>
              <a:rPr lang="en-US" sz="1961" b="1">
                <a:solidFill>
                  <a:srgbClr val="000000"/>
                </a:solidFill>
                <a:latin typeface="DM Sans Bold"/>
                <a:ea typeface="DM Sans Bold"/>
                <a:cs typeface="DM Sans Bold"/>
                <a:sym typeface="DM Sans Bold"/>
              </a:rPr>
              <a:t>Final Report + Presentation</a:t>
            </a:r>
          </a:p>
        </p:txBody>
      </p:sp>
      <p:sp>
        <p:nvSpPr>
          <p:cNvPr id="46" name="TextBox 46"/>
          <p:cNvSpPr txBox="1"/>
          <p:nvPr/>
        </p:nvSpPr>
        <p:spPr>
          <a:xfrm>
            <a:off x="444941" y="2872883"/>
            <a:ext cx="3794231" cy="1257300"/>
          </a:xfrm>
          <a:prstGeom prst="rect">
            <a:avLst/>
          </a:prstGeom>
        </p:spPr>
        <p:txBody>
          <a:bodyPr lIns="0" tIns="0" rIns="0" bIns="0" rtlCol="0" anchor="t">
            <a:spAutoFit/>
          </a:bodyPr>
          <a:lstStyle/>
          <a:p>
            <a:pPr algn="ctr">
              <a:lnSpc>
                <a:spcPts val="1709"/>
              </a:lnSpc>
              <a:spcBef>
                <a:spcPct val="0"/>
              </a:spcBef>
            </a:pPr>
            <a:r>
              <a:rPr lang="en-US" sz="1425">
                <a:solidFill>
                  <a:srgbClr val="000000"/>
                </a:solidFill>
                <a:latin typeface="DM Sans"/>
                <a:ea typeface="DM Sans"/>
                <a:cs typeface="DM Sans"/>
                <a:sym typeface="DM Sans"/>
              </a:rPr>
              <a:t>Collected mutual fund data from mfapi.in and multiple CSV sources, including NAV history, AUM, SIP inflows, investor transactions, and benchmark data. Performed initial data validation and established the project structure for downstream analytics.</a:t>
            </a:r>
          </a:p>
        </p:txBody>
      </p:sp>
      <p:sp>
        <p:nvSpPr>
          <p:cNvPr id="47" name="TextBox 47"/>
          <p:cNvSpPr txBox="1"/>
          <p:nvPr/>
        </p:nvSpPr>
        <p:spPr>
          <a:xfrm>
            <a:off x="4995584" y="2893494"/>
            <a:ext cx="3794231" cy="838200"/>
          </a:xfrm>
          <a:prstGeom prst="rect">
            <a:avLst/>
          </a:prstGeom>
        </p:spPr>
        <p:txBody>
          <a:bodyPr lIns="0" tIns="0" rIns="0" bIns="0" rtlCol="0" anchor="t">
            <a:spAutoFit/>
          </a:bodyPr>
          <a:lstStyle/>
          <a:p>
            <a:pPr algn="ctr">
              <a:lnSpc>
                <a:spcPts val="1709"/>
              </a:lnSpc>
              <a:spcBef>
                <a:spcPct val="0"/>
              </a:spcBef>
            </a:pPr>
            <a:r>
              <a:rPr lang="en-US" sz="1425">
                <a:solidFill>
                  <a:srgbClr val="000000"/>
                </a:solidFill>
                <a:latin typeface="DM Sans"/>
                <a:ea typeface="DM Sans"/>
                <a:cs typeface="DM Sans"/>
                <a:sym typeface="DM Sans"/>
              </a:rPr>
              <a:t>Created 17+ visualizations to analyze fund performance, investor behavior, industry growth, and market trends. Generated key insights using Matplotlib, Seaborn, and Plotly.</a:t>
            </a:r>
          </a:p>
        </p:txBody>
      </p:sp>
      <p:sp>
        <p:nvSpPr>
          <p:cNvPr id="48" name="TextBox 48"/>
          <p:cNvSpPr txBox="1"/>
          <p:nvPr/>
        </p:nvSpPr>
        <p:spPr>
          <a:xfrm>
            <a:off x="9501357" y="2893494"/>
            <a:ext cx="3794231" cy="838200"/>
          </a:xfrm>
          <a:prstGeom prst="rect">
            <a:avLst/>
          </a:prstGeom>
        </p:spPr>
        <p:txBody>
          <a:bodyPr lIns="0" tIns="0" rIns="0" bIns="0" rtlCol="0" anchor="t">
            <a:spAutoFit/>
          </a:bodyPr>
          <a:lstStyle/>
          <a:p>
            <a:pPr algn="ctr">
              <a:lnSpc>
                <a:spcPts val="1709"/>
              </a:lnSpc>
              <a:spcBef>
                <a:spcPct val="0"/>
              </a:spcBef>
            </a:pPr>
            <a:r>
              <a:rPr lang="en-US" sz="1425">
                <a:solidFill>
                  <a:srgbClr val="000000"/>
                </a:solidFill>
                <a:latin typeface="DM Sans"/>
                <a:ea typeface="DM Sans"/>
                <a:cs typeface="DM Sans"/>
                <a:sym typeface="DM Sans"/>
              </a:rPr>
              <a:t>Built a multi-page Streamlit dashboard with interactive charts, KPI cards, rankings, and filters. Enabled users to explore performance, risk, and industry analytics dynamically.</a:t>
            </a:r>
          </a:p>
        </p:txBody>
      </p:sp>
      <p:sp>
        <p:nvSpPr>
          <p:cNvPr id="49" name="TextBox 49"/>
          <p:cNvSpPr txBox="1"/>
          <p:nvPr/>
        </p:nvSpPr>
        <p:spPr>
          <a:xfrm>
            <a:off x="14525517" y="2579169"/>
            <a:ext cx="2792387" cy="1466850"/>
          </a:xfrm>
          <a:prstGeom prst="rect">
            <a:avLst/>
          </a:prstGeom>
        </p:spPr>
        <p:txBody>
          <a:bodyPr lIns="0" tIns="0" rIns="0" bIns="0" rtlCol="0" anchor="t">
            <a:spAutoFit/>
          </a:bodyPr>
          <a:lstStyle/>
          <a:p>
            <a:pPr algn="ctr">
              <a:lnSpc>
                <a:spcPts val="1709"/>
              </a:lnSpc>
              <a:spcBef>
                <a:spcPct val="0"/>
              </a:spcBef>
            </a:pPr>
            <a:r>
              <a:rPr lang="en-US" sz="1425">
                <a:solidFill>
                  <a:srgbClr val="000000"/>
                </a:solidFill>
                <a:latin typeface="DM Sans"/>
                <a:ea typeface="DM Sans"/>
                <a:cs typeface="DM Sans"/>
                <a:sym typeface="DM Sans"/>
              </a:rPr>
              <a:t>Compiled all findings into a detailed PDF report and a professional presentation deck. Finalized documentation, code repository, and deployment-ready deliverables for project submission.</a:t>
            </a:r>
          </a:p>
        </p:txBody>
      </p:sp>
      <p:grpSp>
        <p:nvGrpSpPr>
          <p:cNvPr id="50" name="Group 50"/>
          <p:cNvGrpSpPr/>
          <p:nvPr/>
        </p:nvGrpSpPr>
        <p:grpSpPr>
          <a:xfrm>
            <a:off x="12769455" y="3863703"/>
            <a:ext cx="1905000" cy="1894550"/>
            <a:chOff x="0" y="0"/>
            <a:chExt cx="812800" cy="808341"/>
          </a:xfrm>
        </p:grpSpPr>
        <p:sp>
          <p:nvSpPr>
            <p:cNvPr id="51" name="Freeform 51"/>
            <p:cNvSpPr/>
            <p:nvPr/>
          </p:nvSpPr>
          <p:spPr>
            <a:xfrm>
              <a:off x="0" y="0"/>
              <a:ext cx="812800" cy="808341"/>
            </a:xfrm>
            <a:custGeom>
              <a:avLst/>
              <a:gdLst/>
              <a:ahLst/>
              <a:cxnLst/>
              <a:rect l="l" t="t" r="r" b="b"/>
              <a:pathLst>
                <a:path w="812800" h="808341">
                  <a:moveTo>
                    <a:pt x="406400" y="0"/>
                  </a:moveTo>
                  <a:cubicBezTo>
                    <a:pt x="181951" y="0"/>
                    <a:pt x="0" y="180953"/>
                    <a:pt x="0" y="404171"/>
                  </a:cubicBezTo>
                  <a:cubicBezTo>
                    <a:pt x="0" y="627388"/>
                    <a:pt x="181951" y="808341"/>
                    <a:pt x="406400" y="808341"/>
                  </a:cubicBezTo>
                  <a:cubicBezTo>
                    <a:pt x="630849" y="808341"/>
                    <a:pt x="812800" y="627388"/>
                    <a:pt x="812800" y="404171"/>
                  </a:cubicBezTo>
                  <a:cubicBezTo>
                    <a:pt x="812800" y="180953"/>
                    <a:pt x="630849" y="0"/>
                    <a:pt x="406400" y="0"/>
                  </a:cubicBezTo>
                  <a:close/>
                </a:path>
              </a:pathLst>
            </a:custGeom>
            <a:solidFill>
              <a:srgbClr val="E5B8FD"/>
            </a:solidFill>
            <a:ln cap="sq">
              <a:noFill/>
              <a:prstDash val="solid"/>
              <a:miter/>
            </a:ln>
          </p:spPr>
        </p:sp>
        <p:sp>
          <p:nvSpPr>
            <p:cNvPr id="52" name="TextBox 52"/>
            <p:cNvSpPr txBox="1"/>
            <p:nvPr/>
          </p:nvSpPr>
          <p:spPr>
            <a:xfrm>
              <a:off x="76200" y="18632"/>
              <a:ext cx="660400" cy="713927"/>
            </a:xfrm>
            <a:prstGeom prst="rect">
              <a:avLst/>
            </a:prstGeom>
          </p:spPr>
          <p:txBody>
            <a:bodyPr lIns="65468" tIns="65468" rIns="65468" bIns="65468" rtlCol="0" anchor="ctr"/>
            <a:lstStyle/>
            <a:p>
              <a:pPr marL="0" lvl="0" indent="0" algn="ctr">
                <a:lnSpc>
                  <a:spcPts val="3919"/>
                </a:lnSpc>
              </a:pPr>
              <a:r>
                <a:rPr lang="en-US" sz="2799" b="1">
                  <a:solidFill>
                    <a:srgbClr val="000000"/>
                  </a:solidFill>
                  <a:latin typeface="DM Sans Bold"/>
                  <a:ea typeface="DM Sans Bold"/>
                  <a:cs typeface="DM Sans Bold"/>
                  <a:sym typeface="DM Sans Bold"/>
                </a:rPr>
                <a:t>Day 6</a:t>
              </a:r>
            </a:p>
          </p:txBody>
        </p:sp>
      </p:grpSp>
      <p:grpSp>
        <p:nvGrpSpPr>
          <p:cNvPr id="53" name="Group 53"/>
          <p:cNvGrpSpPr/>
          <p:nvPr/>
        </p:nvGrpSpPr>
        <p:grpSpPr>
          <a:xfrm rot="-10800000">
            <a:off x="12948657" y="6638129"/>
            <a:ext cx="1546595" cy="126458"/>
            <a:chOff x="0" y="0"/>
            <a:chExt cx="1863865" cy="152400"/>
          </a:xfrm>
        </p:grpSpPr>
        <p:sp>
          <p:nvSpPr>
            <p:cNvPr id="54" name="Freeform 54"/>
            <p:cNvSpPr/>
            <p:nvPr/>
          </p:nvSpPr>
          <p:spPr>
            <a:xfrm>
              <a:off x="0" y="0"/>
              <a:ext cx="1863865" cy="152400"/>
            </a:xfrm>
            <a:custGeom>
              <a:avLst/>
              <a:gdLst/>
              <a:ahLst/>
              <a:cxnLst/>
              <a:rect l="l" t="t" r="r" b="b"/>
              <a:pathLst>
                <a:path w="1863865" h="152400">
                  <a:moveTo>
                    <a:pt x="0" y="0"/>
                  </a:moveTo>
                  <a:lnTo>
                    <a:pt x="1863865" y="0"/>
                  </a:lnTo>
                  <a:lnTo>
                    <a:pt x="1863865" y="152400"/>
                  </a:lnTo>
                  <a:lnTo>
                    <a:pt x="0" y="152400"/>
                  </a:lnTo>
                  <a:close/>
                </a:path>
              </a:pathLst>
            </a:custGeom>
            <a:solidFill>
              <a:srgbClr val="E5B8FD"/>
            </a:solidFill>
          </p:spPr>
        </p:sp>
      </p:grpSp>
      <p:sp>
        <p:nvSpPr>
          <p:cNvPr id="55" name="TextBox 55"/>
          <p:cNvSpPr txBox="1"/>
          <p:nvPr/>
        </p:nvSpPr>
        <p:spPr>
          <a:xfrm>
            <a:off x="12425122" y="7007131"/>
            <a:ext cx="2593665" cy="618251"/>
          </a:xfrm>
          <a:prstGeom prst="rect">
            <a:avLst/>
          </a:prstGeom>
        </p:spPr>
        <p:txBody>
          <a:bodyPr lIns="0" tIns="0" rIns="0" bIns="0" rtlCol="0" anchor="t">
            <a:spAutoFit/>
          </a:bodyPr>
          <a:lstStyle/>
          <a:p>
            <a:pPr marL="0" lvl="0" indent="0" algn="ctr">
              <a:lnSpc>
                <a:spcPts val="2510"/>
              </a:lnSpc>
            </a:pPr>
            <a:r>
              <a:rPr lang="en-US" sz="1961" b="1">
                <a:solidFill>
                  <a:srgbClr val="000000"/>
                </a:solidFill>
                <a:latin typeface="DM Sans Bold"/>
                <a:ea typeface="DM Sans Bold"/>
                <a:cs typeface="DM Sans Bold"/>
                <a:sym typeface="DM Sans Bold"/>
              </a:rPr>
              <a:t>Advanced Analytics + Risk Metrics</a:t>
            </a:r>
          </a:p>
        </p:txBody>
      </p:sp>
      <p:sp>
        <p:nvSpPr>
          <p:cNvPr id="56" name="TextBox 56"/>
          <p:cNvSpPr txBox="1"/>
          <p:nvPr/>
        </p:nvSpPr>
        <p:spPr>
          <a:xfrm>
            <a:off x="11824839" y="7767658"/>
            <a:ext cx="3794231" cy="1257300"/>
          </a:xfrm>
          <a:prstGeom prst="rect">
            <a:avLst/>
          </a:prstGeom>
        </p:spPr>
        <p:txBody>
          <a:bodyPr lIns="0" tIns="0" rIns="0" bIns="0" rtlCol="0" anchor="t">
            <a:spAutoFit/>
          </a:bodyPr>
          <a:lstStyle/>
          <a:p>
            <a:pPr algn="ctr">
              <a:lnSpc>
                <a:spcPts val="1709"/>
              </a:lnSpc>
              <a:spcBef>
                <a:spcPct val="0"/>
              </a:spcBef>
            </a:pPr>
            <a:r>
              <a:rPr lang="en-US" sz="1425">
                <a:solidFill>
                  <a:srgbClr val="000000"/>
                </a:solidFill>
                <a:latin typeface="DM Sans"/>
                <a:ea typeface="DM Sans"/>
                <a:cs typeface="DM Sans"/>
                <a:sym typeface="DM Sans"/>
              </a:rPr>
              <a:t>Implemented Monte Carlo simulations, portfolio optimization, Efficient Frontier analysis, cohort analysis, and sector concentration (HHI) metrics. These models provided deeper insights into future returns, portfolio risk, and diversification.</a:t>
            </a:r>
          </a:p>
        </p:txBody>
      </p:sp>
      <p:grpSp>
        <p:nvGrpSpPr>
          <p:cNvPr id="57" name="Group 57"/>
          <p:cNvGrpSpPr/>
          <p:nvPr/>
        </p:nvGrpSpPr>
        <p:grpSpPr>
          <a:xfrm>
            <a:off x="8239479" y="3863703"/>
            <a:ext cx="1905000" cy="1894550"/>
            <a:chOff x="0" y="0"/>
            <a:chExt cx="812800" cy="808341"/>
          </a:xfrm>
        </p:grpSpPr>
        <p:sp>
          <p:nvSpPr>
            <p:cNvPr id="58" name="Freeform 58"/>
            <p:cNvSpPr/>
            <p:nvPr/>
          </p:nvSpPr>
          <p:spPr>
            <a:xfrm>
              <a:off x="0" y="0"/>
              <a:ext cx="812800" cy="808341"/>
            </a:xfrm>
            <a:custGeom>
              <a:avLst/>
              <a:gdLst/>
              <a:ahLst/>
              <a:cxnLst/>
              <a:rect l="l" t="t" r="r" b="b"/>
              <a:pathLst>
                <a:path w="812800" h="808341">
                  <a:moveTo>
                    <a:pt x="406400" y="0"/>
                  </a:moveTo>
                  <a:cubicBezTo>
                    <a:pt x="181951" y="0"/>
                    <a:pt x="0" y="180953"/>
                    <a:pt x="0" y="404171"/>
                  </a:cubicBezTo>
                  <a:cubicBezTo>
                    <a:pt x="0" y="627388"/>
                    <a:pt x="181951" y="808341"/>
                    <a:pt x="406400" y="808341"/>
                  </a:cubicBezTo>
                  <a:cubicBezTo>
                    <a:pt x="630849" y="808341"/>
                    <a:pt x="812800" y="627388"/>
                    <a:pt x="812800" y="404171"/>
                  </a:cubicBezTo>
                  <a:cubicBezTo>
                    <a:pt x="812800" y="180953"/>
                    <a:pt x="630849" y="0"/>
                    <a:pt x="406400" y="0"/>
                  </a:cubicBezTo>
                  <a:close/>
                </a:path>
              </a:pathLst>
            </a:custGeom>
            <a:solidFill>
              <a:srgbClr val="87CDFE"/>
            </a:solidFill>
            <a:ln cap="sq">
              <a:noFill/>
              <a:prstDash val="solid"/>
              <a:miter/>
            </a:ln>
          </p:spPr>
        </p:sp>
        <p:sp>
          <p:nvSpPr>
            <p:cNvPr id="59" name="TextBox 59"/>
            <p:cNvSpPr txBox="1"/>
            <p:nvPr/>
          </p:nvSpPr>
          <p:spPr>
            <a:xfrm>
              <a:off x="76200" y="18632"/>
              <a:ext cx="660400" cy="713927"/>
            </a:xfrm>
            <a:prstGeom prst="rect">
              <a:avLst/>
            </a:prstGeom>
          </p:spPr>
          <p:txBody>
            <a:bodyPr lIns="65468" tIns="65468" rIns="65468" bIns="65468" rtlCol="0" anchor="ctr"/>
            <a:lstStyle/>
            <a:p>
              <a:pPr marL="0" lvl="0" indent="0" algn="ctr">
                <a:lnSpc>
                  <a:spcPts val="3919"/>
                </a:lnSpc>
              </a:pPr>
              <a:r>
                <a:rPr lang="en-US" sz="2799" b="1">
                  <a:solidFill>
                    <a:srgbClr val="000000"/>
                  </a:solidFill>
                  <a:latin typeface="DM Sans Bold"/>
                  <a:ea typeface="DM Sans Bold"/>
                  <a:cs typeface="DM Sans Bold"/>
                  <a:sym typeface="DM Sans Bold"/>
                </a:rPr>
                <a:t>Day 4</a:t>
              </a:r>
            </a:p>
          </p:txBody>
        </p:sp>
      </p:grpSp>
      <p:grpSp>
        <p:nvGrpSpPr>
          <p:cNvPr id="60" name="Group 60"/>
          <p:cNvGrpSpPr/>
          <p:nvPr/>
        </p:nvGrpSpPr>
        <p:grpSpPr>
          <a:xfrm rot="-10800000">
            <a:off x="8418681" y="6638129"/>
            <a:ext cx="1546595" cy="126458"/>
            <a:chOff x="0" y="0"/>
            <a:chExt cx="1863865" cy="152400"/>
          </a:xfrm>
        </p:grpSpPr>
        <p:sp>
          <p:nvSpPr>
            <p:cNvPr id="61" name="Freeform 61"/>
            <p:cNvSpPr/>
            <p:nvPr/>
          </p:nvSpPr>
          <p:spPr>
            <a:xfrm>
              <a:off x="0" y="0"/>
              <a:ext cx="1863865" cy="152400"/>
            </a:xfrm>
            <a:custGeom>
              <a:avLst/>
              <a:gdLst/>
              <a:ahLst/>
              <a:cxnLst/>
              <a:rect l="l" t="t" r="r" b="b"/>
              <a:pathLst>
                <a:path w="1863865" h="152400">
                  <a:moveTo>
                    <a:pt x="0" y="0"/>
                  </a:moveTo>
                  <a:lnTo>
                    <a:pt x="1863865" y="0"/>
                  </a:lnTo>
                  <a:lnTo>
                    <a:pt x="1863865" y="152400"/>
                  </a:lnTo>
                  <a:lnTo>
                    <a:pt x="0" y="152400"/>
                  </a:lnTo>
                  <a:close/>
                </a:path>
              </a:pathLst>
            </a:custGeom>
            <a:solidFill>
              <a:srgbClr val="87CDFE"/>
            </a:solidFill>
          </p:spPr>
        </p:sp>
      </p:grpSp>
      <p:sp>
        <p:nvSpPr>
          <p:cNvPr id="62" name="TextBox 62"/>
          <p:cNvSpPr txBox="1"/>
          <p:nvPr/>
        </p:nvSpPr>
        <p:spPr>
          <a:xfrm>
            <a:off x="7579038" y="7007131"/>
            <a:ext cx="3225882" cy="618251"/>
          </a:xfrm>
          <a:prstGeom prst="rect">
            <a:avLst/>
          </a:prstGeom>
        </p:spPr>
        <p:txBody>
          <a:bodyPr lIns="0" tIns="0" rIns="0" bIns="0" rtlCol="0" anchor="t">
            <a:spAutoFit/>
          </a:bodyPr>
          <a:lstStyle/>
          <a:p>
            <a:pPr marL="0" lvl="0" indent="0" algn="ctr">
              <a:lnSpc>
                <a:spcPts val="2510"/>
              </a:lnSpc>
            </a:pPr>
            <a:r>
              <a:rPr lang="en-US" sz="1961" b="1">
                <a:solidFill>
                  <a:srgbClr val="000000"/>
                </a:solidFill>
                <a:latin typeface="DM Sans Bold"/>
                <a:ea typeface="DM Sans Bold"/>
                <a:cs typeface="DM Sans Bold"/>
                <a:sym typeface="DM Sans Bold"/>
              </a:rPr>
              <a:t>Fund Performance Analytics</a:t>
            </a:r>
          </a:p>
        </p:txBody>
      </p:sp>
      <p:sp>
        <p:nvSpPr>
          <p:cNvPr id="63" name="TextBox 63"/>
          <p:cNvSpPr txBox="1"/>
          <p:nvPr/>
        </p:nvSpPr>
        <p:spPr>
          <a:xfrm>
            <a:off x="7294863" y="7767658"/>
            <a:ext cx="3794231" cy="1047750"/>
          </a:xfrm>
          <a:prstGeom prst="rect">
            <a:avLst/>
          </a:prstGeom>
        </p:spPr>
        <p:txBody>
          <a:bodyPr lIns="0" tIns="0" rIns="0" bIns="0" rtlCol="0" anchor="t">
            <a:spAutoFit/>
          </a:bodyPr>
          <a:lstStyle/>
          <a:p>
            <a:pPr algn="ctr">
              <a:lnSpc>
                <a:spcPts val="1709"/>
              </a:lnSpc>
              <a:spcBef>
                <a:spcPct val="0"/>
              </a:spcBef>
            </a:pPr>
            <a:r>
              <a:rPr lang="en-US" sz="1425">
                <a:solidFill>
                  <a:srgbClr val="000000"/>
                </a:solidFill>
                <a:latin typeface="DM Sans"/>
                <a:ea typeface="DM Sans"/>
                <a:cs typeface="DM Sans"/>
                <a:sym typeface="DM Sans"/>
              </a:rPr>
              <a:t>Calculated performance and risk metrics such as CAGR, Sharpe Ratio, Sortino Ratio, Alpha, Beta, VaR, and Maximum Drawdown. Developed a fund ranking scorecard for objective scheme comparison.</a:t>
            </a:r>
          </a:p>
        </p:txBody>
      </p:sp>
      <p:grpSp>
        <p:nvGrpSpPr>
          <p:cNvPr id="64" name="Group 64"/>
          <p:cNvGrpSpPr/>
          <p:nvPr/>
        </p:nvGrpSpPr>
        <p:grpSpPr>
          <a:xfrm>
            <a:off x="3691443" y="3863703"/>
            <a:ext cx="1905000" cy="1894550"/>
            <a:chOff x="0" y="0"/>
            <a:chExt cx="812800" cy="808341"/>
          </a:xfrm>
        </p:grpSpPr>
        <p:sp>
          <p:nvSpPr>
            <p:cNvPr id="65" name="Freeform 65"/>
            <p:cNvSpPr/>
            <p:nvPr/>
          </p:nvSpPr>
          <p:spPr>
            <a:xfrm>
              <a:off x="0" y="0"/>
              <a:ext cx="812800" cy="808341"/>
            </a:xfrm>
            <a:custGeom>
              <a:avLst/>
              <a:gdLst/>
              <a:ahLst/>
              <a:cxnLst/>
              <a:rect l="l" t="t" r="r" b="b"/>
              <a:pathLst>
                <a:path w="812800" h="808341">
                  <a:moveTo>
                    <a:pt x="406400" y="0"/>
                  </a:moveTo>
                  <a:cubicBezTo>
                    <a:pt x="181951" y="0"/>
                    <a:pt x="0" y="180953"/>
                    <a:pt x="0" y="404171"/>
                  </a:cubicBezTo>
                  <a:cubicBezTo>
                    <a:pt x="0" y="627388"/>
                    <a:pt x="181951" y="808341"/>
                    <a:pt x="406400" y="808341"/>
                  </a:cubicBezTo>
                  <a:cubicBezTo>
                    <a:pt x="630849" y="808341"/>
                    <a:pt x="812800" y="627388"/>
                    <a:pt x="812800" y="404171"/>
                  </a:cubicBezTo>
                  <a:cubicBezTo>
                    <a:pt x="812800" y="180953"/>
                    <a:pt x="630849" y="0"/>
                    <a:pt x="406400" y="0"/>
                  </a:cubicBezTo>
                  <a:close/>
                </a:path>
              </a:pathLst>
            </a:custGeom>
            <a:solidFill>
              <a:srgbClr val="7AE09D"/>
            </a:solidFill>
            <a:ln cap="sq">
              <a:noFill/>
              <a:prstDash val="solid"/>
              <a:miter/>
            </a:ln>
          </p:spPr>
        </p:sp>
        <p:sp>
          <p:nvSpPr>
            <p:cNvPr id="66" name="TextBox 66"/>
            <p:cNvSpPr txBox="1"/>
            <p:nvPr/>
          </p:nvSpPr>
          <p:spPr>
            <a:xfrm>
              <a:off x="76200" y="18632"/>
              <a:ext cx="660400" cy="713927"/>
            </a:xfrm>
            <a:prstGeom prst="rect">
              <a:avLst/>
            </a:prstGeom>
          </p:spPr>
          <p:txBody>
            <a:bodyPr lIns="65468" tIns="65468" rIns="65468" bIns="65468" rtlCol="0" anchor="ctr"/>
            <a:lstStyle/>
            <a:p>
              <a:pPr marL="0" lvl="0" indent="0" algn="ctr">
                <a:lnSpc>
                  <a:spcPts val="3920"/>
                </a:lnSpc>
              </a:pPr>
              <a:r>
                <a:rPr lang="en-US" sz="2800" b="1">
                  <a:solidFill>
                    <a:srgbClr val="000000"/>
                  </a:solidFill>
                  <a:latin typeface="DM Sans Bold"/>
                  <a:ea typeface="DM Sans Bold"/>
                  <a:cs typeface="DM Sans Bold"/>
                  <a:sym typeface="DM Sans Bold"/>
                </a:rPr>
                <a:t>Day 2</a:t>
              </a:r>
            </a:p>
          </p:txBody>
        </p:sp>
      </p:grpSp>
      <p:grpSp>
        <p:nvGrpSpPr>
          <p:cNvPr id="67" name="Group 67"/>
          <p:cNvGrpSpPr/>
          <p:nvPr/>
        </p:nvGrpSpPr>
        <p:grpSpPr>
          <a:xfrm rot="-10800000">
            <a:off x="3870645" y="6638129"/>
            <a:ext cx="1546595" cy="126458"/>
            <a:chOff x="0" y="0"/>
            <a:chExt cx="1863865" cy="152400"/>
          </a:xfrm>
        </p:grpSpPr>
        <p:sp>
          <p:nvSpPr>
            <p:cNvPr id="68" name="Freeform 68"/>
            <p:cNvSpPr/>
            <p:nvPr/>
          </p:nvSpPr>
          <p:spPr>
            <a:xfrm>
              <a:off x="0" y="0"/>
              <a:ext cx="1863865" cy="152400"/>
            </a:xfrm>
            <a:custGeom>
              <a:avLst/>
              <a:gdLst/>
              <a:ahLst/>
              <a:cxnLst/>
              <a:rect l="l" t="t" r="r" b="b"/>
              <a:pathLst>
                <a:path w="1863865" h="152400">
                  <a:moveTo>
                    <a:pt x="0" y="0"/>
                  </a:moveTo>
                  <a:lnTo>
                    <a:pt x="1863865" y="0"/>
                  </a:lnTo>
                  <a:lnTo>
                    <a:pt x="1863865" y="152400"/>
                  </a:lnTo>
                  <a:lnTo>
                    <a:pt x="0" y="152400"/>
                  </a:lnTo>
                  <a:close/>
                </a:path>
              </a:pathLst>
            </a:custGeom>
            <a:solidFill>
              <a:srgbClr val="7AE09D"/>
            </a:solidFill>
          </p:spPr>
        </p:sp>
      </p:grpSp>
      <p:sp>
        <p:nvSpPr>
          <p:cNvPr id="69" name="TextBox 69"/>
          <p:cNvSpPr txBox="1"/>
          <p:nvPr/>
        </p:nvSpPr>
        <p:spPr>
          <a:xfrm>
            <a:off x="3267494" y="7007131"/>
            <a:ext cx="2752898" cy="618251"/>
          </a:xfrm>
          <a:prstGeom prst="rect">
            <a:avLst/>
          </a:prstGeom>
        </p:spPr>
        <p:txBody>
          <a:bodyPr lIns="0" tIns="0" rIns="0" bIns="0" rtlCol="0" anchor="t">
            <a:spAutoFit/>
          </a:bodyPr>
          <a:lstStyle/>
          <a:p>
            <a:pPr marL="0" lvl="0" indent="0" algn="ctr">
              <a:lnSpc>
                <a:spcPts val="2510"/>
              </a:lnSpc>
            </a:pPr>
            <a:r>
              <a:rPr lang="en-US" sz="1961" b="1">
                <a:solidFill>
                  <a:srgbClr val="000000"/>
                </a:solidFill>
                <a:latin typeface="DM Sans Bold"/>
                <a:ea typeface="DM Sans Bold"/>
                <a:cs typeface="DM Sans Bold"/>
                <a:sym typeface="DM Sans Bold"/>
              </a:rPr>
              <a:t>Data Cleaning + SQL Database Design</a:t>
            </a:r>
          </a:p>
        </p:txBody>
      </p:sp>
      <p:sp>
        <p:nvSpPr>
          <p:cNvPr id="70" name="TextBox 70"/>
          <p:cNvSpPr txBox="1"/>
          <p:nvPr/>
        </p:nvSpPr>
        <p:spPr>
          <a:xfrm>
            <a:off x="2746828" y="7767658"/>
            <a:ext cx="3794231" cy="1047750"/>
          </a:xfrm>
          <a:prstGeom prst="rect">
            <a:avLst/>
          </a:prstGeom>
        </p:spPr>
        <p:txBody>
          <a:bodyPr lIns="0" tIns="0" rIns="0" bIns="0" rtlCol="0" anchor="t">
            <a:spAutoFit/>
          </a:bodyPr>
          <a:lstStyle/>
          <a:p>
            <a:pPr algn="ctr">
              <a:lnSpc>
                <a:spcPts val="1709"/>
              </a:lnSpc>
              <a:spcBef>
                <a:spcPct val="0"/>
              </a:spcBef>
            </a:pPr>
            <a:r>
              <a:rPr lang="en-US" sz="1425">
                <a:solidFill>
                  <a:srgbClr val="000000"/>
                </a:solidFill>
                <a:latin typeface="DM Sans"/>
                <a:ea typeface="DM Sans"/>
                <a:cs typeface="DM Sans"/>
                <a:sym typeface="DM Sans"/>
              </a:rPr>
              <a:t>Cleaned and standardized all datasets by handling missing values, correcting inconsistencies, and ensuring data quality. Designed a SQLite database to store and manage the processed data efficiently.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527810"/>
            <a:chOff x="0" y="0"/>
            <a:chExt cx="24403304" cy="2037080"/>
          </a:xfrm>
        </p:grpSpPr>
        <p:sp>
          <p:nvSpPr>
            <p:cNvPr id="3" name="Freeform 3"/>
            <p:cNvSpPr/>
            <p:nvPr/>
          </p:nvSpPr>
          <p:spPr>
            <a:xfrm>
              <a:off x="0" y="0"/>
              <a:ext cx="24403304" cy="2037080"/>
            </a:xfrm>
            <a:custGeom>
              <a:avLst/>
              <a:gdLst/>
              <a:ahLst/>
              <a:cxnLst/>
              <a:rect l="l" t="t" r="r" b="b"/>
              <a:pathLst>
                <a:path w="24403304" h="2037080">
                  <a:moveTo>
                    <a:pt x="0" y="0"/>
                  </a:moveTo>
                  <a:lnTo>
                    <a:pt x="24403304" y="0"/>
                  </a:lnTo>
                  <a:lnTo>
                    <a:pt x="24403304" y="2037080"/>
                  </a:lnTo>
                  <a:lnTo>
                    <a:pt x="0" y="2037080"/>
                  </a:lnTo>
                  <a:close/>
                </a:path>
              </a:pathLst>
            </a:custGeom>
            <a:solidFill>
              <a:srgbClr val="132338"/>
            </a:solidFill>
            <a:ln w="19050" cap="sq">
              <a:solidFill>
                <a:srgbClr val="0D1B2A"/>
              </a:solidFill>
              <a:prstDash val="solid"/>
              <a:miter/>
            </a:ln>
          </p:spPr>
        </p:sp>
      </p:grpSp>
      <p:grpSp>
        <p:nvGrpSpPr>
          <p:cNvPr id="4" name="Group 4"/>
          <p:cNvGrpSpPr/>
          <p:nvPr/>
        </p:nvGrpSpPr>
        <p:grpSpPr>
          <a:xfrm>
            <a:off x="548640" y="137160"/>
            <a:ext cx="16911828" cy="822960"/>
            <a:chOff x="0" y="0"/>
            <a:chExt cx="22549104" cy="1097280"/>
          </a:xfrm>
        </p:grpSpPr>
        <p:sp>
          <p:nvSpPr>
            <p:cNvPr id="5" name="Freeform 5"/>
            <p:cNvSpPr/>
            <p:nvPr/>
          </p:nvSpPr>
          <p:spPr>
            <a:xfrm>
              <a:off x="0" y="0"/>
              <a:ext cx="22549104" cy="1097280"/>
            </a:xfrm>
            <a:custGeom>
              <a:avLst/>
              <a:gdLst/>
              <a:ahLst/>
              <a:cxnLst/>
              <a:rect l="l" t="t" r="r" b="b"/>
              <a:pathLst>
                <a:path w="22549104" h="1097280">
                  <a:moveTo>
                    <a:pt x="0" y="0"/>
                  </a:moveTo>
                  <a:lnTo>
                    <a:pt x="22549104" y="0"/>
                  </a:lnTo>
                  <a:lnTo>
                    <a:pt x="22549104" y="1097280"/>
                  </a:lnTo>
                  <a:lnTo>
                    <a:pt x="0" y="1097280"/>
                  </a:lnTo>
                  <a:close/>
                </a:path>
              </a:pathLst>
            </a:custGeom>
            <a:blipFill>
              <a:blip r:embed="rId3">
                <a:alphaModFix amt="0"/>
              </a:blip>
              <a:stretch>
                <a:fillRect t="-350417" b="-350417"/>
              </a:stretch>
            </a:blipFill>
          </p:spPr>
        </p:sp>
        <p:sp>
          <p:nvSpPr>
            <p:cNvPr id="6" name="TextBox 6"/>
            <p:cNvSpPr txBox="1"/>
            <p:nvPr/>
          </p:nvSpPr>
          <p:spPr>
            <a:xfrm>
              <a:off x="0" y="0"/>
              <a:ext cx="22549104" cy="1097280"/>
            </a:xfrm>
            <a:prstGeom prst="rect">
              <a:avLst/>
            </a:prstGeom>
          </p:spPr>
          <p:txBody>
            <a:bodyPr lIns="0" tIns="0" rIns="0" bIns="0" rtlCol="0" anchor="ctr"/>
            <a:lstStyle/>
            <a:p>
              <a:pPr algn="l">
                <a:lnSpc>
                  <a:spcPts val="5040"/>
                </a:lnSpc>
              </a:pPr>
              <a:r>
                <a:rPr lang="en-US" sz="4200" b="1">
                  <a:solidFill>
                    <a:srgbClr val="FFFFFF"/>
                  </a:solidFill>
                  <a:latin typeface="DM Sans Bold"/>
                  <a:ea typeface="DM Sans Bold"/>
                  <a:cs typeface="DM Sans Bold"/>
                  <a:sym typeface="DM Sans Bold"/>
                </a:rPr>
                <a:t>EDA Highlights — Industry Overview</a:t>
              </a:r>
            </a:p>
          </p:txBody>
        </p:sp>
      </p:grpSp>
      <p:grpSp>
        <p:nvGrpSpPr>
          <p:cNvPr id="7" name="Group 7"/>
          <p:cNvGrpSpPr/>
          <p:nvPr/>
        </p:nvGrpSpPr>
        <p:grpSpPr>
          <a:xfrm>
            <a:off x="548640" y="891540"/>
            <a:ext cx="16911828" cy="521208"/>
            <a:chOff x="0" y="0"/>
            <a:chExt cx="22549104" cy="694944"/>
          </a:xfrm>
        </p:grpSpPr>
        <p:sp>
          <p:nvSpPr>
            <p:cNvPr id="8" name="Freeform 8"/>
            <p:cNvSpPr/>
            <p:nvPr/>
          </p:nvSpPr>
          <p:spPr>
            <a:xfrm>
              <a:off x="0" y="0"/>
              <a:ext cx="22549104" cy="694944"/>
            </a:xfrm>
            <a:custGeom>
              <a:avLst/>
              <a:gdLst/>
              <a:ahLst/>
              <a:cxnLst/>
              <a:rect l="l" t="t" r="r" b="b"/>
              <a:pathLst>
                <a:path w="22549104" h="694944">
                  <a:moveTo>
                    <a:pt x="0" y="0"/>
                  </a:moveTo>
                  <a:lnTo>
                    <a:pt x="22549104" y="0"/>
                  </a:lnTo>
                  <a:lnTo>
                    <a:pt x="22549104" y="694944"/>
                  </a:lnTo>
                  <a:lnTo>
                    <a:pt x="0" y="694944"/>
                  </a:lnTo>
                  <a:close/>
                </a:path>
              </a:pathLst>
            </a:custGeom>
            <a:blipFill>
              <a:blip r:embed="rId3">
                <a:alphaModFix amt="0"/>
              </a:blip>
              <a:stretch>
                <a:fillRect t="-582238" b="-582238"/>
              </a:stretch>
            </a:blipFill>
          </p:spPr>
        </p:sp>
        <p:sp>
          <p:nvSpPr>
            <p:cNvPr id="9" name="TextBox 9"/>
            <p:cNvSpPr txBox="1"/>
            <p:nvPr/>
          </p:nvSpPr>
          <p:spPr>
            <a:xfrm>
              <a:off x="0" y="9525"/>
              <a:ext cx="22549104" cy="685419"/>
            </a:xfrm>
            <a:prstGeom prst="rect">
              <a:avLst/>
            </a:prstGeom>
          </p:spPr>
          <p:txBody>
            <a:bodyPr lIns="0" tIns="0" rIns="0" bIns="0" rtlCol="0" anchor="ctr"/>
            <a:lstStyle/>
            <a:p>
              <a:pPr algn="l">
                <a:lnSpc>
                  <a:spcPts val="2340"/>
                </a:lnSpc>
              </a:pPr>
              <a:r>
                <a:rPr lang="en-US" sz="1950">
                  <a:solidFill>
                    <a:srgbClr val="DCEDFA"/>
                  </a:solidFill>
                  <a:latin typeface="DM Sans"/>
                  <a:ea typeface="DM Sans"/>
                  <a:cs typeface="DM Sans"/>
                  <a:sym typeface="DM Sans"/>
                </a:rPr>
                <a:t>SIP growth, AUM trends &amp; folio expansion</a:t>
              </a:r>
            </a:p>
          </p:txBody>
        </p:sp>
      </p:grpSp>
      <p:grpSp>
        <p:nvGrpSpPr>
          <p:cNvPr id="10" name="Group 10"/>
          <p:cNvGrpSpPr/>
          <p:nvPr/>
        </p:nvGrpSpPr>
        <p:grpSpPr>
          <a:xfrm>
            <a:off x="-9525" y="1499235"/>
            <a:ext cx="18302478" cy="73914"/>
            <a:chOff x="0" y="0"/>
            <a:chExt cx="24403304" cy="98552"/>
          </a:xfrm>
        </p:grpSpPr>
        <p:sp>
          <p:nvSpPr>
            <p:cNvPr id="11" name="Freeform 11"/>
            <p:cNvSpPr/>
            <p:nvPr/>
          </p:nvSpPr>
          <p:spPr>
            <a:xfrm>
              <a:off x="0" y="0"/>
              <a:ext cx="24403304" cy="98552"/>
            </a:xfrm>
            <a:custGeom>
              <a:avLst/>
              <a:gdLst/>
              <a:ahLst/>
              <a:cxnLst/>
              <a:rect l="l" t="t" r="r" b="b"/>
              <a:pathLst>
                <a:path w="24403304" h="98552">
                  <a:moveTo>
                    <a:pt x="0" y="0"/>
                  </a:moveTo>
                  <a:lnTo>
                    <a:pt x="24403304" y="0"/>
                  </a:lnTo>
                  <a:lnTo>
                    <a:pt x="24403304" y="98552"/>
                  </a:lnTo>
                  <a:lnTo>
                    <a:pt x="0" y="98552"/>
                  </a:lnTo>
                  <a:close/>
                </a:path>
              </a:pathLst>
            </a:custGeom>
            <a:solidFill>
              <a:srgbClr val="1565C0"/>
            </a:solidFill>
            <a:ln w="19050" cap="sq">
              <a:solidFill>
                <a:srgbClr val="1565C0"/>
              </a:solidFill>
              <a:prstDash val="solid"/>
              <a:miter/>
            </a:ln>
          </p:spPr>
        </p:sp>
      </p:grpSp>
      <p:grpSp>
        <p:nvGrpSpPr>
          <p:cNvPr id="12" name="Group 12"/>
          <p:cNvGrpSpPr/>
          <p:nvPr/>
        </p:nvGrpSpPr>
        <p:grpSpPr>
          <a:xfrm>
            <a:off x="401955" y="1862709"/>
            <a:ext cx="4271010" cy="1527810"/>
            <a:chOff x="0" y="0"/>
            <a:chExt cx="5694680" cy="2037080"/>
          </a:xfrm>
        </p:grpSpPr>
        <p:sp>
          <p:nvSpPr>
            <p:cNvPr id="13" name="Freeform 13"/>
            <p:cNvSpPr/>
            <p:nvPr/>
          </p:nvSpPr>
          <p:spPr>
            <a:xfrm>
              <a:off x="0" y="0"/>
              <a:ext cx="5694680" cy="2037080"/>
            </a:xfrm>
            <a:custGeom>
              <a:avLst/>
              <a:gdLst/>
              <a:ahLst/>
              <a:cxnLst/>
              <a:rect l="l" t="t" r="r" b="b"/>
              <a:pathLst>
                <a:path w="5694680" h="2037080">
                  <a:moveTo>
                    <a:pt x="0" y="148209"/>
                  </a:moveTo>
                  <a:cubicBezTo>
                    <a:pt x="0" y="66294"/>
                    <a:pt x="66294" y="0"/>
                    <a:pt x="148209" y="0"/>
                  </a:cubicBezTo>
                  <a:lnTo>
                    <a:pt x="5546471" y="0"/>
                  </a:lnTo>
                  <a:cubicBezTo>
                    <a:pt x="5628259" y="0"/>
                    <a:pt x="5694680" y="66294"/>
                    <a:pt x="5694680" y="148209"/>
                  </a:cubicBezTo>
                  <a:lnTo>
                    <a:pt x="5694680" y="1888871"/>
                  </a:lnTo>
                  <a:cubicBezTo>
                    <a:pt x="5694680" y="1970659"/>
                    <a:pt x="5628386" y="2037080"/>
                    <a:pt x="5546471" y="2037080"/>
                  </a:cubicBezTo>
                  <a:lnTo>
                    <a:pt x="148209" y="2037080"/>
                  </a:lnTo>
                  <a:cubicBezTo>
                    <a:pt x="66294" y="2037080"/>
                    <a:pt x="0" y="1970786"/>
                    <a:pt x="0" y="1888871"/>
                  </a:cubicBezTo>
                  <a:close/>
                </a:path>
              </a:pathLst>
            </a:custGeom>
            <a:solidFill>
              <a:srgbClr val="1A5276"/>
            </a:solidFill>
            <a:ln w="19050" cap="sq">
              <a:solidFill>
                <a:srgbClr val="1565C0"/>
              </a:solidFill>
              <a:prstDash val="solid"/>
              <a:miter/>
            </a:ln>
          </p:spPr>
        </p:sp>
      </p:grpSp>
      <p:grpSp>
        <p:nvGrpSpPr>
          <p:cNvPr id="14" name="Group 14"/>
          <p:cNvGrpSpPr/>
          <p:nvPr/>
        </p:nvGrpSpPr>
        <p:grpSpPr>
          <a:xfrm>
            <a:off x="411480" y="1981962"/>
            <a:ext cx="4251960" cy="829818"/>
            <a:chOff x="0" y="0"/>
            <a:chExt cx="5669280" cy="1106424"/>
          </a:xfrm>
        </p:grpSpPr>
        <p:sp>
          <p:nvSpPr>
            <p:cNvPr id="15" name="Freeform 15"/>
            <p:cNvSpPr/>
            <p:nvPr/>
          </p:nvSpPr>
          <p:spPr>
            <a:xfrm>
              <a:off x="0" y="0"/>
              <a:ext cx="5669280" cy="1106424"/>
            </a:xfrm>
            <a:custGeom>
              <a:avLst/>
              <a:gdLst/>
              <a:ahLst/>
              <a:cxnLst/>
              <a:rect l="l" t="t" r="r" b="b"/>
              <a:pathLst>
                <a:path w="5669280" h="1106424">
                  <a:moveTo>
                    <a:pt x="0" y="0"/>
                  </a:moveTo>
                  <a:lnTo>
                    <a:pt x="5669280" y="0"/>
                  </a:lnTo>
                  <a:lnTo>
                    <a:pt x="5669280" y="1106424"/>
                  </a:lnTo>
                  <a:lnTo>
                    <a:pt x="0" y="1106424"/>
                  </a:lnTo>
                  <a:close/>
                </a:path>
              </a:pathLst>
            </a:custGeom>
            <a:blipFill>
              <a:blip r:embed="rId3">
                <a:alphaModFix amt="0"/>
              </a:blip>
              <a:stretch>
                <a:fillRect t="-49840" b="-49840"/>
              </a:stretch>
            </a:blipFill>
          </p:spPr>
        </p:sp>
        <p:sp>
          <p:nvSpPr>
            <p:cNvPr id="16" name="TextBox 16"/>
            <p:cNvSpPr txBox="1"/>
            <p:nvPr/>
          </p:nvSpPr>
          <p:spPr>
            <a:xfrm>
              <a:off x="0" y="0"/>
              <a:ext cx="5669280" cy="1106424"/>
            </a:xfrm>
            <a:prstGeom prst="rect">
              <a:avLst/>
            </a:prstGeom>
          </p:spPr>
          <p:txBody>
            <a:bodyPr lIns="0" tIns="0" rIns="0" bIns="0" rtlCol="0" anchor="ctr"/>
            <a:lstStyle/>
            <a:p>
              <a:pPr algn="ctr">
                <a:lnSpc>
                  <a:spcPts val="3960"/>
                </a:lnSpc>
              </a:pPr>
              <a:r>
                <a:rPr lang="en-US" sz="3300" b="1">
                  <a:solidFill>
                    <a:srgbClr val="FFFFFF"/>
                  </a:solidFill>
                  <a:latin typeface="DM Sans Bold"/>
                  <a:ea typeface="DM Sans Bold"/>
                  <a:cs typeface="DM Sans Bold"/>
                  <a:sym typeface="DM Sans Bold"/>
                </a:rPr>
                <a:t>Rs.31,002 Cr</a:t>
              </a:r>
            </a:p>
          </p:txBody>
        </p:sp>
      </p:grpSp>
      <p:grpSp>
        <p:nvGrpSpPr>
          <p:cNvPr id="17" name="Group 17"/>
          <p:cNvGrpSpPr/>
          <p:nvPr/>
        </p:nvGrpSpPr>
        <p:grpSpPr>
          <a:xfrm>
            <a:off x="4900803" y="1862709"/>
            <a:ext cx="4271010" cy="1527810"/>
            <a:chOff x="0" y="0"/>
            <a:chExt cx="5694680" cy="2037080"/>
          </a:xfrm>
        </p:grpSpPr>
        <p:sp>
          <p:nvSpPr>
            <p:cNvPr id="18" name="Freeform 18"/>
            <p:cNvSpPr/>
            <p:nvPr/>
          </p:nvSpPr>
          <p:spPr>
            <a:xfrm>
              <a:off x="0" y="0"/>
              <a:ext cx="5694680" cy="2037080"/>
            </a:xfrm>
            <a:custGeom>
              <a:avLst/>
              <a:gdLst/>
              <a:ahLst/>
              <a:cxnLst/>
              <a:rect l="l" t="t" r="r" b="b"/>
              <a:pathLst>
                <a:path w="5694680" h="2037080">
                  <a:moveTo>
                    <a:pt x="0" y="148209"/>
                  </a:moveTo>
                  <a:cubicBezTo>
                    <a:pt x="0" y="66294"/>
                    <a:pt x="66294" y="0"/>
                    <a:pt x="148209" y="0"/>
                  </a:cubicBezTo>
                  <a:lnTo>
                    <a:pt x="5546471" y="0"/>
                  </a:lnTo>
                  <a:cubicBezTo>
                    <a:pt x="5628259" y="0"/>
                    <a:pt x="5694680" y="66294"/>
                    <a:pt x="5694680" y="148209"/>
                  </a:cubicBezTo>
                  <a:lnTo>
                    <a:pt x="5694680" y="1888871"/>
                  </a:lnTo>
                  <a:cubicBezTo>
                    <a:pt x="5694680" y="1970659"/>
                    <a:pt x="5628386" y="2037080"/>
                    <a:pt x="5546471" y="2037080"/>
                  </a:cubicBezTo>
                  <a:lnTo>
                    <a:pt x="148209" y="2037080"/>
                  </a:lnTo>
                  <a:cubicBezTo>
                    <a:pt x="66294" y="2037080"/>
                    <a:pt x="0" y="1970786"/>
                    <a:pt x="0" y="1888871"/>
                  </a:cubicBezTo>
                  <a:close/>
                </a:path>
              </a:pathLst>
            </a:custGeom>
            <a:solidFill>
              <a:srgbClr val="2E233A"/>
            </a:solidFill>
            <a:ln w="19050" cap="sq">
              <a:solidFill>
                <a:srgbClr val="FFAB32"/>
              </a:solidFill>
              <a:prstDash val="solid"/>
              <a:miter/>
            </a:ln>
          </p:spPr>
        </p:sp>
      </p:grpSp>
      <p:grpSp>
        <p:nvGrpSpPr>
          <p:cNvPr id="19" name="Group 19"/>
          <p:cNvGrpSpPr/>
          <p:nvPr/>
        </p:nvGrpSpPr>
        <p:grpSpPr>
          <a:xfrm>
            <a:off x="4910328" y="1981962"/>
            <a:ext cx="4251960" cy="829818"/>
            <a:chOff x="0" y="0"/>
            <a:chExt cx="5669280" cy="1106424"/>
          </a:xfrm>
        </p:grpSpPr>
        <p:sp>
          <p:nvSpPr>
            <p:cNvPr id="20" name="Freeform 20"/>
            <p:cNvSpPr/>
            <p:nvPr/>
          </p:nvSpPr>
          <p:spPr>
            <a:xfrm>
              <a:off x="0" y="0"/>
              <a:ext cx="5669280" cy="1106424"/>
            </a:xfrm>
            <a:custGeom>
              <a:avLst/>
              <a:gdLst/>
              <a:ahLst/>
              <a:cxnLst/>
              <a:rect l="l" t="t" r="r" b="b"/>
              <a:pathLst>
                <a:path w="5669280" h="1106424">
                  <a:moveTo>
                    <a:pt x="0" y="0"/>
                  </a:moveTo>
                  <a:lnTo>
                    <a:pt x="5669280" y="0"/>
                  </a:lnTo>
                  <a:lnTo>
                    <a:pt x="5669280" y="1106424"/>
                  </a:lnTo>
                  <a:lnTo>
                    <a:pt x="0" y="1106424"/>
                  </a:lnTo>
                  <a:close/>
                </a:path>
              </a:pathLst>
            </a:custGeom>
            <a:blipFill>
              <a:blip r:embed="rId3">
                <a:alphaModFix amt="0"/>
              </a:blip>
              <a:stretch>
                <a:fillRect t="-49840" b="-49840"/>
              </a:stretch>
            </a:blipFill>
          </p:spPr>
        </p:sp>
        <p:sp>
          <p:nvSpPr>
            <p:cNvPr id="21" name="TextBox 21"/>
            <p:cNvSpPr txBox="1"/>
            <p:nvPr/>
          </p:nvSpPr>
          <p:spPr>
            <a:xfrm>
              <a:off x="0" y="0"/>
              <a:ext cx="5669280" cy="1106424"/>
            </a:xfrm>
            <a:prstGeom prst="rect">
              <a:avLst/>
            </a:prstGeom>
          </p:spPr>
          <p:txBody>
            <a:bodyPr lIns="0" tIns="0" rIns="0" bIns="0" rtlCol="0" anchor="ctr"/>
            <a:lstStyle/>
            <a:p>
              <a:pPr algn="ctr">
                <a:lnSpc>
                  <a:spcPts val="3960"/>
                </a:lnSpc>
              </a:pPr>
              <a:r>
                <a:rPr lang="en-US" sz="3300" b="1">
                  <a:solidFill>
                    <a:srgbClr val="FFFFFF"/>
                  </a:solidFill>
                  <a:latin typeface="DM Sans Bold"/>
                  <a:ea typeface="DM Sans Bold"/>
                  <a:cs typeface="DM Sans Bold"/>
                  <a:sym typeface="DM Sans Bold"/>
                </a:rPr>
                <a:t>Rs.117L Cr</a:t>
              </a:r>
            </a:p>
          </p:txBody>
        </p:sp>
      </p:grpSp>
      <p:grpSp>
        <p:nvGrpSpPr>
          <p:cNvPr id="22" name="Group 22"/>
          <p:cNvGrpSpPr/>
          <p:nvPr/>
        </p:nvGrpSpPr>
        <p:grpSpPr>
          <a:xfrm>
            <a:off x="9399651" y="1862709"/>
            <a:ext cx="4271010" cy="1527810"/>
            <a:chOff x="0" y="0"/>
            <a:chExt cx="5694680" cy="2037080"/>
          </a:xfrm>
        </p:grpSpPr>
        <p:sp>
          <p:nvSpPr>
            <p:cNvPr id="23" name="Freeform 23"/>
            <p:cNvSpPr/>
            <p:nvPr/>
          </p:nvSpPr>
          <p:spPr>
            <a:xfrm>
              <a:off x="0" y="0"/>
              <a:ext cx="5694680" cy="2037080"/>
            </a:xfrm>
            <a:custGeom>
              <a:avLst/>
              <a:gdLst/>
              <a:ahLst/>
              <a:cxnLst/>
              <a:rect l="l" t="t" r="r" b="b"/>
              <a:pathLst>
                <a:path w="5694680" h="2037080">
                  <a:moveTo>
                    <a:pt x="0" y="148209"/>
                  </a:moveTo>
                  <a:cubicBezTo>
                    <a:pt x="0" y="66294"/>
                    <a:pt x="66294" y="0"/>
                    <a:pt x="148209" y="0"/>
                  </a:cubicBezTo>
                  <a:lnTo>
                    <a:pt x="5546471" y="0"/>
                  </a:lnTo>
                  <a:cubicBezTo>
                    <a:pt x="5628259" y="0"/>
                    <a:pt x="5694680" y="66294"/>
                    <a:pt x="5694680" y="148209"/>
                  </a:cubicBezTo>
                  <a:lnTo>
                    <a:pt x="5694680" y="1888871"/>
                  </a:lnTo>
                  <a:cubicBezTo>
                    <a:pt x="5694680" y="1970659"/>
                    <a:pt x="5628386" y="2037080"/>
                    <a:pt x="5546471" y="2037080"/>
                  </a:cubicBezTo>
                  <a:lnTo>
                    <a:pt x="148209" y="2037080"/>
                  </a:lnTo>
                  <a:cubicBezTo>
                    <a:pt x="66294" y="2037080"/>
                    <a:pt x="0" y="1970786"/>
                    <a:pt x="0" y="1888871"/>
                  </a:cubicBezTo>
                  <a:close/>
                </a:path>
              </a:pathLst>
            </a:custGeom>
            <a:solidFill>
              <a:srgbClr val="1A5276"/>
            </a:solidFill>
            <a:ln w="19050" cap="sq">
              <a:solidFill>
                <a:srgbClr val="7B1FA2"/>
              </a:solidFill>
              <a:prstDash val="solid"/>
              <a:miter/>
            </a:ln>
          </p:spPr>
        </p:sp>
      </p:grpSp>
      <p:grpSp>
        <p:nvGrpSpPr>
          <p:cNvPr id="24" name="Group 24"/>
          <p:cNvGrpSpPr/>
          <p:nvPr/>
        </p:nvGrpSpPr>
        <p:grpSpPr>
          <a:xfrm>
            <a:off x="9409176" y="1981962"/>
            <a:ext cx="4251960" cy="829818"/>
            <a:chOff x="0" y="0"/>
            <a:chExt cx="5669280" cy="1106424"/>
          </a:xfrm>
        </p:grpSpPr>
        <p:sp>
          <p:nvSpPr>
            <p:cNvPr id="25" name="Freeform 25"/>
            <p:cNvSpPr/>
            <p:nvPr/>
          </p:nvSpPr>
          <p:spPr>
            <a:xfrm>
              <a:off x="0" y="0"/>
              <a:ext cx="5669280" cy="1106424"/>
            </a:xfrm>
            <a:custGeom>
              <a:avLst/>
              <a:gdLst/>
              <a:ahLst/>
              <a:cxnLst/>
              <a:rect l="l" t="t" r="r" b="b"/>
              <a:pathLst>
                <a:path w="5669280" h="1106424">
                  <a:moveTo>
                    <a:pt x="0" y="0"/>
                  </a:moveTo>
                  <a:lnTo>
                    <a:pt x="5669280" y="0"/>
                  </a:lnTo>
                  <a:lnTo>
                    <a:pt x="5669280" y="1106424"/>
                  </a:lnTo>
                  <a:lnTo>
                    <a:pt x="0" y="1106424"/>
                  </a:lnTo>
                  <a:close/>
                </a:path>
              </a:pathLst>
            </a:custGeom>
            <a:blipFill>
              <a:blip r:embed="rId3">
                <a:alphaModFix amt="0"/>
              </a:blip>
              <a:stretch>
                <a:fillRect t="-49840" b="-49840"/>
              </a:stretch>
            </a:blipFill>
          </p:spPr>
        </p:sp>
        <p:sp>
          <p:nvSpPr>
            <p:cNvPr id="26" name="TextBox 26"/>
            <p:cNvSpPr txBox="1"/>
            <p:nvPr/>
          </p:nvSpPr>
          <p:spPr>
            <a:xfrm>
              <a:off x="0" y="0"/>
              <a:ext cx="5669280" cy="1106424"/>
            </a:xfrm>
            <a:prstGeom prst="rect">
              <a:avLst/>
            </a:prstGeom>
          </p:spPr>
          <p:txBody>
            <a:bodyPr lIns="0" tIns="0" rIns="0" bIns="0" rtlCol="0" anchor="ctr"/>
            <a:lstStyle/>
            <a:p>
              <a:pPr algn="ctr">
                <a:lnSpc>
                  <a:spcPts val="3960"/>
                </a:lnSpc>
              </a:pPr>
              <a:r>
                <a:rPr lang="en-US" sz="3300" b="1">
                  <a:solidFill>
                    <a:srgbClr val="FFFFFF"/>
                  </a:solidFill>
                  <a:latin typeface="DM Sans Bold"/>
                  <a:ea typeface="DM Sans Bold"/>
                  <a:cs typeface="DM Sans Bold"/>
                  <a:sym typeface="DM Sans Bold"/>
                </a:rPr>
                <a:t>26.12 Cr</a:t>
              </a:r>
            </a:p>
          </p:txBody>
        </p:sp>
      </p:grpSp>
      <p:grpSp>
        <p:nvGrpSpPr>
          <p:cNvPr id="27" name="Group 27"/>
          <p:cNvGrpSpPr/>
          <p:nvPr/>
        </p:nvGrpSpPr>
        <p:grpSpPr>
          <a:xfrm>
            <a:off x="13898499" y="1862709"/>
            <a:ext cx="4271010" cy="1527810"/>
            <a:chOff x="0" y="0"/>
            <a:chExt cx="5694680" cy="2037080"/>
          </a:xfrm>
        </p:grpSpPr>
        <p:sp>
          <p:nvSpPr>
            <p:cNvPr id="28" name="Freeform 28"/>
            <p:cNvSpPr/>
            <p:nvPr/>
          </p:nvSpPr>
          <p:spPr>
            <a:xfrm>
              <a:off x="0" y="0"/>
              <a:ext cx="5694680" cy="2037080"/>
            </a:xfrm>
            <a:custGeom>
              <a:avLst/>
              <a:gdLst/>
              <a:ahLst/>
              <a:cxnLst/>
              <a:rect l="l" t="t" r="r" b="b"/>
              <a:pathLst>
                <a:path w="5694680" h="2037080">
                  <a:moveTo>
                    <a:pt x="0" y="148209"/>
                  </a:moveTo>
                  <a:cubicBezTo>
                    <a:pt x="0" y="66294"/>
                    <a:pt x="66294" y="0"/>
                    <a:pt x="148209" y="0"/>
                  </a:cubicBezTo>
                  <a:lnTo>
                    <a:pt x="5546471" y="0"/>
                  </a:lnTo>
                  <a:cubicBezTo>
                    <a:pt x="5628259" y="0"/>
                    <a:pt x="5694680" y="66294"/>
                    <a:pt x="5694680" y="148209"/>
                  </a:cubicBezTo>
                  <a:lnTo>
                    <a:pt x="5694680" y="1888871"/>
                  </a:lnTo>
                  <a:cubicBezTo>
                    <a:pt x="5694680" y="1970659"/>
                    <a:pt x="5628386" y="2037080"/>
                    <a:pt x="5546471" y="2037080"/>
                  </a:cubicBezTo>
                  <a:lnTo>
                    <a:pt x="148209" y="2037080"/>
                  </a:lnTo>
                  <a:cubicBezTo>
                    <a:pt x="66294" y="2037080"/>
                    <a:pt x="0" y="1970786"/>
                    <a:pt x="0" y="1888871"/>
                  </a:cubicBezTo>
                  <a:close/>
                </a:path>
              </a:pathLst>
            </a:custGeom>
            <a:solidFill>
              <a:srgbClr val="2E233A"/>
            </a:solidFill>
            <a:ln w="19050" cap="sq">
              <a:solidFill>
                <a:srgbClr val="E65100"/>
              </a:solidFill>
              <a:prstDash val="solid"/>
              <a:miter/>
            </a:ln>
          </p:spPr>
        </p:sp>
      </p:grpSp>
      <p:grpSp>
        <p:nvGrpSpPr>
          <p:cNvPr id="29" name="Group 29"/>
          <p:cNvGrpSpPr/>
          <p:nvPr/>
        </p:nvGrpSpPr>
        <p:grpSpPr>
          <a:xfrm>
            <a:off x="13908024" y="1981962"/>
            <a:ext cx="4251960" cy="829818"/>
            <a:chOff x="0" y="0"/>
            <a:chExt cx="5669280" cy="1106424"/>
          </a:xfrm>
        </p:grpSpPr>
        <p:sp>
          <p:nvSpPr>
            <p:cNvPr id="30" name="Freeform 30"/>
            <p:cNvSpPr/>
            <p:nvPr/>
          </p:nvSpPr>
          <p:spPr>
            <a:xfrm>
              <a:off x="0" y="0"/>
              <a:ext cx="5669280" cy="1106424"/>
            </a:xfrm>
            <a:custGeom>
              <a:avLst/>
              <a:gdLst/>
              <a:ahLst/>
              <a:cxnLst/>
              <a:rect l="l" t="t" r="r" b="b"/>
              <a:pathLst>
                <a:path w="5669280" h="1106424">
                  <a:moveTo>
                    <a:pt x="0" y="0"/>
                  </a:moveTo>
                  <a:lnTo>
                    <a:pt x="5669280" y="0"/>
                  </a:lnTo>
                  <a:lnTo>
                    <a:pt x="5669280" y="1106424"/>
                  </a:lnTo>
                  <a:lnTo>
                    <a:pt x="0" y="1106424"/>
                  </a:lnTo>
                  <a:close/>
                </a:path>
              </a:pathLst>
            </a:custGeom>
            <a:blipFill>
              <a:blip r:embed="rId3">
                <a:alphaModFix amt="0"/>
              </a:blip>
              <a:stretch>
                <a:fillRect t="-49840" b="-49840"/>
              </a:stretch>
            </a:blipFill>
          </p:spPr>
        </p:sp>
        <p:sp>
          <p:nvSpPr>
            <p:cNvPr id="31" name="TextBox 31"/>
            <p:cNvSpPr txBox="1"/>
            <p:nvPr/>
          </p:nvSpPr>
          <p:spPr>
            <a:xfrm>
              <a:off x="0" y="0"/>
              <a:ext cx="5669280" cy="1106424"/>
            </a:xfrm>
            <a:prstGeom prst="rect">
              <a:avLst/>
            </a:prstGeom>
          </p:spPr>
          <p:txBody>
            <a:bodyPr lIns="0" tIns="0" rIns="0" bIns="0" rtlCol="0" anchor="ctr"/>
            <a:lstStyle/>
            <a:p>
              <a:pPr algn="ctr">
                <a:lnSpc>
                  <a:spcPts val="3960"/>
                </a:lnSpc>
              </a:pPr>
              <a:r>
                <a:rPr lang="en-US" sz="3300" b="1">
                  <a:solidFill>
                    <a:srgbClr val="FFFFFF"/>
                  </a:solidFill>
                  <a:latin typeface="DM Sans Bold"/>
                  <a:ea typeface="DM Sans Bold"/>
                  <a:cs typeface="DM Sans Bold"/>
                  <a:sym typeface="DM Sans Bold"/>
                </a:rPr>
                <a:t>2.2x Growth</a:t>
              </a:r>
            </a:p>
          </p:txBody>
        </p:sp>
      </p:grpSp>
      <p:grpSp>
        <p:nvGrpSpPr>
          <p:cNvPr id="32" name="Group 32"/>
          <p:cNvGrpSpPr/>
          <p:nvPr/>
        </p:nvGrpSpPr>
        <p:grpSpPr>
          <a:xfrm>
            <a:off x="-9525" y="9893427"/>
            <a:ext cx="18302478" cy="403098"/>
            <a:chOff x="0" y="0"/>
            <a:chExt cx="24403304" cy="537464"/>
          </a:xfrm>
        </p:grpSpPr>
        <p:sp>
          <p:nvSpPr>
            <p:cNvPr id="33" name="Freeform 33"/>
            <p:cNvSpPr/>
            <p:nvPr/>
          </p:nvSpPr>
          <p:spPr>
            <a:xfrm>
              <a:off x="0" y="0"/>
              <a:ext cx="24403304" cy="537464"/>
            </a:xfrm>
            <a:custGeom>
              <a:avLst/>
              <a:gdLst/>
              <a:ahLst/>
              <a:cxnLst/>
              <a:rect l="l" t="t" r="r" b="b"/>
              <a:pathLst>
                <a:path w="24403304" h="537464">
                  <a:moveTo>
                    <a:pt x="0" y="0"/>
                  </a:moveTo>
                  <a:lnTo>
                    <a:pt x="24403304" y="0"/>
                  </a:lnTo>
                  <a:lnTo>
                    <a:pt x="24403304" y="537464"/>
                  </a:lnTo>
                  <a:lnTo>
                    <a:pt x="0" y="537464"/>
                  </a:lnTo>
                  <a:close/>
                </a:path>
              </a:pathLst>
            </a:custGeom>
            <a:solidFill>
              <a:srgbClr val="132338"/>
            </a:solidFill>
            <a:ln w="19050" cap="sq">
              <a:solidFill>
                <a:srgbClr val="0D1B2A"/>
              </a:solidFill>
              <a:prstDash val="solid"/>
              <a:miter/>
            </a:ln>
          </p:spPr>
        </p:sp>
      </p:grpSp>
      <p:grpSp>
        <p:nvGrpSpPr>
          <p:cNvPr id="34" name="Group 34"/>
          <p:cNvGrpSpPr/>
          <p:nvPr/>
        </p:nvGrpSpPr>
        <p:grpSpPr>
          <a:xfrm>
            <a:off x="16911828" y="9930384"/>
            <a:ext cx="1097280" cy="329184"/>
            <a:chOff x="0" y="0"/>
            <a:chExt cx="1463040" cy="438912"/>
          </a:xfrm>
        </p:grpSpPr>
        <p:sp>
          <p:nvSpPr>
            <p:cNvPr id="35" name="Freeform 35"/>
            <p:cNvSpPr/>
            <p:nvPr/>
          </p:nvSpPr>
          <p:spPr>
            <a:xfrm>
              <a:off x="0" y="0"/>
              <a:ext cx="1463040" cy="438912"/>
            </a:xfrm>
            <a:custGeom>
              <a:avLst/>
              <a:gdLst/>
              <a:ahLst/>
              <a:cxnLst/>
              <a:rect l="l" t="t" r="r" b="b"/>
              <a:pathLst>
                <a:path w="1463040" h="438912">
                  <a:moveTo>
                    <a:pt x="0" y="0"/>
                  </a:moveTo>
                  <a:lnTo>
                    <a:pt x="1463040" y="0"/>
                  </a:lnTo>
                  <a:lnTo>
                    <a:pt x="1463040" y="438912"/>
                  </a:lnTo>
                  <a:lnTo>
                    <a:pt x="0" y="438912"/>
                  </a:lnTo>
                  <a:close/>
                </a:path>
              </a:pathLst>
            </a:custGeom>
            <a:blipFill>
              <a:blip r:embed="rId3">
                <a:alphaModFix amt="0"/>
              </a:blip>
              <a:stretch>
                <a:fillRect t="-14950" b="-14950"/>
              </a:stretch>
            </a:blipFill>
          </p:spPr>
        </p:sp>
        <p:sp>
          <p:nvSpPr>
            <p:cNvPr id="36" name="TextBox 36"/>
            <p:cNvSpPr txBox="1"/>
            <p:nvPr/>
          </p:nvSpPr>
          <p:spPr>
            <a:xfrm>
              <a:off x="0" y="-9525"/>
              <a:ext cx="1463040" cy="448437"/>
            </a:xfrm>
            <a:prstGeom prst="rect">
              <a:avLst/>
            </a:prstGeom>
          </p:spPr>
          <p:txBody>
            <a:bodyPr lIns="0" tIns="0" rIns="0" bIns="0" rtlCol="0" anchor="ctr"/>
            <a:lstStyle/>
            <a:p>
              <a:pPr algn="r">
                <a:lnSpc>
                  <a:spcPts val="1439"/>
                </a:lnSpc>
              </a:pPr>
              <a:r>
                <a:rPr lang="en-US" sz="1200">
                  <a:solidFill>
                    <a:srgbClr val="DCEDFA"/>
                  </a:solidFill>
                  <a:latin typeface="DM Sans"/>
                  <a:ea typeface="DM Sans"/>
                  <a:cs typeface="DM Sans"/>
                  <a:sym typeface="DM Sans"/>
                </a:rPr>
                <a:t>5 / 12</a:t>
              </a:r>
            </a:p>
          </p:txBody>
        </p:sp>
      </p:grpSp>
      <p:grpSp>
        <p:nvGrpSpPr>
          <p:cNvPr id="37" name="Group 37"/>
          <p:cNvGrpSpPr/>
          <p:nvPr/>
        </p:nvGrpSpPr>
        <p:grpSpPr>
          <a:xfrm>
            <a:off x="411480" y="9930384"/>
            <a:ext cx="16363188" cy="329184"/>
            <a:chOff x="0" y="0"/>
            <a:chExt cx="21817584" cy="438912"/>
          </a:xfrm>
        </p:grpSpPr>
        <p:sp>
          <p:nvSpPr>
            <p:cNvPr id="38" name="Freeform 38"/>
            <p:cNvSpPr/>
            <p:nvPr/>
          </p:nvSpPr>
          <p:spPr>
            <a:xfrm>
              <a:off x="0" y="0"/>
              <a:ext cx="21817585" cy="438912"/>
            </a:xfrm>
            <a:custGeom>
              <a:avLst/>
              <a:gdLst/>
              <a:ahLst/>
              <a:cxnLst/>
              <a:rect l="l" t="t" r="r" b="b"/>
              <a:pathLst>
                <a:path w="21817585" h="438912">
                  <a:moveTo>
                    <a:pt x="0" y="0"/>
                  </a:moveTo>
                  <a:lnTo>
                    <a:pt x="21817585" y="0"/>
                  </a:lnTo>
                  <a:lnTo>
                    <a:pt x="21817585" y="438912"/>
                  </a:lnTo>
                  <a:lnTo>
                    <a:pt x="0" y="438912"/>
                  </a:lnTo>
                  <a:close/>
                </a:path>
              </a:pathLst>
            </a:custGeom>
            <a:blipFill>
              <a:blip r:embed="rId3">
                <a:alphaModFix amt="0"/>
              </a:blip>
              <a:stretch>
                <a:fillRect t="-918568" b="-918568"/>
              </a:stretch>
            </a:blipFill>
          </p:spPr>
        </p:sp>
        <p:sp>
          <p:nvSpPr>
            <p:cNvPr id="39" name="TextBox 39"/>
            <p:cNvSpPr txBox="1"/>
            <p:nvPr/>
          </p:nvSpPr>
          <p:spPr>
            <a:xfrm>
              <a:off x="0" y="-9525"/>
              <a:ext cx="21817584" cy="448437"/>
            </a:xfrm>
            <a:prstGeom prst="rect">
              <a:avLst/>
            </a:prstGeom>
          </p:spPr>
          <p:txBody>
            <a:bodyPr lIns="0" tIns="0" rIns="0" bIns="0" rtlCol="0" anchor="ctr"/>
            <a:lstStyle/>
            <a:p>
              <a:pPr algn="l">
                <a:lnSpc>
                  <a:spcPts val="1439"/>
                </a:lnSpc>
              </a:pPr>
              <a:r>
                <a:rPr lang="en-US" sz="1200">
                  <a:solidFill>
                    <a:srgbClr val="DCEDFA"/>
                  </a:solidFill>
                  <a:latin typeface="DM Sans"/>
                  <a:ea typeface="DM Sans"/>
                  <a:cs typeface="DM Sans"/>
                  <a:sym typeface="DM Sans"/>
                </a:rPr>
                <a:t>Bluestock Fintech  |  Capstone Project I - Mutual Fund Analytics</a:t>
              </a:r>
            </a:p>
          </p:txBody>
        </p:sp>
      </p:grpSp>
      <p:sp>
        <p:nvSpPr>
          <p:cNvPr id="40" name="Freeform 40"/>
          <p:cNvSpPr/>
          <p:nvPr/>
        </p:nvSpPr>
        <p:spPr>
          <a:xfrm>
            <a:off x="411480" y="3840480"/>
            <a:ext cx="8871536" cy="4358142"/>
          </a:xfrm>
          <a:custGeom>
            <a:avLst/>
            <a:gdLst/>
            <a:ahLst/>
            <a:cxnLst/>
            <a:rect l="l" t="t" r="r" b="b"/>
            <a:pathLst>
              <a:path w="8871536" h="4358142">
                <a:moveTo>
                  <a:pt x="0" y="0"/>
                </a:moveTo>
                <a:lnTo>
                  <a:pt x="8871536" y="0"/>
                </a:lnTo>
                <a:lnTo>
                  <a:pt x="8871536" y="4358142"/>
                </a:lnTo>
                <a:lnTo>
                  <a:pt x="0" y="4358142"/>
                </a:lnTo>
                <a:lnTo>
                  <a:pt x="0" y="0"/>
                </a:lnTo>
                <a:close/>
              </a:path>
            </a:pathLst>
          </a:custGeom>
          <a:blipFill>
            <a:blip r:embed="rId4"/>
            <a:stretch>
              <a:fillRect/>
            </a:stretch>
          </a:blipFill>
        </p:spPr>
      </p:sp>
      <p:sp>
        <p:nvSpPr>
          <p:cNvPr id="41" name="Freeform 41"/>
          <p:cNvSpPr/>
          <p:nvPr/>
        </p:nvSpPr>
        <p:spPr>
          <a:xfrm>
            <a:off x="9486305" y="3840480"/>
            <a:ext cx="8166781" cy="5022570"/>
          </a:xfrm>
          <a:custGeom>
            <a:avLst/>
            <a:gdLst/>
            <a:ahLst/>
            <a:cxnLst/>
            <a:rect l="l" t="t" r="r" b="b"/>
            <a:pathLst>
              <a:path w="8166781" h="5022570">
                <a:moveTo>
                  <a:pt x="0" y="0"/>
                </a:moveTo>
                <a:lnTo>
                  <a:pt x="8166782" y="0"/>
                </a:lnTo>
                <a:lnTo>
                  <a:pt x="8166782" y="5022570"/>
                </a:lnTo>
                <a:lnTo>
                  <a:pt x="0" y="5022570"/>
                </a:lnTo>
                <a:lnTo>
                  <a:pt x="0" y="0"/>
                </a:lnTo>
                <a:close/>
              </a:path>
            </a:pathLst>
          </a:custGeom>
          <a:blipFill>
            <a:blip r:embed="rId5"/>
            <a:stretch>
              <a:fillRect/>
            </a:stretch>
          </a:blipFill>
        </p:spPr>
      </p:sp>
      <p:sp>
        <p:nvSpPr>
          <p:cNvPr id="42" name="TextBox 42"/>
          <p:cNvSpPr txBox="1"/>
          <p:nvPr/>
        </p:nvSpPr>
        <p:spPr>
          <a:xfrm>
            <a:off x="502920" y="2768422"/>
            <a:ext cx="4069080" cy="238125"/>
          </a:xfrm>
          <a:prstGeom prst="rect">
            <a:avLst/>
          </a:prstGeom>
        </p:spPr>
        <p:txBody>
          <a:bodyPr lIns="0" tIns="0" rIns="0" bIns="0" rtlCol="0" anchor="t">
            <a:spAutoFit/>
          </a:bodyPr>
          <a:lstStyle/>
          <a:p>
            <a:pPr algn="ctr">
              <a:lnSpc>
                <a:spcPts val="1800"/>
              </a:lnSpc>
            </a:pPr>
            <a:r>
              <a:rPr lang="en-US" sz="1500">
                <a:solidFill>
                  <a:srgbClr val="CCDDFF"/>
                </a:solidFill>
                <a:latin typeface="DM Sans"/>
                <a:ea typeface="DM Sans"/>
                <a:cs typeface="DM Sans"/>
                <a:sym typeface="DM Sans"/>
              </a:rPr>
              <a:t>SIP All-Time High (Dec 2025)</a:t>
            </a:r>
          </a:p>
        </p:txBody>
      </p:sp>
      <p:sp>
        <p:nvSpPr>
          <p:cNvPr id="43" name="TextBox 43"/>
          <p:cNvSpPr txBox="1"/>
          <p:nvPr/>
        </p:nvSpPr>
        <p:spPr>
          <a:xfrm>
            <a:off x="5001768" y="2768422"/>
            <a:ext cx="4069080" cy="238125"/>
          </a:xfrm>
          <a:prstGeom prst="rect">
            <a:avLst/>
          </a:prstGeom>
        </p:spPr>
        <p:txBody>
          <a:bodyPr lIns="0" tIns="0" rIns="0" bIns="0" rtlCol="0" anchor="t">
            <a:spAutoFit/>
          </a:bodyPr>
          <a:lstStyle/>
          <a:p>
            <a:pPr algn="ctr">
              <a:lnSpc>
                <a:spcPts val="1800"/>
              </a:lnSpc>
            </a:pPr>
            <a:r>
              <a:rPr lang="en-US" sz="1500">
                <a:solidFill>
                  <a:srgbClr val="CCDDFF"/>
                </a:solidFill>
                <a:latin typeface="DM Sans"/>
                <a:ea typeface="DM Sans"/>
                <a:cs typeface="DM Sans"/>
                <a:sym typeface="DM Sans"/>
              </a:rPr>
              <a:t>Industry AUM (FY 2025)</a:t>
            </a:r>
          </a:p>
        </p:txBody>
      </p:sp>
      <p:sp>
        <p:nvSpPr>
          <p:cNvPr id="44" name="TextBox 44"/>
          <p:cNvSpPr txBox="1"/>
          <p:nvPr/>
        </p:nvSpPr>
        <p:spPr>
          <a:xfrm>
            <a:off x="9500616" y="2768422"/>
            <a:ext cx="4069080" cy="238125"/>
          </a:xfrm>
          <a:prstGeom prst="rect">
            <a:avLst/>
          </a:prstGeom>
        </p:spPr>
        <p:txBody>
          <a:bodyPr lIns="0" tIns="0" rIns="0" bIns="0" rtlCol="0" anchor="t">
            <a:spAutoFit/>
          </a:bodyPr>
          <a:lstStyle/>
          <a:p>
            <a:pPr algn="ctr">
              <a:lnSpc>
                <a:spcPts val="1800"/>
              </a:lnSpc>
            </a:pPr>
            <a:r>
              <a:rPr lang="en-US" sz="1500">
                <a:solidFill>
                  <a:srgbClr val="CCDDFF"/>
                </a:solidFill>
                <a:latin typeface="DM Sans"/>
                <a:ea typeface="DM Sans"/>
                <a:cs typeface="DM Sans"/>
                <a:sym typeface="DM Sans"/>
              </a:rPr>
              <a:t>Total Folios (Jan 2022 → Dec 2025)</a:t>
            </a:r>
          </a:p>
        </p:txBody>
      </p:sp>
      <p:sp>
        <p:nvSpPr>
          <p:cNvPr id="45" name="TextBox 45"/>
          <p:cNvSpPr txBox="1"/>
          <p:nvPr/>
        </p:nvSpPr>
        <p:spPr>
          <a:xfrm>
            <a:off x="13999464" y="2768422"/>
            <a:ext cx="4069080" cy="238125"/>
          </a:xfrm>
          <a:prstGeom prst="rect">
            <a:avLst/>
          </a:prstGeom>
        </p:spPr>
        <p:txBody>
          <a:bodyPr lIns="0" tIns="0" rIns="0" bIns="0" rtlCol="0" anchor="t">
            <a:spAutoFit/>
          </a:bodyPr>
          <a:lstStyle/>
          <a:p>
            <a:pPr algn="ctr">
              <a:lnSpc>
                <a:spcPts val="1800"/>
              </a:lnSpc>
            </a:pPr>
            <a:r>
              <a:rPr lang="en-US" sz="1500">
                <a:solidFill>
                  <a:srgbClr val="CCDDFF"/>
                </a:solidFill>
                <a:latin typeface="DM Sans"/>
                <a:ea typeface="DM Sans"/>
                <a:cs typeface="DM Sans"/>
                <a:sym typeface="DM Sans"/>
              </a:rPr>
              <a:t>SIP inflow 2022 → 2025</a:t>
            </a:r>
          </a:p>
        </p:txBody>
      </p:sp>
      <p:sp>
        <p:nvSpPr>
          <p:cNvPr id="46" name="TextBox 46"/>
          <p:cNvSpPr txBox="1"/>
          <p:nvPr/>
        </p:nvSpPr>
        <p:spPr>
          <a:xfrm>
            <a:off x="686477" y="8265297"/>
            <a:ext cx="8321543" cy="41910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1: Monthly SIP inflow trend (Jan 2023 - Jan 2026). All-time high of Rs.31,002 Crore annotated.</a:t>
            </a:r>
          </a:p>
          <a:p>
            <a:pPr algn="ctr">
              <a:lnSpc>
                <a:spcPts val="1709"/>
              </a:lnSpc>
              <a:spcBef>
                <a:spcPct val="0"/>
              </a:spcBef>
            </a:pPr>
            <a:endParaRPr lang="en-US" sz="1425" i="1">
              <a:solidFill>
                <a:srgbClr val="4A5568"/>
              </a:solidFill>
              <a:latin typeface="DM Sans Italics"/>
              <a:ea typeface="DM Sans Italics"/>
              <a:cs typeface="DM Sans Italics"/>
              <a:sym typeface="DM Sans Italics"/>
            </a:endParaRPr>
          </a:p>
        </p:txBody>
      </p:sp>
      <p:sp>
        <p:nvSpPr>
          <p:cNvPr id="47" name="TextBox 47"/>
          <p:cNvSpPr txBox="1"/>
          <p:nvPr/>
        </p:nvSpPr>
        <p:spPr>
          <a:xfrm>
            <a:off x="10412177" y="8963025"/>
            <a:ext cx="7174574" cy="62865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2: Grouped bar chart of AUM by fund house (2022-2025). SBI Funds leads at Rs.12.5 Lakh Crore in 2025.</a:t>
            </a:r>
          </a:p>
          <a:p>
            <a:pPr algn="ctr">
              <a:lnSpc>
                <a:spcPts val="1709"/>
              </a:lnSpc>
              <a:spcBef>
                <a:spcPct val="0"/>
              </a:spcBef>
            </a:pPr>
            <a:endParaRPr lang="en-US" sz="1425" i="1">
              <a:solidFill>
                <a:srgbClr val="4A5568"/>
              </a:solidFill>
              <a:latin typeface="DM Sans Italics"/>
              <a:ea typeface="DM Sans Italics"/>
              <a:cs typeface="DM Sans Italics"/>
              <a:sym typeface="DM Sans Itali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6209874" y="1328190"/>
            <a:ext cx="0" cy="4303044"/>
          </a:xfrm>
          <a:prstGeom prst="line">
            <a:avLst/>
          </a:prstGeom>
          <a:ln w="38100" cap="flat">
            <a:solidFill>
              <a:srgbClr val="132338"/>
            </a:solidFill>
            <a:prstDash val="solid"/>
            <a:headEnd type="none" w="sm" len="sm"/>
            <a:tailEnd type="none" w="sm" len="sm"/>
          </a:ln>
        </p:spPr>
      </p:sp>
      <p:sp>
        <p:nvSpPr>
          <p:cNvPr id="3" name="AutoShape 3"/>
          <p:cNvSpPr/>
          <p:nvPr/>
        </p:nvSpPr>
        <p:spPr>
          <a:xfrm flipV="1">
            <a:off x="12615207" y="1328190"/>
            <a:ext cx="0" cy="4303044"/>
          </a:xfrm>
          <a:prstGeom prst="line">
            <a:avLst/>
          </a:prstGeom>
          <a:ln w="38100" cap="flat">
            <a:solidFill>
              <a:srgbClr val="132338"/>
            </a:solidFill>
            <a:prstDash val="solid"/>
            <a:headEnd type="none" w="sm" len="sm"/>
            <a:tailEnd type="none" w="sm" len="sm"/>
          </a:ln>
        </p:spPr>
      </p:sp>
      <p:grpSp>
        <p:nvGrpSpPr>
          <p:cNvPr id="4" name="Group 4"/>
          <p:cNvGrpSpPr/>
          <p:nvPr/>
        </p:nvGrpSpPr>
        <p:grpSpPr>
          <a:xfrm>
            <a:off x="-9525" y="-9525"/>
            <a:ext cx="18302478" cy="1527810"/>
            <a:chOff x="0" y="0"/>
            <a:chExt cx="24403304" cy="2037080"/>
          </a:xfrm>
        </p:grpSpPr>
        <p:sp>
          <p:nvSpPr>
            <p:cNvPr id="5" name="Freeform 5"/>
            <p:cNvSpPr/>
            <p:nvPr/>
          </p:nvSpPr>
          <p:spPr>
            <a:xfrm>
              <a:off x="0" y="0"/>
              <a:ext cx="24403304" cy="2037080"/>
            </a:xfrm>
            <a:custGeom>
              <a:avLst/>
              <a:gdLst/>
              <a:ahLst/>
              <a:cxnLst/>
              <a:rect l="l" t="t" r="r" b="b"/>
              <a:pathLst>
                <a:path w="24403304" h="2037080">
                  <a:moveTo>
                    <a:pt x="0" y="0"/>
                  </a:moveTo>
                  <a:lnTo>
                    <a:pt x="24403304" y="0"/>
                  </a:lnTo>
                  <a:lnTo>
                    <a:pt x="24403304" y="2037080"/>
                  </a:lnTo>
                  <a:lnTo>
                    <a:pt x="0" y="2037080"/>
                  </a:lnTo>
                  <a:close/>
                </a:path>
              </a:pathLst>
            </a:custGeom>
            <a:solidFill>
              <a:srgbClr val="132338"/>
            </a:solidFill>
            <a:ln w="19050" cap="sq">
              <a:solidFill>
                <a:srgbClr val="0D1B2A"/>
              </a:solidFill>
              <a:prstDash val="solid"/>
              <a:miter/>
            </a:ln>
          </p:spPr>
        </p:sp>
      </p:grpSp>
      <p:grpSp>
        <p:nvGrpSpPr>
          <p:cNvPr id="6" name="Group 6"/>
          <p:cNvGrpSpPr/>
          <p:nvPr/>
        </p:nvGrpSpPr>
        <p:grpSpPr>
          <a:xfrm>
            <a:off x="548640" y="137160"/>
            <a:ext cx="16911828" cy="822960"/>
            <a:chOff x="0" y="0"/>
            <a:chExt cx="22549104" cy="1097280"/>
          </a:xfrm>
        </p:grpSpPr>
        <p:sp>
          <p:nvSpPr>
            <p:cNvPr id="7" name="Freeform 7"/>
            <p:cNvSpPr/>
            <p:nvPr/>
          </p:nvSpPr>
          <p:spPr>
            <a:xfrm>
              <a:off x="0" y="0"/>
              <a:ext cx="22549104" cy="1097280"/>
            </a:xfrm>
            <a:custGeom>
              <a:avLst/>
              <a:gdLst/>
              <a:ahLst/>
              <a:cxnLst/>
              <a:rect l="l" t="t" r="r" b="b"/>
              <a:pathLst>
                <a:path w="22549104" h="1097280">
                  <a:moveTo>
                    <a:pt x="0" y="0"/>
                  </a:moveTo>
                  <a:lnTo>
                    <a:pt x="22549104" y="0"/>
                  </a:lnTo>
                  <a:lnTo>
                    <a:pt x="22549104" y="1097280"/>
                  </a:lnTo>
                  <a:lnTo>
                    <a:pt x="0" y="1097280"/>
                  </a:lnTo>
                  <a:close/>
                </a:path>
              </a:pathLst>
            </a:custGeom>
            <a:blipFill>
              <a:blip r:embed="rId3">
                <a:alphaModFix amt="0"/>
              </a:blip>
              <a:stretch>
                <a:fillRect t="-350417" b="-350417"/>
              </a:stretch>
            </a:blipFill>
          </p:spPr>
        </p:sp>
        <p:sp>
          <p:nvSpPr>
            <p:cNvPr id="8" name="TextBox 8"/>
            <p:cNvSpPr txBox="1"/>
            <p:nvPr/>
          </p:nvSpPr>
          <p:spPr>
            <a:xfrm>
              <a:off x="0" y="0"/>
              <a:ext cx="22549104" cy="1097280"/>
            </a:xfrm>
            <a:prstGeom prst="rect">
              <a:avLst/>
            </a:prstGeom>
          </p:spPr>
          <p:txBody>
            <a:bodyPr lIns="0" tIns="0" rIns="0" bIns="0" rtlCol="0" anchor="ctr"/>
            <a:lstStyle/>
            <a:p>
              <a:pPr algn="l">
                <a:lnSpc>
                  <a:spcPts val="5040"/>
                </a:lnSpc>
              </a:pPr>
              <a:r>
                <a:rPr lang="en-US" sz="4200" b="1">
                  <a:solidFill>
                    <a:srgbClr val="FFFFFF"/>
                  </a:solidFill>
                  <a:latin typeface="DM Sans Bold"/>
                  <a:ea typeface="DM Sans Bold"/>
                  <a:cs typeface="DM Sans Bold"/>
                  <a:sym typeface="DM Sans Bold"/>
                </a:rPr>
                <a:t>EDA Highlights — Investor Demographics</a:t>
              </a:r>
            </a:p>
          </p:txBody>
        </p:sp>
      </p:grpSp>
      <p:grpSp>
        <p:nvGrpSpPr>
          <p:cNvPr id="9" name="Group 9"/>
          <p:cNvGrpSpPr/>
          <p:nvPr/>
        </p:nvGrpSpPr>
        <p:grpSpPr>
          <a:xfrm>
            <a:off x="548640" y="891540"/>
            <a:ext cx="16911828" cy="521208"/>
            <a:chOff x="0" y="0"/>
            <a:chExt cx="22549104" cy="694944"/>
          </a:xfrm>
        </p:grpSpPr>
        <p:sp>
          <p:nvSpPr>
            <p:cNvPr id="10" name="Freeform 10"/>
            <p:cNvSpPr/>
            <p:nvPr/>
          </p:nvSpPr>
          <p:spPr>
            <a:xfrm>
              <a:off x="0" y="0"/>
              <a:ext cx="22549104" cy="694944"/>
            </a:xfrm>
            <a:custGeom>
              <a:avLst/>
              <a:gdLst/>
              <a:ahLst/>
              <a:cxnLst/>
              <a:rect l="l" t="t" r="r" b="b"/>
              <a:pathLst>
                <a:path w="22549104" h="694944">
                  <a:moveTo>
                    <a:pt x="0" y="0"/>
                  </a:moveTo>
                  <a:lnTo>
                    <a:pt x="22549104" y="0"/>
                  </a:lnTo>
                  <a:lnTo>
                    <a:pt x="22549104" y="694944"/>
                  </a:lnTo>
                  <a:lnTo>
                    <a:pt x="0" y="694944"/>
                  </a:lnTo>
                  <a:close/>
                </a:path>
              </a:pathLst>
            </a:custGeom>
            <a:blipFill>
              <a:blip r:embed="rId3">
                <a:alphaModFix amt="0"/>
              </a:blip>
              <a:stretch>
                <a:fillRect t="-582238" b="-582238"/>
              </a:stretch>
            </a:blipFill>
          </p:spPr>
        </p:sp>
        <p:sp>
          <p:nvSpPr>
            <p:cNvPr id="11" name="TextBox 11"/>
            <p:cNvSpPr txBox="1"/>
            <p:nvPr/>
          </p:nvSpPr>
          <p:spPr>
            <a:xfrm>
              <a:off x="0" y="9525"/>
              <a:ext cx="22549104" cy="685419"/>
            </a:xfrm>
            <a:prstGeom prst="rect">
              <a:avLst/>
            </a:prstGeom>
          </p:spPr>
          <p:txBody>
            <a:bodyPr lIns="0" tIns="0" rIns="0" bIns="0" rtlCol="0" anchor="ctr"/>
            <a:lstStyle/>
            <a:p>
              <a:pPr algn="l">
                <a:lnSpc>
                  <a:spcPts val="2340"/>
                </a:lnSpc>
              </a:pPr>
              <a:r>
                <a:rPr lang="en-US" sz="1950">
                  <a:solidFill>
                    <a:srgbClr val="DCEDFA"/>
                  </a:solidFill>
                  <a:latin typeface="DM Sans"/>
                  <a:ea typeface="DM Sans"/>
                  <a:cs typeface="DM Sans"/>
                  <a:sym typeface="DM Sans"/>
                </a:rPr>
                <a:t>Who invests, from where, and how</a:t>
              </a:r>
            </a:p>
          </p:txBody>
        </p:sp>
      </p:grpSp>
      <p:grpSp>
        <p:nvGrpSpPr>
          <p:cNvPr id="12" name="Group 12"/>
          <p:cNvGrpSpPr/>
          <p:nvPr/>
        </p:nvGrpSpPr>
        <p:grpSpPr>
          <a:xfrm>
            <a:off x="-9525" y="1499235"/>
            <a:ext cx="18302478" cy="73914"/>
            <a:chOff x="0" y="0"/>
            <a:chExt cx="24403304" cy="98552"/>
          </a:xfrm>
        </p:grpSpPr>
        <p:sp>
          <p:nvSpPr>
            <p:cNvPr id="13" name="Freeform 13"/>
            <p:cNvSpPr/>
            <p:nvPr/>
          </p:nvSpPr>
          <p:spPr>
            <a:xfrm>
              <a:off x="0" y="0"/>
              <a:ext cx="24403304" cy="98552"/>
            </a:xfrm>
            <a:custGeom>
              <a:avLst/>
              <a:gdLst/>
              <a:ahLst/>
              <a:cxnLst/>
              <a:rect l="l" t="t" r="r" b="b"/>
              <a:pathLst>
                <a:path w="24403304" h="98552">
                  <a:moveTo>
                    <a:pt x="0" y="0"/>
                  </a:moveTo>
                  <a:lnTo>
                    <a:pt x="24403304" y="0"/>
                  </a:lnTo>
                  <a:lnTo>
                    <a:pt x="24403304" y="98552"/>
                  </a:lnTo>
                  <a:lnTo>
                    <a:pt x="0" y="98552"/>
                  </a:lnTo>
                  <a:close/>
                </a:path>
              </a:pathLst>
            </a:custGeom>
            <a:solidFill>
              <a:srgbClr val="1565C0"/>
            </a:solidFill>
            <a:ln w="19050" cap="sq">
              <a:solidFill>
                <a:srgbClr val="1565C0"/>
              </a:solidFill>
              <a:prstDash val="solid"/>
              <a:miter/>
            </a:ln>
          </p:spPr>
        </p:sp>
      </p:grpSp>
      <p:sp>
        <p:nvSpPr>
          <p:cNvPr id="14" name="AutoShape 14"/>
          <p:cNvSpPr/>
          <p:nvPr/>
        </p:nvSpPr>
        <p:spPr>
          <a:xfrm flipV="1">
            <a:off x="8958474" y="5627340"/>
            <a:ext cx="0" cy="4303044"/>
          </a:xfrm>
          <a:prstGeom prst="line">
            <a:avLst/>
          </a:prstGeom>
          <a:ln w="38100" cap="flat">
            <a:solidFill>
              <a:srgbClr val="FFAB32"/>
            </a:solidFill>
            <a:prstDash val="solid"/>
            <a:headEnd type="none" w="sm" len="sm"/>
            <a:tailEnd type="none" w="sm" len="sm"/>
          </a:ln>
        </p:spPr>
      </p:sp>
      <p:grpSp>
        <p:nvGrpSpPr>
          <p:cNvPr id="15" name="Group 15"/>
          <p:cNvGrpSpPr/>
          <p:nvPr/>
        </p:nvGrpSpPr>
        <p:grpSpPr>
          <a:xfrm>
            <a:off x="-9525" y="9893427"/>
            <a:ext cx="18302478" cy="403098"/>
            <a:chOff x="0" y="0"/>
            <a:chExt cx="24403304" cy="537464"/>
          </a:xfrm>
        </p:grpSpPr>
        <p:sp>
          <p:nvSpPr>
            <p:cNvPr id="16" name="Freeform 16"/>
            <p:cNvSpPr/>
            <p:nvPr/>
          </p:nvSpPr>
          <p:spPr>
            <a:xfrm>
              <a:off x="0" y="0"/>
              <a:ext cx="24403304" cy="537464"/>
            </a:xfrm>
            <a:custGeom>
              <a:avLst/>
              <a:gdLst/>
              <a:ahLst/>
              <a:cxnLst/>
              <a:rect l="l" t="t" r="r" b="b"/>
              <a:pathLst>
                <a:path w="24403304" h="537464">
                  <a:moveTo>
                    <a:pt x="0" y="0"/>
                  </a:moveTo>
                  <a:lnTo>
                    <a:pt x="24403304" y="0"/>
                  </a:lnTo>
                  <a:lnTo>
                    <a:pt x="24403304" y="537464"/>
                  </a:lnTo>
                  <a:lnTo>
                    <a:pt x="0" y="537464"/>
                  </a:lnTo>
                  <a:close/>
                </a:path>
              </a:pathLst>
            </a:custGeom>
            <a:solidFill>
              <a:srgbClr val="132338"/>
            </a:solidFill>
            <a:ln w="19050" cap="sq">
              <a:solidFill>
                <a:srgbClr val="0D1B2A"/>
              </a:solidFill>
              <a:prstDash val="solid"/>
              <a:miter/>
            </a:ln>
          </p:spPr>
        </p:sp>
      </p:grpSp>
      <p:grpSp>
        <p:nvGrpSpPr>
          <p:cNvPr id="17" name="Group 17"/>
          <p:cNvGrpSpPr/>
          <p:nvPr/>
        </p:nvGrpSpPr>
        <p:grpSpPr>
          <a:xfrm>
            <a:off x="16911828" y="9930384"/>
            <a:ext cx="1097280" cy="329184"/>
            <a:chOff x="0" y="0"/>
            <a:chExt cx="1463040" cy="438912"/>
          </a:xfrm>
        </p:grpSpPr>
        <p:sp>
          <p:nvSpPr>
            <p:cNvPr id="18" name="Freeform 18"/>
            <p:cNvSpPr/>
            <p:nvPr/>
          </p:nvSpPr>
          <p:spPr>
            <a:xfrm>
              <a:off x="0" y="0"/>
              <a:ext cx="1463040" cy="438912"/>
            </a:xfrm>
            <a:custGeom>
              <a:avLst/>
              <a:gdLst/>
              <a:ahLst/>
              <a:cxnLst/>
              <a:rect l="l" t="t" r="r" b="b"/>
              <a:pathLst>
                <a:path w="1463040" h="438912">
                  <a:moveTo>
                    <a:pt x="0" y="0"/>
                  </a:moveTo>
                  <a:lnTo>
                    <a:pt x="1463040" y="0"/>
                  </a:lnTo>
                  <a:lnTo>
                    <a:pt x="1463040" y="438912"/>
                  </a:lnTo>
                  <a:lnTo>
                    <a:pt x="0" y="438912"/>
                  </a:lnTo>
                  <a:close/>
                </a:path>
              </a:pathLst>
            </a:custGeom>
            <a:blipFill>
              <a:blip r:embed="rId3">
                <a:alphaModFix amt="0"/>
              </a:blip>
              <a:stretch>
                <a:fillRect t="-14950" b="-14950"/>
              </a:stretch>
            </a:blipFill>
          </p:spPr>
        </p:sp>
        <p:sp>
          <p:nvSpPr>
            <p:cNvPr id="19" name="TextBox 19"/>
            <p:cNvSpPr txBox="1"/>
            <p:nvPr/>
          </p:nvSpPr>
          <p:spPr>
            <a:xfrm>
              <a:off x="0" y="-9525"/>
              <a:ext cx="1463040" cy="448437"/>
            </a:xfrm>
            <a:prstGeom prst="rect">
              <a:avLst/>
            </a:prstGeom>
          </p:spPr>
          <p:txBody>
            <a:bodyPr lIns="0" tIns="0" rIns="0" bIns="0" rtlCol="0" anchor="ctr"/>
            <a:lstStyle/>
            <a:p>
              <a:pPr algn="r">
                <a:lnSpc>
                  <a:spcPts val="1439"/>
                </a:lnSpc>
              </a:pPr>
              <a:r>
                <a:rPr lang="en-US" sz="1200">
                  <a:solidFill>
                    <a:srgbClr val="DCEDFA"/>
                  </a:solidFill>
                  <a:latin typeface="DM Sans"/>
                  <a:ea typeface="DM Sans"/>
                  <a:cs typeface="DM Sans"/>
                  <a:sym typeface="DM Sans"/>
                </a:rPr>
                <a:t>6 / 12</a:t>
              </a:r>
            </a:p>
          </p:txBody>
        </p:sp>
      </p:grpSp>
      <p:grpSp>
        <p:nvGrpSpPr>
          <p:cNvPr id="20" name="Group 20"/>
          <p:cNvGrpSpPr/>
          <p:nvPr/>
        </p:nvGrpSpPr>
        <p:grpSpPr>
          <a:xfrm>
            <a:off x="411480" y="9930384"/>
            <a:ext cx="16363188" cy="329184"/>
            <a:chOff x="0" y="0"/>
            <a:chExt cx="21817584" cy="438912"/>
          </a:xfrm>
        </p:grpSpPr>
        <p:sp>
          <p:nvSpPr>
            <p:cNvPr id="21" name="Freeform 21"/>
            <p:cNvSpPr/>
            <p:nvPr/>
          </p:nvSpPr>
          <p:spPr>
            <a:xfrm>
              <a:off x="0" y="0"/>
              <a:ext cx="21817585" cy="438912"/>
            </a:xfrm>
            <a:custGeom>
              <a:avLst/>
              <a:gdLst/>
              <a:ahLst/>
              <a:cxnLst/>
              <a:rect l="l" t="t" r="r" b="b"/>
              <a:pathLst>
                <a:path w="21817585" h="438912">
                  <a:moveTo>
                    <a:pt x="0" y="0"/>
                  </a:moveTo>
                  <a:lnTo>
                    <a:pt x="21817585" y="0"/>
                  </a:lnTo>
                  <a:lnTo>
                    <a:pt x="21817585" y="438912"/>
                  </a:lnTo>
                  <a:lnTo>
                    <a:pt x="0" y="438912"/>
                  </a:lnTo>
                  <a:close/>
                </a:path>
              </a:pathLst>
            </a:custGeom>
            <a:blipFill>
              <a:blip r:embed="rId3">
                <a:alphaModFix amt="0"/>
              </a:blip>
              <a:stretch>
                <a:fillRect t="-918568" b="-918568"/>
              </a:stretch>
            </a:blipFill>
          </p:spPr>
        </p:sp>
        <p:sp>
          <p:nvSpPr>
            <p:cNvPr id="22" name="TextBox 22"/>
            <p:cNvSpPr txBox="1"/>
            <p:nvPr/>
          </p:nvSpPr>
          <p:spPr>
            <a:xfrm>
              <a:off x="0" y="-9525"/>
              <a:ext cx="21817584" cy="448437"/>
            </a:xfrm>
            <a:prstGeom prst="rect">
              <a:avLst/>
            </a:prstGeom>
          </p:spPr>
          <p:txBody>
            <a:bodyPr lIns="0" tIns="0" rIns="0" bIns="0" rtlCol="0" anchor="ctr"/>
            <a:lstStyle/>
            <a:p>
              <a:pPr algn="l">
                <a:lnSpc>
                  <a:spcPts val="1439"/>
                </a:lnSpc>
              </a:pPr>
              <a:r>
                <a:rPr lang="en-US" sz="1200">
                  <a:solidFill>
                    <a:srgbClr val="DCEDFA"/>
                  </a:solidFill>
                  <a:latin typeface="DM Sans"/>
                  <a:ea typeface="DM Sans"/>
                  <a:cs typeface="DM Sans"/>
                  <a:sym typeface="DM Sans"/>
                </a:rPr>
                <a:t>Bluestock Fintech  |  Capstone Project I - Mutual Fund Analytics</a:t>
              </a:r>
            </a:p>
          </p:txBody>
        </p:sp>
      </p:grpSp>
      <p:sp>
        <p:nvSpPr>
          <p:cNvPr id="23" name="Freeform 23"/>
          <p:cNvSpPr/>
          <p:nvPr/>
        </p:nvSpPr>
        <p:spPr>
          <a:xfrm>
            <a:off x="185238" y="1658874"/>
            <a:ext cx="4186272" cy="4056576"/>
          </a:xfrm>
          <a:custGeom>
            <a:avLst/>
            <a:gdLst/>
            <a:ahLst/>
            <a:cxnLst/>
            <a:rect l="l" t="t" r="r" b="b"/>
            <a:pathLst>
              <a:path w="4186272" h="4056576">
                <a:moveTo>
                  <a:pt x="0" y="0"/>
                </a:moveTo>
                <a:lnTo>
                  <a:pt x="4186272" y="0"/>
                </a:lnTo>
                <a:lnTo>
                  <a:pt x="4186272" y="4056576"/>
                </a:lnTo>
                <a:lnTo>
                  <a:pt x="0" y="4056576"/>
                </a:lnTo>
                <a:lnTo>
                  <a:pt x="0" y="0"/>
                </a:lnTo>
                <a:close/>
              </a:path>
            </a:pathLst>
          </a:custGeom>
          <a:blipFill>
            <a:blip r:embed="rId4"/>
            <a:stretch>
              <a:fillRect t="-5979"/>
            </a:stretch>
          </a:blipFill>
        </p:spPr>
      </p:sp>
      <p:sp>
        <p:nvSpPr>
          <p:cNvPr id="24" name="Freeform 24"/>
          <p:cNvSpPr/>
          <p:nvPr/>
        </p:nvSpPr>
        <p:spPr>
          <a:xfrm>
            <a:off x="12773835" y="1658874"/>
            <a:ext cx="3917571" cy="3224585"/>
          </a:xfrm>
          <a:custGeom>
            <a:avLst/>
            <a:gdLst/>
            <a:ahLst/>
            <a:cxnLst/>
            <a:rect l="l" t="t" r="r" b="b"/>
            <a:pathLst>
              <a:path w="3917571" h="3224585">
                <a:moveTo>
                  <a:pt x="0" y="0"/>
                </a:moveTo>
                <a:lnTo>
                  <a:pt x="3917571" y="0"/>
                </a:lnTo>
                <a:lnTo>
                  <a:pt x="3917571" y="3224585"/>
                </a:lnTo>
                <a:lnTo>
                  <a:pt x="0" y="3224585"/>
                </a:lnTo>
                <a:lnTo>
                  <a:pt x="0" y="0"/>
                </a:lnTo>
                <a:close/>
              </a:path>
            </a:pathLst>
          </a:custGeom>
          <a:blipFill>
            <a:blip r:embed="rId5"/>
            <a:stretch>
              <a:fillRect t="-15390" b="-10670"/>
            </a:stretch>
          </a:blipFill>
        </p:spPr>
      </p:sp>
      <p:sp>
        <p:nvSpPr>
          <p:cNvPr id="25" name="Freeform 25"/>
          <p:cNvSpPr/>
          <p:nvPr/>
        </p:nvSpPr>
        <p:spPr>
          <a:xfrm>
            <a:off x="6543249" y="1573149"/>
            <a:ext cx="4279354" cy="3968466"/>
          </a:xfrm>
          <a:custGeom>
            <a:avLst/>
            <a:gdLst/>
            <a:ahLst/>
            <a:cxnLst/>
            <a:rect l="l" t="t" r="r" b="b"/>
            <a:pathLst>
              <a:path w="4279354" h="3968466">
                <a:moveTo>
                  <a:pt x="0" y="0"/>
                </a:moveTo>
                <a:lnTo>
                  <a:pt x="4279354" y="0"/>
                </a:lnTo>
                <a:lnTo>
                  <a:pt x="4279354" y="3968466"/>
                </a:lnTo>
                <a:lnTo>
                  <a:pt x="0" y="3968466"/>
                </a:lnTo>
                <a:lnTo>
                  <a:pt x="0" y="0"/>
                </a:lnTo>
                <a:close/>
              </a:path>
            </a:pathLst>
          </a:custGeom>
          <a:blipFill>
            <a:blip r:embed="rId6"/>
            <a:stretch>
              <a:fillRect t="-11889"/>
            </a:stretch>
          </a:blipFill>
        </p:spPr>
      </p:sp>
      <p:sp>
        <p:nvSpPr>
          <p:cNvPr id="26" name="Freeform 26"/>
          <p:cNvSpPr/>
          <p:nvPr/>
        </p:nvSpPr>
        <p:spPr>
          <a:xfrm>
            <a:off x="1157654" y="5915475"/>
            <a:ext cx="6699662" cy="3676171"/>
          </a:xfrm>
          <a:custGeom>
            <a:avLst/>
            <a:gdLst/>
            <a:ahLst/>
            <a:cxnLst/>
            <a:rect l="l" t="t" r="r" b="b"/>
            <a:pathLst>
              <a:path w="6699662" h="3676171">
                <a:moveTo>
                  <a:pt x="0" y="0"/>
                </a:moveTo>
                <a:lnTo>
                  <a:pt x="6699662" y="0"/>
                </a:lnTo>
                <a:lnTo>
                  <a:pt x="6699662" y="3676170"/>
                </a:lnTo>
                <a:lnTo>
                  <a:pt x="0" y="3676170"/>
                </a:lnTo>
                <a:lnTo>
                  <a:pt x="0" y="0"/>
                </a:lnTo>
                <a:close/>
              </a:path>
            </a:pathLst>
          </a:custGeom>
          <a:blipFill>
            <a:blip r:embed="rId7"/>
            <a:stretch>
              <a:fillRect t="-5246"/>
            </a:stretch>
          </a:blipFill>
        </p:spPr>
      </p:sp>
      <p:sp>
        <p:nvSpPr>
          <p:cNvPr id="27" name="Freeform 27"/>
          <p:cNvSpPr/>
          <p:nvPr/>
        </p:nvSpPr>
        <p:spPr>
          <a:xfrm>
            <a:off x="10059631" y="5926509"/>
            <a:ext cx="6128439" cy="3674661"/>
          </a:xfrm>
          <a:custGeom>
            <a:avLst/>
            <a:gdLst/>
            <a:ahLst/>
            <a:cxnLst/>
            <a:rect l="l" t="t" r="r" b="b"/>
            <a:pathLst>
              <a:path w="6128439" h="3674661">
                <a:moveTo>
                  <a:pt x="0" y="0"/>
                </a:moveTo>
                <a:lnTo>
                  <a:pt x="6128439" y="0"/>
                </a:lnTo>
                <a:lnTo>
                  <a:pt x="6128439" y="3674661"/>
                </a:lnTo>
                <a:lnTo>
                  <a:pt x="0" y="3674661"/>
                </a:lnTo>
                <a:lnTo>
                  <a:pt x="0" y="0"/>
                </a:lnTo>
                <a:close/>
              </a:path>
            </a:pathLst>
          </a:custGeom>
          <a:blipFill>
            <a:blip r:embed="rId8"/>
            <a:stretch>
              <a:fillRect t="-3616" b="-45439"/>
            </a:stretch>
          </a:blipFill>
        </p:spPr>
      </p:sp>
      <p:sp>
        <p:nvSpPr>
          <p:cNvPr id="28" name="TextBox 28"/>
          <p:cNvSpPr txBox="1"/>
          <p:nvPr/>
        </p:nvSpPr>
        <p:spPr>
          <a:xfrm>
            <a:off x="3644594" y="4464359"/>
            <a:ext cx="2128288" cy="41910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3: Investor age group distribuition</a:t>
            </a:r>
          </a:p>
        </p:txBody>
      </p:sp>
      <p:sp>
        <p:nvSpPr>
          <p:cNvPr id="29" name="TextBox 29"/>
          <p:cNvSpPr txBox="1"/>
          <p:nvPr/>
        </p:nvSpPr>
        <p:spPr>
          <a:xfrm>
            <a:off x="2947128" y="9544020"/>
            <a:ext cx="2919264" cy="20955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6: Total SIP amount by state</a:t>
            </a:r>
          </a:p>
        </p:txBody>
      </p:sp>
      <p:sp>
        <p:nvSpPr>
          <p:cNvPr id="30" name="TextBox 30"/>
          <p:cNvSpPr txBox="1"/>
          <p:nvPr/>
        </p:nvSpPr>
        <p:spPr>
          <a:xfrm>
            <a:off x="11458572" y="9591645"/>
            <a:ext cx="4106168" cy="20955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7: NAV return correlation (Top 10 Scheme)</a:t>
            </a:r>
          </a:p>
        </p:txBody>
      </p:sp>
      <p:sp>
        <p:nvSpPr>
          <p:cNvPr id="31" name="TextBox 31"/>
          <p:cNvSpPr txBox="1"/>
          <p:nvPr/>
        </p:nvSpPr>
        <p:spPr>
          <a:xfrm>
            <a:off x="10270592" y="4045259"/>
            <a:ext cx="2185988" cy="41910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4: Investor gender distribuition</a:t>
            </a:r>
          </a:p>
        </p:txBody>
      </p:sp>
      <p:sp>
        <p:nvSpPr>
          <p:cNvPr id="32" name="TextBox 32"/>
          <p:cNvSpPr txBox="1"/>
          <p:nvPr/>
        </p:nvSpPr>
        <p:spPr>
          <a:xfrm>
            <a:off x="15667467" y="4254809"/>
            <a:ext cx="2214402" cy="41910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5: T30 vs B30 distribuition</a:t>
            </a:r>
          </a:p>
        </p:txBody>
      </p:sp>
      <p:grpSp>
        <p:nvGrpSpPr>
          <p:cNvPr id="33" name="Group 33"/>
          <p:cNvGrpSpPr/>
          <p:nvPr/>
        </p:nvGrpSpPr>
        <p:grpSpPr>
          <a:xfrm>
            <a:off x="-178856" y="5546688"/>
            <a:ext cx="18641141" cy="111612"/>
            <a:chOff x="0" y="0"/>
            <a:chExt cx="24854854" cy="148816"/>
          </a:xfrm>
        </p:grpSpPr>
        <p:grpSp>
          <p:nvGrpSpPr>
            <p:cNvPr id="34" name="Group 34"/>
            <p:cNvGrpSpPr/>
            <p:nvPr/>
          </p:nvGrpSpPr>
          <p:grpSpPr>
            <a:xfrm>
              <a:off x="0" y="0"/>
              <a:ext cx="3550693" cy="148816"/>
              <a:chOff x="0" y="0"/>
              <a:chExt cx="646783" cy="27108"/>
            </a:xfrm>
          </p:grpSpPr>
          <p:sp>
            <p:nvSpPr>
              <p:cNvPr id="35" name="Freeform 35"/>
              <p:cNvSpPr/>
              <p:nvPr/>
            </p:nvSpPr>
            <p:spPr>
              <a:xfrm>
                <a:off x="0" y="0"/>
                <a:ext cx="646783" cy="27108"/>
              </a:xfrm>
              <a:custGeom>
                <a:avLst/>
                <a:gdLst/>
                <a:ahLst/>
                <a:cxnLst/>
                <a:rect l="l" t="t" r="r" b="b"/>
                <a:pathLst>
                  <a:path w="646783" h="27108">
                    <a:moveTo>
                      <a:pt x="0" y="0"/>
                    </a:moveTo>
                    <a:lnTo>
                      <a:pt x="646783" y="0"/>
                    </a:lnTo>
                    <a:lnTo>
                      <a:pt x="646783" y="27108"/>
                    </a:lnTo>
                    <a:lnTo>
                      <a:pt x="0" y="27108"/>
                    </a:lnTo>
                    <a:close/>
                  </a:path>
                </a:pathLst>
              </a:custGeom>
              <a:solidFill>
                <a:srgbClr val="1A5276"/>
              </a:solidFill>
            </p:spPr>
          </p:sp>
          <p:sp>
            <p:nvSpPr>
              <p:cNvPr id="36" name="TextBox 36"/>
              <p:cNvSpPr txBox="1"/>
              <p:nvPr/>
            </p:nvSpPr>
            <p:spPr>
              <a:xfrm>
                <a:off x="0" y="0"/>
                <a:ext cx="646783" cy="27108"/>
              </a:xfrm>
              <a:prstGeom prst="rect">
                <a:avLst/>
              </a:prstGeom>
            </p:spPr>
            <p:txBody>
              <a:bodyPr lIns="50800" tIns="50800" rIns="50800" bIns="50800" rtlCol="0" anchor="ctr"/>
              <a:lstStyle/>
              <a:p>
                <a:pPr algn="ctr">
                  <a:lnSpc>
                    <a:spcPts val="1709"/>
                  </a:lnSpc>
                </a:pPr>
                <a:endParaRPr/>
              </a:p>
            </p:txBody>
          </p:sp>
        </p:grpSp>
        <p:grpSp>
          <p:nvGrpSpPr>
            <p:cNvPr id="37" name="Group 37"/>
            <p:cNvGrpSpPr/>
            <p:nvPr/>
          </p:nvGrpSpPr>
          <p:grpSpPr>
            <a:xfrm>
              <a:off x="14202774" y="0"/>
              <a:ext cx="3550693" cy="148816"/>
              <a:chOff x="0" y="0"/>
              <a:chExt cx="646783" cy="27108"/>
            </a:xfrm>
          </p:grpSpPr>
          <p:sp>
            <p:nvSpPr>
              <p:cNvPr id="38" name="Freeform 38"/>
              <p:cNvSpPr/>
              <p:nvPr/>
            </p:nvSpPr>
            <p:spPr>
              <a:xfrm>
                <a:off x="0" y="0"/>
                <a:ext cx="646783" cy="27108"/>
              </a:xfrm>
              <a:custGeom>
                <a:avLst/>
                <a:gdLst/>
                <a:ahLst/>
                <a:cxnLst/>
                <a:rect l="l" t="t" r="r" b="b"/>
                <a:pathLst>
                  <a:path w="646783" h="27108">
                    <a:moveTo>
                      <a:pt x="0" y="0"/>
                    </a:moveTo>
                    <a:lnTo>
                      <a:pt x="646783" y="0"/>
                    </a:lnTo>
                    <a:lnTo>
                      <a:pt x="646783" y="27108"/>
                    </a:lnTo>
                    <a:lnTo>
                      <a:pt x="0" y="27108"/>
                    </a:lnTo>
                    <a:close/>
                  </a:path>
                </a:pathLst>
              </a:custGeom>
              <a:solidFill>
                <a:srgbClr val="1A5276"/>
              </a:solidFill>
            </p:spPr>
          </p:sp>
          <p:sp>
            <p:nvSpPr>
              <p:cNvPr id="39" name="TextBox 39"/>
              <p:cNvSpPr txBox="1"/>
              <p:nvPr/>
            </p:nvSpPr>
            <p:spPr>
              <a:xfrm>
                <a:off x="0" y="0"/>
                <a:ext cx="646783" cy="27108"/>
              </a:xfrm>
              <a:prstGeom prst="rect">
                <a:avLst/>
              </a:prstGeom>
            </p:spPr>
            <p:txBody>
              <a:bodyPr lIns="50800" tIns="50800" rIns="50800" bIns="50800" rtlCol="0" anchor="ctr"/>
              <a:lstStyle/>
              <a:p>
                <a:pPr algn="ctr">
                  <a:lnSpc>
                    <a:spcPts val="1709"/>
                  </a:lnSpc>
                </a:pPr>
                <a:endParaRPr/>
              </a:p>
            </p:txBody>
          </p:sp>
        </p:grpSp>
        <p:grpSp>
          <p:nvGrpSpPr>
            <p:cNvPr id="40" name="Group 40"/>
            <p:cNvGrpSpPr/>
            <p:nvPr/>
          </p:nvGrpSpPr>
          <p:grpSpPr>
            <a:xfrm>
              <a:off x="7101387" y="0"/>
              <a:ext cx="3550693" cy="148816"/>
              <a:chOff x="0" y="0"/>
              <a:chExt cx="646783" cy="27108"/>
            </a:xfrm>
          </p:grpSpPr>
          <p:sp>
            <p:nvSpPr>
              <p:cNvPr id="41" name="Freeform 41"/>
              <p:cNvSpPr/>
              <p:nvPr/>
            </p:nvSpPr>
            <p:spPr>
              <a:xfrm>
                <a:off x="0" y="0"/>
                <a:ext cx="646783" cy="27108"/>
              </a:xfrm>
              <a:custGeom>
                <a:avLst/>
                <a:gdLst/>
                <a:ahLst/>
                <a:cxnLst/>
                <a:rect l="l" t="t" r="r" b="b"/>
                <a:pathLst>
                  <a:path w="646783" h="27108">
                    <a:moveTo>
                      <a:pt x="0" y="0"/>
                    </a:moveTo>
                    <a:lnTo>
                      <a:pt x="646783" y="0"/>
                    </a:lnTo>
                    <a:lnTo>
                      <a:pt x="646783" y="27108"/>
                    </a:lnTo>
                    <a:lnTo>
                      <a:pt x="0" y="27108"/>
                    </a:lnTo>
                    <a:close/>
                  </a:path>
                </a:pathLst>
              </a:custGeom>
              <a:solidFill>
                <a:srgbClr val="1A5276"/>
              </a:solidFill>
            </p:spPr>
          </p:sp>
          <p:sp>
            <p:nvSpPr>
              <p:cNvPr id="42" name="TextBox 42"/>
              <p:cNvSpPr txBox="1"/>
              <p:nvPr/>
            </p:nvSpPr>
            <p:spPr>
              <a:xfrm>
                <a:off x="0" y="0"/>
                <a:ext cx="646783" cy="27108"/>
              </a:xfrm>
              <a:prstGeom prst="rect">
                <a:avLst/>
              </a:prstGeom>
            </p:spPr>
            <p:txBody>
              <a:bodyPr lIns="50800" tIns="50800" rIns="50800" bIns="50800" rtlCol="0" anchor="ctr"/>
              <a:lstStyle/>
              <a:p>
                <a:pPr algn="ctr">
                  <a:lnSpc>
                    <a:spcPts val="1709"/>
                  </a:lnSpc>
                </a:pPr>
                <a:endParaRPr/>
              </a:p>
            </p:txBody>
          </p:sp>
        </p:grpSp>
        <p:grpSp>
          <p:nvGrpSpPr>
            <p:cNvPr id="43" name="Group 43"/>
            <p:cNvGrpSpPr/>
            <p:nvPr/>
          </p:nvGrpSpPr>
          <p:grpSpPr>
            <a:xfrm>
              <a:off x="21304161" y="0"/>
              <a:ext cx="3550693" cy="148816"/>
              <a:chOff x="0" y="0"/>
              <a:chExt cx="646783" cy="27108"/>
            </a:xfrm>
          </p:grpSpPr>
          <p:sp>
            <p:nvSpPr>
              <p:cNvPr id="44" name="Freeform 44"/>
              <p:cNvSpPr/>
              <p:nvPr/>
            </p:nvSpPr>
            <p:spPr>
              <a:xfrm>
                <a:off x="0" y="0"/>
                <a:ext cx="646783" cy="27108"/>
              </a:xfrm>
              <a:custGeom>
                <a:avLst/>
                <a:gdLst/>
                <a:ahLst/>
                <a:cxnLst/>
                <a:rect l="l" t="t" r="r" b="b"/>
                <a:pathLst>
                  <a:path w="646783" h="27108">
                    <a:moveTo>
                      <a:pt x="0" y="0"/>
                    </a:moveTo>
                    <a:lnTo>
                      <a:pt x="646783" y="0"/>
                    </a:lnTo>
                    <a:lnTo>
                      <a:pt x="646783" y="27108"/>
                    </a:lnTo>
                    <a:lnTo>
                      <a:pt x="0" y="27108"/>
                    </a:lnTo>
                    <a:close/>
                  </a:path>
                </a:pathLst>
              </a:custGeom>
              <a:solidFill>
                <a:srgbClr val="1A5276"/>
              </a:solidFill>
            </p:spPr>
          </p:sp>
          <p:sp>
            <p:nvSpPr>
              <p:cNvPr id="45" name="TextBox 45"/>
              <p:cNvSpPr txBox="1"/>
              <p:nvPr/>
            </p:nvSpPr>
            <p:spPr>
              <a:xfrm>
                <a:off x="0" y="0"/>
                <a:ext cx="646783" cy="27108"/>
              </a:xfrm>
              <a:prstGeom prst="rect">
                <a:avLst/>
              </a:prstGeom>
            </p:spPr>
            <p:txBody>
              <a:bodyPr lIns="50800" tIns="50800" rIns="50800" bIns="50800" rtlCol="0" anchor="ctr"/>
              <a:lstStyle/>
              <a:p>
                <a:pPr algn="ctr">
                  <a:lnSpc>
                    <a:spcPts val="1709"/>
                  </a:lnSpc>
                </a:pPr>
                <a:endParaRPr/>
              </a:p>
            </p:txBody>
          </p:sp>
        </p:grpSp>
        <p:grpSp>
          <p:nvGrpSpPr>
            <p:cNvPr id="46" name="Group 46"/>
            <p:cNvGrpSpPr/>
            <p:nvPr/>
          </p:nvGrpSpPr>
          <p:grpSpPr>
            <a:xfrm>
              <a:off x="3550693" y="0"/>
              <a:ext cx="3550693" cy="148816"/>
              <a:chOff x="0" y="0"/>
              <a:chExt cx="646783" cy="27108"/>
            </a:xfrm>
          </p:grpSpPr>
          <p:sp>
            <p:nvSpPr>
              <p:cNvPr id="47" name="Freeform 47"/>
              <p:cNvSpPr/>
              <p:nvPr/>
            </p:nvSpPr>
            <p:spPr>
              <a:xfrm>
                <a:off x="0" y="0"/>
                <a:ext cx="646783" cy="27108"/>
              </a:xfrm>
              <a:custGeom>
                <a:avLst/>
                <a:gdLst/>
                <a:ahLst/>
                <a:cxnLst/>
                <a:rect l="l" t="t" r="r" b="b"/>
                <a:pathLst>
                  <a:path w="646783" h="27108">
                    <a:moveTo>
                      <a:pt x="0" y="0"/>
                    </a:moveTo>
                    <a:lnTo>
                      <a:pt x="646783" y="0"/>
                    </a:lnTo>
                    <a:lnTo>
                      <a:pt x="646783" y="27108"/>
                    </a:lnTo>
                    <a:lnTo>
                      <a:pt x="0" y="27108"/>
                    </a:lnTo>
                    <a:close/>
                  </a:path>
                </a:pathLst>
              </a:custGeom>
              <a:solidFill>
                <a:srgbClr val="FFAB32"/>
              </a:solidFill>
            </p:spPr>
          </p:sp>
          <p:sp>
            <p:nvSpPr>
              <p:cNvPr id="48" name="TextBox 48"/>
              <p:cNvSpPr txBox="1"/>
              <p:nvPr/>
            </p:nvSpPr>
            <p:spPr>
              <a:xfrm>
                <a:off x="0" y="0"/>
                <a:ext cx="646783" cy="27108"/>
              </a:xfrm>
              <a:prstGeom prst="rect">
                <a:avLst/>
              </a:prstGeom>
            </p:spPr>
            <p:txBody>
              <a:bodyPr lIns="50800" tIns="50800" rIns="50800" bIns="50800" rtlCol="0" anchor="ctr"/>
              <a:lstStyle/>
              <a:p>
                <a:pPr algn="ctr">
                  <a:lnSpc>
                    <a:spcPts val="1709"/>
                  </a:lnSpc>
                </a:pPr>
                <a:endParaRPr/>
              </a:p>
            </p:txBody>
          </p:sp>
        </p:grpSp>
        <p:grpSp>
          <p:nvGrpSpPr>
            <p:cNvPr id="49" name="Group 49"/>
            <p:cNvGrpSpPr/>
            <p:nvPr/>
          </p:nvGrpSpPr>
          <p:grpSpPr>
            <a:xfrm>
              <a:off x="17753467" y="0"/>
              <a:ext cx="3550693" cy="148816"/>
              <a:chOff x="0" y="0"/>
              <a:chExt cx="646783" cy="27108"/>
            </a:xfrm>
          </p:grpSpPr>
          <p:sp>
            <p:nvSpPr>
              <p:cNvPr id="50" name="Freeform 50"/>
              <p:cNvSpPr/>
              <p:nvPr/>
            </p:nvSpPr>
            <p:spPr>
              <a:xfrm>
                <a:off x="0" y="0"/>
                <a:ext cx="646783" cy="27108"/>
              </a:xfrm>
              <a:custGeom>
                <a:avLst/>
                <a:gdLst/>
                <a:ahLst/>
                <a:cxnLst/>
                <a:rect l="l" t="t" r="r" b="b"/>
                <a:pathLst>
                  <a:path w="646783" h="27108">
                    <a:moveTo>
                      <a:pt x="0" y="0"/>
                    </a:moveTo>
                    <a:lnTo>
                      <a:pt x="646783" y="0"/>
                    </a:lnTo>
                    <a:lnTo>
                      <a:pt x="646783" y="27108"/>
                    </a:lnTo>
                    <a:lnTo>
                      <a:pt x="0" y="27108"/>
                    </a:lnTo>
                    <a:close/>
                  </a:path>
                </a:pathLst>
              </a:custGeom>
              <a:solidFill>
                <a:srgbClr val="FFAB32"/>
              </a:solidFill>
            </p:spPr>
          </p:sp>
          <p:sp>
            <p:nvSpPr>
              <p:cNvPr id="51" name="TextBox 51"/>
              <p:cNvSpPr txBox="1"/>
              <p:nvPr/>
            </p:nvSpPr>
            <p:spPr>
              <a:xfrm>
                <a:off x="0" y="0"/>
                <a:ext cx="646783" cy="27108"/>
              </a:xfrm>
              <a:prstGeom prst="rect">
                <a:avLst/>
              </a:prstGeom>
            </p:spPr>
            <p:txBody>
              <a:bodyPr lIns="50800" tIns="50800" rIns="50800" bIns="50800" rtlCol="0" anchor="ctr"/>
              <a:lstStyle/>
              <a:p>
                <a:pPr algn="ctr">
                  <a:lnSpc>
                    <a:spcPts val="1709"/>
                  </a:lnSpc>
                </a:pPr>
                <a:endParaRPr/>
              </a:p>
            </p:txBody>
          </p:sp>
        </p:grpSp>
        <p:grpSp>
          <p:nvGrpSpPr>
            <p:cNvPr id="52" name="Group 52"/>
            <p:cNvGrpSpPr/>
            <p:nvPr/>
          </p:nvGrpSpPr>
          <p:grpSpPr>
            <a:xfrm>
              <a:off x="10652080" y="0"/>
              <a:ext cx="3550693" cy="148816"/>
              <a:chOff x="0" y="0"/>
              <a:chExt cx="646783" cy="27108"/>
            </a:xfrm>
          </p:grpSpPr>
          <p:sp>
            <p:nvSpPr>
              <p:cNvPr id="53" name="Freeform 53"/>
              <p:cNvSpPr/>
              <p:nvPr/>
            </p:nvSpPr>
            <p:spPr>
              <a:xfrm>
                <a:off x="0" y="0"/>
                <a:ext cx="646783" cy="27108"/>
              </a:xfrm>
              <a:custGeom>
                <a:avLst/>
                <a:gdLst/>
                <a:ahLst/>
                <a:cxnLst/>
                <a:rect l="l" t="t" r="r" b="b"/>
                <a:pathLst>
                  <a:path w="646783" h="27108">
                    <a:moveTo>
                      <a:pt x="0" y="0"/>
                    </a:moveTo>
                    <a:lnTo>
                      <a:pt x="646783" y="0"/>
                    </a:lnTo>
                    <a:lnTo>
                      <a:pt x="646783" y="27108"/>
                    </a:lnTo>
                    <a:lnTo>
                      <a:pt x="0" y="27108"/>
                    </a:lnTo>
                    <a:close/>
                  </a:path>
                </a:pathLst>
              </a:custGeom>
              <a:solidFill>
                <a:srgbClr val="FFAB32"/>
              </a:solidFill>
            </p:spPr>
          </p:sp>
          <p:sp>
            <p:nvSpPr>
              <p:cNvPr id="54" name="TextBox 54"/>
              <p:cNvSpPr txBox="1"/>
              <p:nvPr/>
            </p:nvSpPr>
            <p:spPr>
              <a:xfrm>
                <a:off x="0" y="0"/>
                <a:ext cx="646783" cy="27108"/>
              </a:xfrm>
              <a:prstGeom prst="rect">
                <a:avLst/>
              </a:prstGeom>
            </p:spPr>
            <p:txBody>
              <a:bodyPr lIns="50800" tIns="50800" rIns="50800" bIns="50800" rtlCol="0" anchor="ctr"/>
              <a:lstStyle/>
              <a:p>
                <a:pPr algn="ctr">
                  <a:lnSpc>
                    <a:spcPts val="1709"/>
                  </a:lnSpc>
                </a:pP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527810"/>
            <a:chOff x="0" y="0"/>
            <a:chExt cx="24403304" cy="2037080"/>
          </a:xfrm>
        </p:grpSpPr>
        <p:sp>
          <p:nvSpPr>
            <p:cNvPr id="3" name="Freeform 3"/>
            <p:cNvSpPr/>
            <p:nvPr/>
          </p:nvSpPr>
          <p:spPr>
            <a:xfrm>
              <a:off x="0" y="0"/>
              <a:ext cx="24403304" cy="2037080"/>
            </a:xfrm>
            <a:custGeom>
              <a:avLst/>
              <a:gdLst/>
              <a:ahLst/>
              <a:cxnLst/>
              <a:rect l="l" t="t" r="r" b="b"/>
              <a:pathLst>
                <a:path w="24403304" h="2037080">
                  <a:moveTo>
                    <a:pt x="0" y="0"/>
                  </a:moveTo>
                  <a:lnTo>
                    <a:pt x="24403304" y="0"/>
                  </a:lnTo>
                  <a:lnTo>
                    <a:pt x="24403304" y="2037080"/>
                  </a:lnTo>
                  <a:lnTo>
                    <a:pt x="0" y="2037080"/>
                  </a:lnTo>
                  <a:close/>
                </a:path>
              </a:pathLst>
            </a:custGeom>
            <a:solidFill>
              <a:srgbClr val="132338"/>
            </a:solidFill>
            <a:ln w="19050" cap="sq">
              <a:solidFill>
                <a:srgbClr val="0D1B2A"/>
              </a:solidFill>
              <a:prstDash val="solid"/>
              <a:miter/>
            </a:ln>
          </p:spPr>
        </p:sp>
      </p:grpSp>
      <p:grpSp>
        <p:nvGrpSpPr>
          <p:cNvPr id="4" name="Group 4"/>
          <p:cNvGrpSpPr/>
          <p:nvPr/>
        </p:nvGrpSpPr>
        <p:grpSpPr>
          <a:xfrm>
            <a:off x="548640" y="137160"/>
            <a:ext cx="16911828" cy="822960"/>
            <a:chOff x="0" y="0"/>
            <a:chExt cx="22549104" cy="1097280"/>
          </a:xfrm>
        </p:grpSpPr>
        <p:sp>
          <p:nvSpPr>
            <p:cNvPr id="5" name="Freeform 5"/>
            <p:cNvSpPr/>
            <p:nvPr/>
          </p:nvSpPr>
          <p:spPr>
            <a:xfrm>
              <a:off x="0" y="0"/>
              <a:ext cx="22549104" cy="1097280"/>
            </a:xfrm>
            <a:custGeom>
              <a:avLst/>
              <a:gdLst/>
              <a:ahLst/>
              <a:cxnLst/>
              <a:rect l="l" t="t" r="r" b="b"/>
              <a:pathLst>
                <a:path w="22549104" h="1097280">
                  <a:moveTo>
                    <a:pt x="0" y="0"/>
                  </a:moveTo>
                  <a:lnTo>
                    <a:pt x="22549104" y="0"/>
                  </a:lnTo>
                  <a:lnTo>
                    <a:pt x="22549104" y="1097280"/>
                  </a:lnTo>
                  <a:lnTo>
                    <a:pt x="0" y="1097280"/>
                  </a:lnTo>
                  <a:close/>
                </a:path>
              </a:pathLst>
            </a:custGeom>
            <a:blipFill>
              <a:blip r:embed="rId3">
                <a:alphaModFix amt="0"/>
              </a:blip>
              <a:stretch>
                <a:fillRect t="-350417" b="-350417"/>
              </a:stretch>
            </a:blipFill>
          </p:spPr>
        </p:sp>
        <p:sp>
          <p:nvSpPr>
            <p:cNvPr id="6" name="TextBox 6"/>
            <p:cNvSpPr txBox="1"/>
            <p:nvPr/>
          </p:nvSpPr>
          <p:spPr>
            <a:xfrm>
              <a:off x="0" y="0"/>
              <a:ext cx="22549104" cy="1097280"/>
            </a:xfrm>
            <a:prstGeom prst="rect">
              <a:avLst/>
            </a:prstGeom>
          </p:spPr>
          <p:txBody>
            <a:bodyPr lIns="0" tIns="0" rIns="0" bIns="0" rtlCol="0" anchor="ctr"/>
            <a:lstStyle/>
            <a:p>
              <a:pPr algn="l">
                <a:lnSpc>
                  <a:spcPts val="5040"/>
                </a:lnSpc>
              </a:pPr>
              <a:r>
                <a:rPr lang="en-US" sz="4200" b="1">
                  <a:solidFill>
                    <a:srgbClr val="FFFFFF"/>
                  </a:solidFill>
                  <a:latin typeface="DM Sans Bold"/>
                  <a:ea typeface="DM Sans Bold"/>
                  <a:cs typeface="DM Sans Bold"/>
                  <a:sym typeface="DM Sans Bold"/>
                </a:rPr>
                <a:t>Performance Metrics — Fund Scorecard</a:t>
              </a:r>
            </a:p>
          </p:txBody>
        </p:sp>
      </p:grpSp>
      <p:grpSp>
        <p:nvGrpSpPr>
          <p:cNvPr id="7" name="Group 7"/>
          <p:cNvGrpSpPr/>
          <p:nvPr/>
        </p:nvGrpSpPr>
        <p:grpSpPr>
          <a:xfrm>
            <a:off x="548640" y="891540"/>
            <a:ext cx="16911828" cy="521208"/>
            <a:chOff x="0" y="0"/>
            <a:chExt cx="22549104" cy="694944"/>
          </a:xfrm>
        </p:grpSpPr>
        <p:sp>
          <p:nvSpPr>
            <p:cNvPr id="8" name="Freeform 8"/>
            <p:cNvSpPr/>
            <p:nvPr/>
          </p:nvSpPr>
          <p:spPr>
            <a:xfrm>
              <a:off x="0" y="0"/>
              <a:ext cx="22549104" cy="694944"/>
            </a:xfrm>
            <a:custGeom>
              <a:avLst/>
              <a:gdLst/>
              <a:ahLst/>
              <a:cxnLst/>
              <a:rect l="l" t="t" r="r" b="b"/>
              <a:pathLst>
                <a:path w="22549104" h="694944">
                  <a:moveTo>
                    <a:pt x="0" y="0"/>
                  </a:moveTo>
                  <a:lnTo>
                    <a:pt x="22549104" y="0"/>
                  </a:lnTo>
                  <a:lnTo>
                    <a:pt x="22549104" y="694944"/>
                  </a:lnTo>
                  <a:lnTo>
                    <a:pt x="0" y="694944"/>
                  </a:lnTo>
                  <a:close/>
                </a:path>
              </a:pathLst>
            </a:custGeom>
            <a:blipFill>
              <a:blip r:embed="rId3">
                <a:alphaModFix amt="0"/>
              </a:blip>
              <a:stretch>
                <a:fillRect t="-582238" b="-582238"/>
              </a:stretch>
            </a:blipFill>
          </p:spPr>
        </p:sp>
        <p:sp>
          <p:nvSpPr>
            <p:cNvPr id="9" name="TextBox 9"/>
            <p:cNvSpPr txBox="1"/>
            <p:nvPr/>
          </p:nvSpPr>
          <p:spPr>
            <a:xfrm>
              <a:off x="0" y="9525"/>
              <a:ext cx="22549104" cy="685419"/>
            </a:xfrm>
            <a:prstGeom prst="rect">
              <a:avLst/>
            </a:prstGeom>
          </p:spPr>
          <p:txBody>
            <a:bodyPr lIns="0" tIns="0" rIns="0" bIns="0" rtlCol="0" anchor="ctr"/>
            <a:lstStyle/>
            <a:p>
              <a:pPr algn="l">
                <a:lnSpc>
                  <a:spcPts val="2340"/>
                </a:lnSpc>
              </a:pPr>
              <a:r>
                <a:rPr lang="en-US" sz="1950">
                  <a:solidFill>
                    <a:srgbClr val="DCEDFA"/>
                  </a:solidFill>
                  <a:latin typeface="DM Sans"/>
                  <a:ea typeface="DM Sans"/>
                  <a:cs typeface="DM Sans"/>
                  <a:sym typeface="DM Sans"/>
                </a:rPr>
                <a:t>Composite 0–100 ranking (30% CAGR + 25% Sharpe + 20% Alpha + 15% ER + 10% DD)</a:t>
              </a:r>
            </a:p>
          </p:txBody>
        </p:sp>
      </p:grpSp>
      <p:grpSp>
        <p:nvGrpSpPr>
          <p:cNvPr id="10" name="Group 10"/>
          <p:cNvGrpSpPr/>
          <p:nvPr/>
        </p:nvGrpSpPr>
        <p:grpSpPr>
          <a:xfrm>
            <a:off x="-9525" y="1499235"/>
            <a:ext cx="18302478" cy="73914"/>
            <a:chOff x="0" y="0"/>
            <a:chExt cx="24403304" cy="98552"/>
          </a:xfrm>
        </p:grpSpPr>
        <p:sp>
          <p:nvSpPr>
            <p:cNvPr id="11" name="Freeform 11"/>
            <p:cNvSpPr/>
            <p:nvPr/>
          </p:nvSpPr>
          <p:spPr>
            <a:xfrm>
              <a:off x="0" y="0"/>
              <a:ext cx="24403304" cy="98552"/>
            </a:xfrm>
            <a:custGeom>
              <a:avLst/>
              <a:gdLst/>
              <a:ahLst/>
              <a:cxnLst/>
              <a:rect l="l" t="t" r="r" b="b"/>
              <a:pathLst>
                <a:path w="24403304" h="98552">
                  <a:moveTo>
                    <a:pt x="0" y="0"/>
                  </a:moveTo>
                  <a:lnTo>
                    <a:pt x="24403304" y="0"/>
                  </a:lnTo>
                  <a:lnTo>
                    <a:pt x="24403304" y="98552"/>
                  </a:lnTo>
                  <a:lnTo>
                    <a:pt x="0" y="98552"/>
                  </a:lnTo>
                  <a:close/>
                </a:path>
              </a:pathLst>
            </a:custGeom>
            <a:solidFill>
              <a:srgbClr val="1565C0"/>
            </a:solidFill>
            <a:ln w="19050" cap="sq">
              <a:solidFill>
                <a:srgbClr val="1565C0"/>
              </a:solidFill>
              <a:prstDash val="solid"/>
              <a:miter/>
            </a:ln>
          </p:spPr>
        </p:sp>
      </p:grpSp>
      <p:grpSp>
        <p:nvGrpSpPr>
          <p:cNvPr id="12" name="Group 12"/>
          <p:cNvGrpSpPr/>
          <p:nvPr/>
        </p:nvGrpSpPr>
        <p:grpSpPr>
          <a:xfrm>
            <a:off x="-9525" y="9893427"/>
            <a:ext cx="18302478" cy="403098"/>
            <a:chOff x="0" y="0"/>
            <a:chExt cx="24403304" cy="537464"/>
          </a:xfrm>
        </p:grpSpPr>
        <p:sp>
          <p:nvSpPr>
            <p:cNvPr id="13" name="Freeform 13"/>
            <p:cNvSpPr/>
            <p:nvPr/>
          </p:nvSpPr>
          <p:spPr>
            <a:xfrm>
              <a:off x="0" y="0"/>
              <a:ext cx="24403304" cy="537464"/>
            </a:xfrm>
            <a:custGeom>
              <a:avLst/>
              <a:gdLst/>
              <a:ahLst/>
              <a:cxnLst/>
              <a:rect l="l" t="t" r="r" b="b"/>
              <a:pathLst>
                <a:path w="24403304" h="537464">
                  <a:moveTo>
                    <a:pt x="0" y="0"/>
                  </a:moveTo>
                  <a:lnTo>
                    <a:pt x="24403304" y="0"/>
                  </a:lnTo>
                  <a:lnTo>
                    <a:pt x="24403304" y="537464"/>
                  </a:lnTo>
                  <a:lnTo>
                    <a:pt x="0" y="537464"/>
                  </a:lnTo>
                  <a:close/>
                </a:path>
              </a:pathLst>
            </a:custGeom>
            <a:solidFill>
              <a:srgbClr val="132338"/>
            </a:solidFill>
            <a:ln w="19050" cap="sq">
              <a:solidFill>
                <a:srgbClr val="0D1B2A"/>
              </a:solidFill>
              <a:prstDash val="solid"/>
              <a:miter/>
            </a:ln>
          </p:spPr>
        </p:sp>
      </p:grpSp>
      <p:grpSp>
        <p:nvGrpSpPr>
          <p:cNvPr id="14" name="Group 14"/>
          <p:cNvGrpSpPr/>
          <p:nvPr/>
        </p:nvGrpSpPr>
        <p:grpSpPr>
          <a:xfrm>
            <a:off x="16911828" y="9930384"/>
            <a:ext cx="1097280" cy="329184"/>
            <a:chOff x="0" y="0"/>
            <a:chExt cx="1463040" cy="438912"/>
          </a:xfrm>
        </p:grpSpPr>
        <p:sp>
          <p:nvSpPr>
            <p:cNvPr id="15" name="Freeform 15"/>
            <p:cNvSpPr/>
            <p:nvPr/>
          </p:nvSpPr>
          <p:spPr>
            <a:xfrm>
              <a:off x="0" y="0"/>
              <a:ext cx="1463040" cy="438912"/>
            </a:xfrm>
            <a:custGeom>
              <a:avLst/>
              <a:gdLst/>
              <a:ahLst/>
              <a:cxnLst/>
              <a:rect l="l" t="t" r="r" b="b"/>
              <a:pathLst>
                <a:path w="1463040" h="438912">
                  <a:moveTo>
                    <a:pt x="0" y="0"/>
                  </a:moveTo>
                  <a:lnTo>
                    <a:pt x="1463040" y="0"/>
                  </a:lnTo>
                  <a:lnTo>
                    <a:pt x="1463040" y="438912"/>
                  </a:lnTo>
                  <a:lnTo>
                    <a:pt x="0" y="438912"/>
                  </a:lnTo>
                  <a:close/>
                </a:path>
              </a:pathLst>
            </a:custGeom>
            <a:blipFill>
              <a:blip r:embed="rId3">
                <a:alphaModFix amt="0"/>
              </a:blip>
              <a:stretch>
                <a:fillRect t="-14950" b="-14950"/>
              </a:stretch>
            </a:blipFill>
          </p:spPr>
        </p:sp>
        <p:sp>
          <p:nvSpPr>
            <p:cNvPr id="16" name="TextBox 16"/>
            <p:cNvSpPr txBox="1"/>
            <p:nvPr/>
          </p:nvSpPr>
          <p:spPr>
            <a:xfrm>
              <a:off x="0" y="-9525"/>
              <a:ext cx="1463040" cy="448437"/>
            </a:xfrm>
            <a:prstGeom prst="rect">
              <a:avLst/>
            </a:prstGeom>
          </p:spPr>
          <p:txBody>
            <a:bodyPr lIns="0" tIns="0" rIns="0" bIns="0" rtlCol="0" anchor="ctr"/>
            <a:lstStyle/>
            <a:p>
              <a:pPr algn="r">
                <a:lnSpc>
                  <a:spcPts val="1439"/>
                </a:lnSpc>
              </a:pPr>
              <a:r>
                <a:rPr lang="en-US" sz="1200">
                  <a:solidFill>
                    <a:srgbClr val="DCEDFA"/>
                  </a:solidFill>
                  <a:latin typeface="DM Sans"/>
                  <a:ea typeface="DM Sans"/>
                  <a:cs typeface="DM Sans"/>
                  <a:sym typeface="DM Sans"/>
                </a:rPr>
                <a:t>7 / 12</a:t>
              </a:r>
            </a:p>
          </p:txBody>
        </p:sp>
      </p:grpSp>
      <p:grpSp>
        <p:nvGrpSpPr>
          <p:cNvPr id="17" name="Group 17"/>
          <p:cNvGrpSpPr/>
          <p:nvPr/>
        </p:nvGrpSpPr>
        <p:grpSpPr>
          <a:xfrm>
            <a:off x="411480" y="9930384"/>
            <a:ext cx="16363188" cy="329184"/>
            <a:chOff x="0" y="0"/>
            <a:chExt cx="21817584" cy="438912"/>
          </a:xfrm>
        </p:grpSpPr>
        <p:sp>
          <p:nvSpPr>
            <p:cNvPr id="18" name="Freeform 18"/>
            <p:cNvSpPr/>
            <p:nvPr/>
          </p:nvSpPr>
          <p:spPr>
            <a:xfrm>
              <a:off x="0" y="0"/>
              <a:ext cx="21817585" cy="438912"/>
            </a:xfrm>
            <a:custGeom>
              <a:avLst/>
              <a:gdLst/>
              <a:ahLst/>
              <a:cxnLst/>
              <a:rect l="l" t="t" r="r" b="b"/>
              <a:pathLst>
                <a:path w="21817585" h="438912">
                  <a:moveTo>
                    <a:pt x="0" y="0"/>
                  </a:moveTo>
                  <a:lnTo>
                    <a:pt x="21817585" y="0"/>
                  </a:lnTo>
                  <a:lnTo>
                    <a:pt x="21817585" y="438912"/>
                  </a:lnTo>
                  <a:lnTo>
                    <a:pt x="0" y="438912"/>
                  </a:lnTo>
                  <a:close/>
                </a:path>
              </a:pathLst>
            </a:custGeom>
            <a:blipFill>
              <a:blip r:embed="rId3">
                <a:alphaModFix amt="0"/>
              </a:blip>
              <a:stretch>
                <a:fillRect t="-918568" b="-918568"/>
              </a:stretch>
            </a:blipFill>
          </p:spPr>
        </p:sp>
        <p:sp>
          <p:nvSpPr>
            <p:cNvPr id="19" name="TextBox 19"/>
            <p:cNvSpPr txBox="1"/>
            <p:nvPr/>
          </p:nvSpPr>
          <p:spPr>
            <a:xfrm>
              <a:off x="0" y="-9525"/>
              <a:ext cx="21817584" cy="448437"/>
            </a:xfrm>
            <a:prstGeom prst="rect">
              <a:avLst/>
            </a:prstGeom>
          </p:spPr>
          <p:txBody>
            <a:bodyPr lIns="0" tIns="0" rIns="0" bIns="0" rtlCol="0" anchor="ctr"/>
            <a:lstStyle/>
            <a:p>
              <a:pPr algn="l">
                <a:lnSpc>
                  <a:spcPts val="1439"/>
                </a:lnSpc>
              </a:pPr>
              <a:r>
                <a:rPr lang="en-US" sz="1200">
                  <a:solidFill>
                    <a:srgbClr val="DCEDFA"/>
                  </a:solidFill>
                  <a:latin typeface="DM Sans"/>
                  <a:ea typeface="DM Sans"/>
                  <a:cs typeface="DM Sans"/>
                  <a:sym typeface="DM Sans"/>
                </a:rPr>
                <a:t>Bluestock Fintech  |  Capstone Project I - Mutual Fund Analytics</a:t>
              </a:r>
            </a:p>
          </p:txBody>
        </p:sp>
      </p:grpSp>
      <p:sp>
        <p:nvSpPr>
          <p:cNvPr id="20" name="Freeform 20"/>
          <p:cNvSpPr/>
          <p:nvPr/>
        </p:nvSpPr>
        <p:spPr>
          <a:xfrm>
            <a:off x="8857074" y="2631758"/>
            <a:ext cx="8876437" cy="5491353"/>
          </a:xfrm>
          <a:custGeom>
            <a:avLst/>
            <a:gdLst/>
            <a:ahLst/>
            <a:cxnLst/>
            <a:rect l="l" t="t" r="r" b="b"/>
            <a:pathLst>
              <a:path w="8876437" h="5491353">
                <a:moveTo>
                  <a:pt x="0" y="0"/>
                </a:moveTo>
                <a:lnTo>
                  <a:pt x="8876437" y="0"/>
                </a:lnTo>
                <a:lnTo>
                  <a:pt x="8876437" y="5491353"/>
                </a:lnTo>
                <a:lnTo>
                  <a:pt x="0" y="5491353"/>
                </a:lnTo>
                <a:lnTo>
                  <a:pt x="0" y="0"/>
                </a:lnTo>
                <a:close/>
              </a:path>
            </a:pathLst>
          </a:custGeom>
          <a:blipFill>
            <a:blip r:embed="rId4"/>
            <a:stretch>
              <a:fillRect t="-5674"/>
            </a:stretch>
          </a:blipFill>
        </p:spPr>
      </p:sp>
      <p:grpSp>
        <p:nvGrpSpPr>
          <p:cNvPr id="21" name="Group 21"/>
          <p:cNvGrpSpPr/>
          <p:nvPr/>
        </p:nvGrpSpPr>
        <p:grpSpPr>
          <a:xfrm>
            <a:off x="287969" y="1903667"/>
            <a:ext cx="897368" cy="718566"/>
            <a:chOff x="0" y="0"/>
            <a:chExt cx="1196490" cy="958088"/>
          </a:xfrm>
        </p:grpSpPr>
        <p:sp>
          <p:nvSpPr>
            <p:cNvPr id="22" name="Freeform 22"/>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1565C0"/>
            </a:solidFill>
            <a:ln w="19050" cap="sq">
              <a:solidFill>
                <a:srgbClr val="CBD5E0"/>
              </a:solidFill>
              <a:prstDash val="solid"/>
              <a:miter/>
            </a:ln>
          </p:spPr>
        </p:sp>
      </p:grpSp>
      <p:grpSp>
        <p:nvGrpSpPr>
          <p:cNvPr id="23" name="Group 23"/>
          <p:cNvGrpSpPr/>
          <p:nvPr/>
        </p:nvGrpSpPr>
        <p:grpSpPr>
          <a:xfrm>
            <a:off x="287969" y="2603183"/>
            <a:ext cx="897368" cy="718566"/>
            <a:chOff x="0" y="0"/>
            <a:chExt cx="1196490" cy="958088"/>
          </a:xfrm>
        </p:grpSpPr>
        <p:sp>
          <p:nvSpPr>
            <p:cNvPr id="24" name="Freeform 24"/>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EBF4FF"/>
            </a:solidFill>
            <a:ln w="19050" cap="sq">
              <a:solidFill>
                <a:srgbClr val="CBD5E0"/>
              </a:solidFill>
              <a:prstDash val="solid"/>
              <a:miter/>
            </a:ln>
          </p:spPr>
        </p:sp>
      </p:grpSp>
      <p:grpSp>
        <p:nvGrpSpPr>
          <p:cNvPr id="25" name="Group 25"/>
          <p:cNvGrpSpPr/>
          <p:nvPr/>
        </p:nvGrpSpPr>
        <p:grpSpPr>
          <a:xfrm>
            <a:off x="287969" y="8195120"/>
            <a:ext cx="897368" cy="718566"/>
            <a:chOff x="0" y="0"/>
            <a:chExt cx="1196490" cy="958088"/>
          </a:xfrm>
        </p:grpSpPr>
        <p:sp>
          <p:nvSpPr>
            <p:cNvPr id="26" name="Freeform 26"/>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EBF4FF"/>
            </a:solidFill>
            <a:ln w="19050" cap="sq">
              <a:solidFill>
                <a:srgbClr val="CBD5E0"/>
              </a:solidFill>
              <a:prstDash val="solid"/>
              <a:miter/>
            </a:ln>
          </p:spPr>
        </p:sp>
      </p:grpSp>
      <p:grpSp>
        <p:nvGrpSpPr>
          <p:cNvPr id="27" name="Group 27"/>
          <p:cNvGrpSpPr/>
          <p:nvPr/>
        </p:nvGrpSpPr>
        <p:grpSpPr>
          <a:xfrm>
            <a:off x="287969" y="3302699"/>
            <a:ext cx="897368" cy="718566"/>
            <a:chOff x="0" y="0"/>
            <a:chExt cx="1196490" cy="958088"/>
          </a:xfrm>
        </p:grpSpPr>
        <p:sp>
          <p:nvSpPr>
            <p:cNvPr id="28" name="Freeform 28"/>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FFFFFF"/>
            </a:solidFill>
            <a:ln w="19050" cap="sq">
              <a:solidFill>
                <a:srgbClr val="CBD5E0"/>
              </a:solidFill>
              <a:prstDash val="solid"/>
              <a:miter/>
            </a:ln>
          </p:spPr>
        </p:sp>
      </p:grpSp>
      <p:grpSp>
        <p:nvGrpSpPr>
          <p:cNvPr id="29" name="Group 29"/>
          <p:cNvGrpSpPr/>
          <p:nvPr/>
        </p:nvGrpSpPr>
        <p:grpSpPr>
          <a:xfrm>
            <a:off x="287969" y="8894636"/>
            <a:ext cx="897368" cy="718566"/>
            <a:chOff x="0" y="0"/>
            <a:chExt cx="1196490" cy="958088"/>
          </a:xfrm>
        </p:grpSpPr>
        <p:sp>
          <p:nvSpPr>
            <p:cNvPr id="30" name="Freeform 30"/>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FFFFFF"/>
            </a:solidFill>
            <a:ln w="19050" cap="sq">
              <a:solidFill>
                <a:srgbClr val="CBD5E0"/>
              </a:solidFill>
              <a:prstDash val="solid"/>
              <a:miter/>
            </a:ln>
          </p:spPr>
        </p:sp>
      </p:grpSp>
      <p:grpSp>
        <p:nvGrpSpPr>
          <p:cNvPr id="31" name="Group 31"/>
          <p:cNvGrpSpPr/>
          <p:nvPr/>
        </p:nvGrpSpPr>
        <p:grpSpPr>
          <a:xfrm>
            <a:off x="363117" y="4025456"/>
            <a:ext cx="822220" cy="699516"/>
            <a:chOff x="0" y="0"/>
            <a:chExt cx="1096293" cy="932688"/>
          </a:xfrm>
        </p:grpSpPr>
        <p:sp>
          <p:nvSpPr>
            <p:cNvPr id="32" name="Freeform 32"/>
            <p:cNvSpPr/>
            <p:nvPr/>
          </p:nvSpPr>
          <p:spPr>
            <a:xfrm>
              <a:off x="0" y="0"/>
              <a:ext cx="1096293" cy="932688"/>
            </a:xfrm>
            <a:custGeom>
              <a:avLst/>
              <a:gdLst/>
              <a:ahLst/>
              <a:cxnLst/>
              <a:rect l="l" t="t" r="r" b="b"/>
              <a:pathLst>
                <a:path w="1096293" h="932688">
                  <a:moveTo>
                    <a:pt x="0" y="0"/>
                  </a:moveTo>
                  <a:lnTo>
                    <a:pt x="1096293" y="0"/>
                  </a:lnTo>
                  <a:lnTo>
                    <a:pt x="1096293" y="932688"/>
                  </a:lnTo>
                  <a:lnTo>
                    <a:pt x="0" y="932688"/>
                  </a:lnTo>
                  <a:close/>
                </a:path>
              </a:pathLst>
            </a:custGeom>
            <a:blipFill>
              <a:blip r:embed="rId3">
                <a:alphaModFix amt="0"/>
              </a:blip>
              <a:stretch>
                <a:fillRect t="-67674" r="-413795" b="-67674"/>
              </a:stretch>
            </a:blipFill>
          </p:spPr>
        </p:sp>
        <p:sp>
          <p:nvSpPr>
            <p:cNvPr id="33" name="TextBox 33"/>
            <p:cNvSpPr txBox="1"/>
            <p:nvPr/>
          </p:nvSpPr>
          <p:spPr>
            <a:xfrm>
              <a:off x="0" y="0"/>
              <a:ext cx="1096293"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1</a:t>
              </a:r>
            </a:p>
            <a:p>
              <a:pPr algn="l">
                <a:lnSpc>
                  <a:spcPts val="1709"/>
                </a:lnSpc>
              </a:pPr>
              <a:endParaRPr lang="en-US" sz="1425">
                <a:solidFill>
                  <a:srgbClr val="0D1B2A"/>
                </a:solidFill>
                <a:latin typeface="DM Sans"/>
                <a:ea typeface="DM Sans"/>
                <a:cs typeface="DM Sans"/>
                <a:sym typeface="DM Sans"/>
              </a:endParaRPr>
            </a:p>
          </p:txBody>
        </p:sp>
      </p:grpSp>
      <p:grpSp>
        <p:nvGrpSpPr>
          <p:cNvPr id="34" name="Group 34"/>
          <p:cNvGrpSpPr/>
          <p:nvPr/>
        </p:nvGrpSpPr>
        <p:grpSpPr>
          <a:xfrm>
            <a:off x="287969" y="4006406"/>
            <a:ext cx="897368" cy="718566"/>
            <a:chOff x="0" y="0"/>
            <a:chExt cx="1196490" cy="958088"/>
          </a:xfrm>
        </p:grpSpPr>
        <p:sp>
          <p:nvSpPr>
            <p:cNvPr id="35" name="Freeform 35"/>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EBF4FF"/>
            </a:solidFill>
            <a:ln w="19050" cap="sq">
              <a:solidFill>
                <a:srgbClr val="CBD5E0"/>
              </a:solidFill>
              <a:prstDash val="solid"/>
              <a:miter/>
            </a:ln>
          </p:spPr>
        </p:sp>
      </p:grpSp>
      <p:grpSp>
        <p:nvGrpSpPr>
          <p:cNvPr id="36" name="Group 36"/>
          <p:cNvGrpSpPr/>
          <p:nvPr/>
        </p:nvGrpSpPr>
        <p:grpSpPr>
          <a:xfrm>
            <a:off x="287969" y="4701731"/>
            <a:ext cx="897368" cy="718566"/>
            <a:chOff x="0" y="0"/>
            <a:chExt cx="1196490" cy="958088"/>
          </a:xfrm>
        </p:grpSpPr>
        <p:sp>
          <p:nvSpPr>
            <p:cNvPr id="37" name="Freeform 37"/>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FFFFFF"/>
            </a:solidFill>
            <a:ln w="19050" cap="sq">
              <a:solidFill>
                <a:srgbClr val="CBD5E0"/>
              </a:solidFill>
              <a:prstDash val="solid"/>
              <a:miter/>
            </a:ln>
          </p:spPr>
        </p:sp>
      </p:grpSp>
      <p:grpSp>
        <p:nvGrpSpPr>
          <p:cNvPr id="38" name="Group 38"/>
          <p:cNvGrpSpPr/>
          <p:nvPr/>
        </p:nvGrpSpPr>
        <p:grpSpPr>
          <a:xfrm>
            <a:off x="287969" y="5401247"/>
            <a:ext cx="897368" cy="718566"/>
            <a:chOff x="0" y="0"/>
            <a:chExt cx="1196490" cy="958088"/>
          </a:xfrm>
        </p:grpSpPr>
        <p:sp>
          <p:nvSpPr>
            <p:cNvPr id="39" name="Freeform 39"/>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EBF4FF"/>
            </a:solidFill>
            <a:ln w="19050" cap="sq">
              <a:solidFill>
                <a:srgbClr val="CBD5E0"/>
              </a:solidFill>
              <a:prstDash val="solid"/>
              <a:miter/>
            </a:ln>
          </p:spPr>
        </p:sp>
      </p:grpSp>
      <p:grpSp>
        <p:nvGrpSpPr>
          <p:cNvPr id="40" name="Group 40"/>
          <p:cNvGrpSpPr/>
          <p:nvPr/>
        </p:nvGrpSpPr>
        <p:grpSpPr>
          <a:xfrm>
            <a:off x="287969" y="6100763"/>
            <a:ext cx="897368" cy="718566"/>
            <a:chOff x="0" y="0"/>
            <a:chExt cx="1196490" cy="958088"/>
          </a:xfrm>
        </p:grpSpPr>
        <p:sp>
          <p:nvSpPr>
            <p:cNvPr id="41" name="Freeform 41"/>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FFFFFF"/>
            </a:solidFill>
            <a:ln w="19050" cap="sq">
              <a:solidFill>
                <a:srgbClr val="CBD5E0"/>
              </a:solidFill>
              <a:prstDash val="solid"/>
              <a:miter/>
            </a:ln>
          </p:spPr>
        </p:sp>
      </p:grpSp>
      <p:grpSp>
        <p:nvGrpSpPr>
          <p:cNvPr id="42" name="Group 42"/>
          <p:cNvGrpSpPr/>
          <p:nvPr/>
        </p:nvGrpSpPr>
        <p:grpSpPr>
          <a:xfrm>
            <a:off x="287969" y="6810851"/>
            <a:ext cx="897368" cy="718566"/>
            <a:chOff x="0" y="0"/>
            <a:chExt cx="1196490" cy="958088"/>
          </a:xfrm>
        </p:grpSpPr>
        <p:sp>
          <p:nvSpPr>
            <p:cNvPr id="43" name="Freeform 43"/>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EBF4FF"/>
            </a:solidFill>
            <a:ln w="19050" cap="sq">
              <a:solidFill>
                <a:srgbClr val="CBD5E0"/>
              </a:solidFill>
              <a:prstDash val="solid"/>
              <a:miter/>
            </a:ln>
          </p:spPr>
        </p:sp>
      </p:grpSp>
      <p:grpSp>
        <p:nvGrpSpPr>
          <p:cNvPr id="44" name="Group 44"/>
          <p:cNvGrpSpPr/>
          <p:nvPr/>
        </p:nvGrpSpPr>
        <p:grpSpPr>
          <a:xfrm>
            <a:off x="287969" y="7499795"/>
            <a:ext cx="897368" cy="718566"/>
            <a:chOff x="0" y="0"/>
            <a:chExt cx="1196490" cy="958088"/>
          </a:xfrm>
        </p:grpSpPr>
        <p:sp>
          <p:nvSpPr>
            <p:cNvPr id="45" name="Freeform 45"/>
            <p:cNvSpPr/>
            <p:nvPr/>
          </p:nvSpPr>
          <p:spPr>
            <a:xfrm>
              <a:off x="0" y="0"/>
              <a:ext cx="1196490" cy="958088"/>
            </a:xfrm>
            <a:custGeom>
              <a:avLst/>
              <a:gdLst/>
              <a:ahLst/>
              <a:cxnLst/>
              <a:rect l="l" t="t" r="r" b="b"/>
              <a:pathLst>
                <a:path w="1196490" h="958088">
                  <a:moveTo>
                    <a:pt x="0" y="0"/>
                  </a:moveTo>
                  <a:lnTo>
                    <a:pt x="1196490" y="0"/>
                  </a:lnTo>
                  <a:lnTo>
                    <a:pt x="1196490" y="958088"/>
                  </a:lnTo>
                  <a:lnTo>
                    <a:pt x="0" y="958088"/>
                  </a:lnTo>
                  <a:close/>
                </a:path>
              </a:pathLst>
            </a:custGeom>
            <a:solidFill>
              <a:srgbClr val="FFFFFF"/>
            </a:solidFill>
            <a:ln w="19050" cap="sq">
              <a:solidFill>
                <a:srgbClr val="CBD5E0"/>
              </a:solidFill>
              <a:prstDash val="solid"/>
              <a:miter/>
            </a:ln>
          </p:spPr>
        </p:sp>
      </p:grpSp>
      <p:grpSp>
        <p:nvGrpSpPr>
          <p:cNvPr id="46" name="Group 46"/>
          <p:cNvGrpSpPr/>
          <p:nvPr/>
        </p:nvGrpSpPr>
        <p:grpSpPr>
          <a:xfrm>
            <a:off x="1090086" y="1903667"/>
            <a:ext cx="2579918" cy="718566"/>
            <a:chOff x="0" y="0"/>
            <a:chExt cx="3439891" cy="958088"/>
          </a:xfrm>
        </p:grpSpPr>
        <p:sp>
          <p:nvSpPr>
            <p:cNvPr id="47" name="Freeform 47"/>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1565C0"/>
            </a:solidFill>
            <a:ln w="19050" cap="sq">
              <a:solidFill>
                <a:srgbClr val="CBD5E0"/>
              </a:solidFill>
              <a:prstDash val="solid"/>
              <a:miter/>
            </a:ln>
          </p:spPr>
        </p:sp>
      </p:grpSp>
      <p:grpSp>
        <p:nvGrpSpPr>
          <p:cNvPr id="48" name="Group 48"/>
          <p:cNvGrpSpPr/>
          <p:nvPr/>
        </p:nvGrpSpPr>
        <p:grpSpPr>
          <a:xfrm>
            <a:off x="1090086" y="2603183"/>
            <a:ext cx="2579918" cy="718566"/>
            <a:chOff x="0" y="0"/>
            <a:chExt cx="3439891" cy="958088"/>
          </a:xfrm>
        </p:grpSpPr>
        <p:sp>
          <p:nvSpPr>
            <p:cNvPr id="49" name="Freeform 49"/>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EBF4FF"/>
            </a:solidFill>
            <a:ln w="19050" cap="sq">
              <a:solidFill>
                <a:srgbClr val="CBD5E0"/>
              </a:solidFill>
              <a:prstDash val="solid"/>
              <a:miter/>
            </a:ln>
          </p:spPr>
        </p:sp>
      </p:grpSp>
      <p:grpSp>
        <p:nvGrpSpPr>
          <p:cNvPr id="50" name="Group 50"/>
          <p:cNvGrpSpPr/>
          <p:nvPr/>
        </p:nvGrpSpPr>
        <p:grpSpPr>
          <a:xfrm>
            <a:off x="1090086" y="8195120"/>
            <a:ext cx="2579918" cy="718566"/>
            <a:chOff x="0" y="0"/>
            <a:chExt cx="3439891" cy="958088"/>
          </a:xfrm>
        </p:grpSpPr>
        <p:sp>
          <p:nvSpPr>
            <p:cNvPr id="51" name="Freeform 51"/>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EBF4FF"/>
            </a:solidFill>
            <a:ln w="19050" cap="sq">
              <a:solidFill>
                <a:srgbClr val="CBD5E0"/>
              </a:solidFill>
              <a:prstDash val="solid"/>
              <a:miter/>
            </a:ln>
          </p:spPr>
        </p:sp>
      </p:grpSp>
      <p:grpSp>
        <p:nvGrpSpPr>
          <p:cNvPr id="52" name="Group 52"/>
          <p:cNvGrpSpPr/>
          <p:nvPr/>
        </p:nvGrpSpPr>
        <p:grpSpPr>
          <a:xfrm>
            <a:off x="1090086" y="3302699"/>
            <a:ext cx="2579918" cy="718566"/>
            <a:chOff x="0" y="0"/>
            <a:chExt cx="3439891" cy="958088"/>
          </a:xfrm>
        </p:grpSpPr>
        <p:sp>
          <p:nvSpPr>
            <p:cNvPr id="53" name="Freeform 53"/>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FFFFFF"/>
            </a:solidFill>
            <a:ln w="19050" cap="sq">
              <a:solidFill>
                <a:srgbClr val="CBD5E0"/>
              </a:solidFill>
              <a:prstDash val="solid"/>
              <a:miter/>
            </a:ln>
          </p:spPr>
        </p:sp>
      </p:grpSp>
      <p:grpSp>
        <p:nvGrpSpPr>
          <p:cNvPr id="54" name="Group 54"/>
          <p:cNvGrpSpPr/>
          <p:nvPr/>
        </p:nvGrpSpPr>
        <p:grpSpPr>
          <a:xfrm>
            <a:off x="1090086" y="8894636"/>
            <a:ext cx="2579918" cy="718566"/>
            <a:chOff x="0" y="0"/>
            <a:chExt cx="3439891" cy="958088"/>
          </a:xfrm>
        </p:grpSpPr>
        <p:sp>
          <p:nvSpPr>
            <p:cNvPr id="55" name="Freeform 55"/>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FFFFFF"/>
            </a:solidFill>
            <a:ln w="19050" cap="sq">
              <a:solidFill>
                <a:srgbClr val="CBD5E0"/>
              </a:solidFill>
              <a:prstDash val="solid"/>
              <a:miter/>
            </a:ln>
          </p:spPr>
        </p:sp>
      </p:grpSp>
      <p:grpSp>
        <p:nvGrpSpPr>
          <p:cNvPr id="56" name="Group 56"/>
          <p:cNvGrpSpPr/>
          <p:nvPr/>
        </p:nvGrpSpPr>
        <p:grpSpPr>
          <a:xfrm>
            <a:off x="1090086" y="4002215"/>
            <a:ext cx="2579918" cy="718566"/>
            <a:chOff x="0" y="0"/>
            <a:chExt cx="3439891" cy="958088"/>
          </a:xfrm>
        </p:grpSpPr>
        <p:sp>
          <p:nvSpPr>
            <p:cNvPr id="57" name="Freeform 57"/>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EBF4FF"/>
            </a:solidFill>
            <a:ln w="19050" cap="sq">
              <a:solidFill>
                <a:srgbClr val="CBD5E0"/>
              </a:solidFill>
              <a:prstDash val="solid"/>
              <a:miter/>
            </a:ln>
          </p:spPr>
        </p:sp>
      </p:grpSp>
      <p:grpSp>
        <p:nvGrpSpPr>
          <p:cNvPr id="58" name="Group 58"/>
          <p:cNvGrpSpPr/>
          <p:nvPr/>
        </p:nvGrpSpPr>
        <p:grpSpPr>
          <a:xfrm>
            <a:off x="1090086" y="4701731"/>
            <a:ext cx="2579918" cy="718566"/>
            <a:chOff x="0" y="0"/>
            <a:chExt cx="3439891" cy="958088"/>
          </a:xfrm>
        </p:grpSpPr>
        <p:sp>
          <p:nvSpPr>
            <p:cNvPr id="59" name="Freeform 59"/>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FFFFFF"/>
            </a:solidFill>
            <a:ln w="19050" cap="sq">
              <a:solidFill>
                <a:srgbClr val="CBD5E0"/>
              </a:solidFill>
              <a:prstDash val="solid"/>
              <a:miter/>
            </a:ln>
          </p:spPr>
        </p:sp>
      </p:grpSp>
      <p:grpSp>
        <p:nvGrpSpPr>
          <p:cNvPr id="60" name="Group 60"/>
          <p:cNvGrpSpPr/>
          <p:nvPr/>
        </p:nvGrpSpPr>
        <p:grpSpPr>
          <a:xfrm>
            <a:off x="1090086" y="5401247"/>
            <a:ext cx="2579918" cy="718566"/>
            <a:chOff x="0" y="0"/>
            <a:chExt cx="3439891" cy="958088"/>
          </a:xfrm>
        </p:grpSpPr>
        <p:sp>
          <p:nvSpPr>
            <p:cNvPr id="61" name="Freeform 61"/>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EBF4FF"/>
            </a:solidFill>
            <a:ln w="19050" cap="sq">
              <a:solidFill>
                <a:srgbClr val="CBD5E0"/>
              </a:solidFill>
              <a:prstDash val="solid"/>
              <a:miter/>
            </a:ln>
          </p:spPr>
        </p:sp>
      </p:grpSp>
      <p:grpSp>
        <p:nvGrpSpPr>
          <p:cNvPr id="62" name="Group 62"/>
          <p:cNvGrpSpPr/>
          <p:nvPr/>
        </p:nvGrpSpPr>
        <p:grpSpPr>
          <a:xfrm>
            <a:off x="1090086" y="6100763"/>
            <a:ext cx="2579918" cy="718566"/>
            <a:chOff x="0" y="0"/>
            <a:chExt cx="3439891" cy="958088"/>
          </a:xfrm>
        </p:grpSpPr>
        <p:sp>
          <p:nvSpPr>
            <p:cNvPr id="63" name="Freeform 63"/>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FFFFFF"/>
            </a:solidFill>
            <a:ln w="19050" cap="sq">
              <a:solidFill>
                <a:srgbClr val="CBD5E0"/>
              </a:solidFill>
              <a:prstDash val="solid"/>
              <a:miter/>
            </a:ln>
          </p:spPr>
        </p:sp>
      </p:grpSp>
      <p:grpSp>
        <p:nvGrpSpPr>
          <p:cNvPr id="64" name="Group 64"/>
          <p:cNvGrpSpPr/>
          <p:nvPr/>
        </p:nvGrpSpPr>
        <p:grpSpPr>
          <a:xfrm>
            <a:off x="1090086" y="6800279"/>
            <a:ext cx="2579918" cy="718566"/>
            <a:chOff x="0" y="0"/>
            <a:chExt cx="3439891" cy="958088"/>
          </a:xfrm>
        </p:grpSpPr>
        <p:sp>
          <p:nvSpPr>
            <p:cNvPr id="65" name="Freeform 65"/>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EBF4FF"/>
            </a:solidFill>
            <a:ln w="19050" cap="sq">
              <a:solidFill>
                <a:srgbClr val="CBD5E0"/>
              </a:solidFill>
              <a:prstDash val="solid"/>
              <a:miter/>
            </a:ln>
          </p:spPr>
        </p:sp>
      </p:grpSp>
      <p:grpSp>
        <p:nvGrpSpPr>
          <p:cNvPr id="66" name="Group 66"/>
          <p:cNvGrpSpPr/>
          <p:nvPr/>
        </p:nvGrpSpPr>
        <p:grpSpPr>
          <a:xfrm>
            <a:off x="1090086" y="7499795"/>
            <a:ext cx="2579918" cy="718566"/>
            <a:chOff x="0" y="0"/>
            <a:chExt cx="3439891" cy="958088"/>
          </a:xfrm>
        </p:grpSpPr>
        <p:sp>
          <p:nvSpPr>
            <p:cNvPr id="67" name="Freeform 67"/>
            <p:cNvSpPr/>
            <p:nvPr/>
          </p:nvSpPr>
          <p:spPr>
            <a:xfrm>
              <a:off x="0" y="0"/>
              <a:ext cx="3439891" cy="958088"/>
            </a:xfrm>
            <a:custGeom>
              <a:avLst/>
              <a:gdLst/>
              <a:ahLst/>
              <a:cxnLst/>
              <a:rect l="l" t="t" r="r" b="b"/>
              <a:pathLst>
                <a:path w="3439891" h="958088">
                  <a:moveTo>
                    <a:pt x="0" y="0"/>
                  </a:moveTo>
                  <a:lnTo>
                    <a:pt x="3439891" y="0"/>
                  </a:lnTo>
                  <a:lnTo>
                    <a:pt x="3439891" y="958088"/>
                  </a:lnTo>
                  <a:lnTo>
                    <a:pt x="0" y="958088"/>
                  </a:lnTo>
                  <a:close/>
                </a:path>
              </a:pathLst>
            </a:custGeom>
            <a:solidFill>
              <a:srgbClr val="FFFFFF"/>
            </a:solidFill>
            <a:ln w="19050" cap="sq">
              <a:solidFill>
                <a:srgbClr val="CBD5E0"/>
              </a:solidFill>
              <a:prstDash val="solid"/>
              <a:miter/>
            </a:ln>
          </p:spPr>
        </p:sp>
      </p:grpSp>
      <p:grpSp>
        <p:nvGrpSpPr>
          <p:cNvPr id="68" name="Group 68"/>
          <p:cNvGrpSpPr/>
          <p:nvPr/>
        </p:nvGrpSpPr>
        <p:grpSpPr>
          <a:xfrm>
            <a:off x="3483931" y="1903667"/>
            <a:ext cx="1715924" cy="718566"/>
            <a:chOff x="0" y="0"/>
            <a:chExt cx="2287899" cy="958088"/>
          </a:xfrm>
        </p:grpSpPr>
        <p:sp>
          <p:nvSpPr>
            <p:cNvPr id="69" name="Freeform 69"/>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1565C0"/>
            </a:solidFill>
            <a:ln w="19050" cap="sq">
              <a:solidFill>
                <a:srgbClr val="CBD5E0"/>
              </a:solidFill>
              <a:prstDash val="solid"/>
              <a:miter/>
            </a:ln>
          </p:spPr>
        </p:sp>
      </p:grpSp>
      <p:grpSp>
        <p:nvGrpSpPr>
          <p:cNvPr id="70" name="Group 70"/>
          <p:cNvGrpSpPr/>
          <p:nvPr/>
        </p:nvGrpSpPr>
        <p:grpSpPr>
          <a:xfrm>
            <a:off x="3483931" y="2603183"/>
            <a:ext cx="1715924" cy="718566"/>
            <a:chOff x="0" y="0"/>
            <a:chExt cx="2287899" cy="958088"/>
          </a:xfrm>
        </p:grpSpPr>
        <p:sp>
          <p:nvSpPr>
            <p:cNvPr id="71" name="Freeform 71"/>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72" name="Group 72"/>
          <p:cNvGrpSpPr/>
          <p:nvPr/>
        </p:nvGrpSpPr>
        <p:grpSpPr>
          <a:xfrm>
            <a:off x="3483931" y="8195120"/>
            <a:ext cx="1715924" cy="718566"/>
            <a:chOff x="0" y="0"/>
            <a:chExt cx="2287899" cy="958088"/>
          </a:xfrm>
        </p:grpSpPr>
        <p:sp>
          <p:nvSpPr>
            <p:cNvPr id="73" name="Freeform 73"/>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74" name="Group 74"/>
          <p:cNvGrpSpPr/>
          <p:nvPr/>
        </p:nvGrpSpPr>
        <p:grpSpPr>
          <a:xfrm>
            <a:off x="3483931" y="3302699"/>
            <a:ext cx="1715924" cy="718566"/>
            <a:chOff x="0" y="0"/>
            <a:chExt cx="2287899" cy="958088"/>
          </a:xfrm>
        </p:grpSpPr>
        <p:sp>
          <p:nvSpPr>
            <p:cNvPr id="75" name="Freeform 75"/>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76" name="Group 76"/>
          <p:cNvGrpSpPr/>
          <p:nvPr/>
        </p:nvGrpSpPr>
        <p:grpSpPr>
          <a:xfrm>
            <a:off x="3483931" y="8894636"/>
            <a:ext cx="1715924" cy="718566"/>
            <a:chOff x="0" y="0"/>
            <a:chExt cx="2287899" cy="958088"/>
          </a:xfrm>
        </p:grpSpPr>
        <p:sp>
          <p:nvSpPr>
            <p:cNvPr id="77" name="Freeform 77"/>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78" name="Group 78"/>
          <p:cNvGrpSpPr/>
          <p:nvPr/>
        </p:nvGrpSpPr>
        <p:grpSpPr>
          <a:xfrm>
            <a:off x="3483931" y="4002215"/>
            <a:ext cx="1715924" cy="718566"/>
            <a:chOff x="0" y="0"/>
            <a:chExt cx="2287899" cy="958088"/>
          </a:xfrm>
        </p:grpSpPr>
        <p:sp>
          <p:nvSpPr>
            <p:cNvPr id="79" name="Freeform 79"/>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80" name="Group 80"/>
          <p:cNvGrpSpPr/>
          <p:nvPr/>
        </p:nvGrpSpPr>
        <p:grpSpPr>
          <a:xfrm>
            <a:off x="3483931" y="4701731"/>
            <a:ext cx="1715924" cy="718566"/>
            <a:chOff x="0" y="0"/>
            <a:chExt cx="2287899" cy="958088"/>
          </a:xfrm>
        </p:grpSpPr>
        <p:sp>
          <p:nvSpPr>
            <p:cNvPr id="81" name="Freeform 81"/>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82" name="Group 82"/>
          <p:cNvGrpSpPr/>
          <p:nvPr/>
        </p:nvGrpSpPr>
        <p:grpSpPr>
          <a:xfrm>
            <a:off x="3483931" y="5401247"/>
            <a:ext cx="1715924" cy="718566"/>
            <a:chOff x="0" y="0"/>
            <a:chExt cx="2287899" cy="958088"/>
          </a:xfrm>
        </p:grpSpPr>
        <p:sp>
          <p:nvSpPr>
            <p:cNvPr id="83" name="Freeform 83"/>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84" name="Group 84"/>
          <p:cNvGrpSpPr/>
          <p:nvPr/>
        </p:nvGrpSpPr>
        <p:grpSpPr>
          <a:xfrm>
            <a:off x="3483931" y="6100763"/>
            <a:ext cx="1715924" cy="718566"/>
            <a:chOff x="0" y="0"/>
            <a:chExt cx="2287899" cy="958088"/>
          </a:xfrm>
        </p:grpSpPr>
        <p:sp>
          <p:nvSpPr>
            <p:cNvPr id="85" name="Freeform 85"/>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86" name="Group 86"/>
          <p:cNvGrpSpPr/>
          <p:nvPr/>
        </p:nvGrpSpPr>
        <p:grpSpPr>
          <a:xfrm>
            <a:off x="3483931" y="6800279"/>
            <a:ext cx="1715924" cy="718566"/>
            <a:chOff x="0" y="0"/>
            <a:chExt cx="2287899" cy="958088"/>
          </a:xfrm>
        </p:grpSpPr>
        <p:sp>
          <p:nvSpPr>
            <p:cNvPr id="87" name="Freeform 87"/>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88" name="Group 88"/>
          <p:cNvGrpSpPr/>
          <p:nvPr/>
        </p:nvGrpSpPr>
        <p:grpSpPr>
          <a:xfrm>
            <a:off x="3483931" y="7499795"/>
            <a:ext cx="1715924" cy="718566"/>
            <a:chOff x="0" y="0"/>
            <a:chExt cx="2287899" cy="958088"/>
          </a:xfrm>
        </p:grpSpPr>
        <p:sp>
          <p:nvSpPr>
            <p:cNvPr id="89" name="Freeform 89"/>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90" name="Group 90"/>
          <p:cNvGrpSpPr/>
          <p:nvPr/>
        </p:nvGrpSpPr>
        <p:grpSpPr>
          <a:xfrm>
            <a:off x="5081201" y="1903667"/>
            <a:ext cx="1715924" cy="718566"/>
            <a:chOff x="0" y="0"/>
            <a:chExt cx="2287899" cy="958088"/>
          </a:xfrm>
        </p:grpSpPr>
        <p:sp>
          <p:nvSpPr>
            <p:cNvPr id="91" name="Freeform 91"/>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1565C0"/>
            </a:solidFill>
            <a:ln w="19050" cap="sq">
              <a:solidFill>
                <a:srgbClr val="CBD5E0"/>
              </a:solidFill>
              <a:prstDash val="solid"/>
              <a:miter/>
            </a:ln>
          </p:spPr>
        </p:sp>
      </p:grpSp>
      <p:grpSp>
        <p:nvGrpSpPr>
          <p:cNvPr id="92" name="Group 92"/>
          <p:cNvGrpSpPr/>
          <p:nvPr/>
        </p:nvGrpSpPr>
        <p:grpSpPr>
          <a:xfrm>
            <a:off x="5081201" y="2603183"/>
            <a:ext cx="1715924" cy="718566"/>
            <a:chOff x="0" y="0"/>
            <a:chExt cx="2287899" cy="958088"/>
          </a:xfrm>
        </p:grpSpPr>
        <p:sp>
          <p:nvSpPr>
            <p:cNvPr id="93" name="Freeform 93"/>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94" name="Group 94"/>
          <p:cNvGrpSpPr/>
          <p:nvPr/>
        </p:nvGrpSpPr>
        <p:grpSpPr>
          <a:xfrm>
            <a:off x="5081201" y="8195120"/>
            <a:ext cx="1715924" cy="718566"/>
            <a:chOff x="0" y="0"/>
            <a:chExt cx="2287899" cy="958088"/>
          </a:xfrm>
        </p:grpSpPr>
        <p:sp>
          <p:nvSpPr>
            <p:cNvPr id="95" name="Freeform 95"/>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96" name="Group 96"/>
          <p:cNvGrpSpPr/>
          <p:nvPr/>
        </p:nvGrpSpPr>
        <p:grpSpPr>
          <a:xfrm>
            <a:off x="5081201" y="3302699"/>
            <a:ext cx="1715924" cy="718566"/>
            <a:chOff x="0" y="0"/>
            <a:chExt cx="2287899" cy="958088"/>
          </a:xfrm>
        </p:grpSpPr>
        <p:sp>
          <p:nvSpPr>
            <p:cNvPr id="97" name="Freeform 97"/>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98" name="Group 98"/>
          <p:cNvGrpSpPr/>
          <p:nvPr/>
        </p:nvGrpSpPr>
        <p:grpSpPr>
          <a:xfrm>
            <a:off x="5081201" y="8894636"/>
            <a:ext cx="1715924" cy="718566"/>
            <a:chOff x="0" y="0"/>
            <a:chExt cx="2287899" cy="958088"/>
          </a:xfrm>
        </p:grpSpPr>
        <p:sp>
          <p:nvSpPr>
            <p:cNvPr id="99" name="Freeform 99"/>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100" name="Group 100"/>
          <p:cNvGrpSpPr/>
          <p:nvPr/>
        </p:nvGrpSpPr>
        <p:grpSpPr>
          <a:xfrm>
            <a:off x="5081201" y="4002215"/>
            <a:ext cx="1715924" cy="718566"/>
            <a:chOff x="0" y="0"/>
            <a:chExt cx="2287899" cy="958088"/>
          </a:xfrm>
        </p:grpSpPr>
        <p:sp>
          <p:nvSpPr>
            <p:cNvPr id="101" name="Freeform 101"/>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102" name="Group 102"/>
          <p:cNvGrpSpPr/>
          <p:nvPr/>
        </p:nvGrpSpPr>
        <p:grpSpPr>
          <a:xfrm>
            <a:off x="5081201" y="4701731"/>
            <a:ext cx="1715924" cy="718566"/>
            <a:chOff x="0" y="0"/>
            <a:chExt cx="2287899" cy="958088"/>
          </a:xfrm>
        </p:grpSpPr>
        <p:sp>
          <p:nvSpPr>
            <p:cNvPr id="103" name="Freeform 103"/>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104" name="Group 104"/>
          <p:cNvGrpSpPr/>
          <p:nvPr/>
        </p:nvGrpSpPr>
        <p:grpSpPr>
          <a:xfrm>
            <a:off x="5081201" y="5401247"/>
            <a:ext cx="1715924" cy="718566"/>
            <a:chOff x="0" y="0"/>
            <a:chExt cx="2287899" cy="958088"/>
          </a:xfrm>
        </p:grpSpPr>
        <p:sp>
          <p:nvSpPr>
            <p:cNvPr id="105" name="Freeform 105"/>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106" name="Group 106"/>
          <p:cNvGrpSpPr/>
          <p:nvPr/>
        </p:nvGrpSpPr>
        <p:grpSpPr>
          <a:xfrm>
            <a:off x="5081201" y="6100763"/>
            <a:ext cx="1715924" cy="718566"/>
            <a:chOff x="0" y="0"/>
            <a:chExt cx="2287899" cy="958088"/>
          </a:xfrm>
        </p:grpSpPr>
        <p:sp>
          <p:nvSpPr>
            <p:cNvPr id="107" name="Freeform 107"/>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108" name="Group 108"/>
          <p:cNvGrpSpPr/>
          <p:nvPr/>
        </p:nvGrpSpPr>
        <p:grpSpPr>
          <a:xfrm>
            <a:off x="5081201" y="6800279"/>
            <a:ext cx="1715924" cy="718566"/>
            <a:chOff x="0" y="0"/>
            <a:chExt cx="2287899" cy="958088"/>
          </a:xfrm>
        </p:grpSpPr>
        <p:sp>
          <p:nvSpPr>
            <p:cNvPr id="109" name="Freeform 109"/>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110" name="Group 110"/>
          <p:cNvGrpSpPr/>
          <p:nvPr/>
        </p:nvGrpSpPr>
        <p:grpSpPr>
          <a:xfrm>
            <a:off x="5081201" y="7499795"/>
            <a:ext cx="1715924" cy="718566"/>
            <a:chOff x="0" y="0"/>
            <a:chExt cx="2287899" cy="958088"/>
          </a:xfrm>
        </p:grpSpPr>
        <p:sp>
          <p:nvSpPr>
            <p:cNvPr id="111" name="Freeform 111"/>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112" name="Group 112"/>
          <p:cNvGrpSpPr/>
          <p:nvPr/>
        </p:nvGrpSpPr>
        <p:grpSpPr>
          <a:xfrm>
            <a:off x="6676231" y="1903667"/>
            <a:ext cx="1715924" cy="718566"/>
            <a:chOff x="0" y="0"/>
            <a:chExt cx="2287899" cy="958088"/>
          </a:xfrm>
        </p:grpSpPr>
        <p:sp>
          <p:nvSpPr>
            <p:cNvPr id="113" name="Freeform 113"/>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1565C0"/>
            </a:solidFill>
            <a:ln w="19050" cap="sq">
              <a:solidFill>
                <a:srgbClr val="CBD5E0"/>
              </a:solidFill>
              <a:prstDash val="solid"/>
              <a:miter/>
            </a:ln>
          </p:spPr>
        </p:sp>
      </p:grpSp>
      <p:grpSp>
        <p:nvGrpSpPr>
          <p:cNvPr id="114" name="Group 114"/>
          <p:cNvGrpSpPr/>
          <p:nvPr/>
        </p:nvGrpSpPr>
        <p:grpSpPr>
          <a:xfrm>
            <a:off x="6676231" y="2603183"/>
            <a:ext cx="1715924" cy="718566"/>
            <a:chOff x="0" y="0"/>
            <a:chExt cx="2287899" cy="958088"/>
          </a:xfrm>
        </p:grpSpPr>
        <p:sp>
          <p:nvSpPr>
            <p:cNvPr id="115" name="Freeform 115"/>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116" name="Group 116"/>
          <p:cNvGrpSpPr/>
          <p:nvPr/>
        </p:nvGrpSpPr>
        <p:grpSpPr>
          <a:xfrm>
            <a:off x="6676231" y="8195120"/>
            <a:ext cx="1715924" cy="718566"/>
            <a:chOff x="0" y="0"/>
            <a:chExt cx="2287899" cy="958088"/>
          </a:xfrm>
        </p:grpSpPr>
        <p:sp>
          <p:nvSpPr>
            <p:cNvPr id="117" name="Freeform 117"/>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118" name="Group 118"/>
          <p:cNvGrpSpPr/>
          <p:nvPr/>
        </p:nvGrpSpPr>
        <p:grpSpPr>
          <a:xfrm>
            <a:off x="6676231" y="3302699"/>
            <a:ext cx="1715924" cy="718566"/>
            <a:chOff x="0" y="0"/>
            <a:chExt cx="2287899" cy="958088"/>
          </a:xfrm>
        </p:grpSpPr>
        <p:sp>
          <p:nvSpPr>
            <p:cNvPr id="119" name="Freeform 119"/>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120" name="Group 120"/>
          <p:cNvGrpSpPr/>
          <p:nvPr/>
        </p:nvGrpSpPr>
        <p:grpSpPr>
          <a:xfrm>
            <a:off x="6676231" y="8894636"/>
            <a:ext cx="1715924" cy="718566"/>
            <a:chOff x="0" y="0"/>
            <a:chExt cx="2287899" cy="958088"/>
          </a:xfrm>
        </p:grpSpPr>
        <p:sp>
          <p:nvSpPr>
            <p:cNvPr id="121" name="Freeform 121"/>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122" name="Group 122"/>
          <p:cNvGrpSpPr/>
          <p:nvPr/>
        </p:nvGrpSpPr>
        <p:grpSpPr>
          <a:xfrm>
            <a:off x="6676231" y="4002215"/>
            <a:ext cx="1715924" cy="718566"/>
            <a:chOff x="0" y="0"/>
            <a:chExt cx="2287899" cy="958088"/>
          </a:xfrm>
        </p:grpSpPr>
        <p:sp>
          <p:nvSpPr>
            <p:cNvPr id="123" name="Freeform 123"/>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124" name="Group 124"/>
          <p:cNvGrpSpPr/>
          <p:nvPr/>
        </p:nvGrpSpPr>
        <p:grpSpPr>
          <a:xfrm>
            <a:off x="6676231" y="4701731"/>
            <a:ext cx="1715924" cy="718566"/>
            <a:chOff x="0" y="0"/>
            <a:chExt cx="2287899" cy="958088"/>
          </a:xfrm>
        </p:grpSpPr>
        <p:sp>
          <p:nvSpPr>
            <p:cNvPr id="125" name="Freeform 125"/>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126" name="Group 126"/>
          <p:cNvGrpSpPr/>
          <p:nvPr/>
        </p:nvGrpSpPr>
        <p:grpSpPr>
          <a:xfrm>
            <a:off x="6676231" y="5401247"/>
            <a:ext cx="1715924" cy="718566"/>
            <a:chOff x="0" y="0"/>
            <a:chExt cx="2287899" cy="958088"/>
          </a:xfrm>
        </p:grpSpPr>
        <p:sp>
          <p:nvSpPr>
            <p:cNvPr id="127" name="Freeform 127"/>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128" name="Group 128"/>
          <p:cNvGrpSpPr/>
          <p:nvPr/>
        </p:nvGrpSpPr>
        <p:grpSpPr>
          <a:xfrm>
            <a:off x="6676231" y="6100763"/>
            <a:ext cx="1715924" cy="718566"/>
            <a:chOff x="0" y="0"/>
            <a:chExt cx="2287899" cy="958088"/>
          </a:xfrm>
        </p:grpSpPr>
        <p:sp>
          <p:nvSpPr>
            <p:cNvPr id="129" name="Freeform 129"/>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130" name="Group 130"/>
          <p:cNvGrpSpPr/>
          <p:nvPr/>
        </p:nvGrpSpPr>
        <p:grpSpPr>
          <a:xfrm>
            <a:off x="6676231" y="6800279"/>
            <a:ext cx="1715924" cy="718566"/>
            <a:chOff x="0" y="0"/>
            <a:chExt cx="2287899" cy="958088"/>
          </a:xfrm>
        </p:grpSpPr>
        <p:sp>
          <p:nvSpPr>
            <p:cNvPr id="131" name="Freeform 131"/>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EBF4FF"/>
            </a:solidFill>
            <a:ln w="19050" cap="sq">
              <a:solidFill>
                <a:srgbClr val="CBD5E0"/>
              </a:solidFill>
              <a:prstDash val="solid"/>
              <a:miter/>
            </a:ln>
          </p:spPr>
        </p:sp>
      </p:grpSp>
      <p:grpSp>
        <p:nvGrpSpPr>
          <p:cNvPr id="132" name="Group 132"/>
          <p:cNvGrpSpPr/>
          <p:nvPr/>
        </p:nvGrpSpPr>
        <p:grpSpPr>
          <a:xfrm>
            <a:off x="6676231" y="7499795"/>
            <a:ext cx="1715924" cy="718566"/>
            <a:chOff x="0" y="0"/>
            <a:chExt cx="2287899" cy="958088"/>
          </a:xfrm>
        </p:grpSpPr>
        <p:sp>
          <p:nvSpPr>
            <p:cNvPr id="133" name="Freeform 133"/>
            <p:cNvSpPr/>
            <p:nvPr/>
          </p:nvSpPr>
          <p:spPr>
            <a:xfrm>
              <a:off x="0" y="0"/>
              <a:ext cx="2287899" cy="958088"/>
            </a:xfrm>
            <a:custGeom>
              <a:avLst/>
              <a:gdLst/>
              <a:ahLst/>
              <a:cxnLst/>
              <a:rect l="l" t="t" r="r" b="b"/>
              <a:pathLst>
                <a:path w="2287899" h="958088">
                  <a:moveTo>
                    <a:pt x="0" y="0"/>
                  </a:moveTo>
                  <a:lnTo>
                    <a:pt x="2287899" y="0"/>
                  </a:lnTo>
                  <a:lnTo>
                    <a:pt x="2287899" y="958088"/>
                  </a:lnTo>
                  <a:lnTo>
                    <a:pt x="0" y="958088"/>
                  </a:lnTo>
                  <a:close/>
                </a:path>
              </a:pathLst>
            </a:custGeom>
            <a:solidFill>
              <a:srgbClr val="FFFFFF"/>
            </a:solidFill>
            <a:ln w="19050" cap="sq">
              <a:solidFill>
                <a:srgbClr val="CBD5E0"/>
              </a:solidFill>
              <a:prstDash val="solid"/>
              <a:miter/>
            </a:ln>
          </p:spPr>
        </p:sp>
      </p:grpSp>
      <p:grpSp>
        <p:nvGrpSpPr>
          <p:cNvPr id="134" name="Group 134"/>
          <p:cNvGrpSpPr/>
          <p:nvPr/>
        </p:nvGrpSpPr>
        <p:grpSpPr>
          <a:xfrm>
            <a:off x="636846" y="2612708"/>
            <a:ext cx="669268" cy="6990969"/>
            <a:chOff x="0" y="0"/>
            <a:chExt cx="892357" cy="9321292"/>
          </a:xfrm>
        </p:grpSpPr>
        <p:grpSp>
          <p:nvGrpSpPr>
            <p:cNvPr id="135" name="Group 135"/>
            <p:cNvGrpSpPr/>
            <p:nvPr/>
          </p:nvGrpSpPr>
          <p:grpSpPr>
            <a:xfrm>
              <a:off x="0" y="0"/>
              <a:ext cx="892357" cy="932688"/>
              <a:chOff x="0" y="0"/>
              <a:chExt cx="892357" cy="932688"/>
            </a:xfrm>
          </p:grpSpPr>
          <p:sp>
            <p:nvSpPr>
              <p:cNvPr id="136" name="Freeform 136"/>
              <p:cNvSpPr/>
              <p:nvPr/>
            </p:nvSpPr>
            <p:spPr>
              <a:xfrm>
                <a:off x="0" y="0"/>
                <a:ext cx="892357" cy="932688"/>
              </a:xfrm>
              <a:custGeom>
                <a:avLst/>
                <a:gdLst/>
                <a:ahLst/>
                <a:cxnLst/>
                <a:rect l="l" t="t" r="r" b="b"/>
                <a:pathLst>
                  <a:path w="892357" h="932688">
                    <a:moveTo>
                      <a:pt x="0" y="0"/>
                    </a:moveTo>
                    <a:lnTo>
                      <a:pt x="892357" y="0"/>
                    </a:lnTo>
                    <a:lnTo>
                      <a:pt x="892357" y="932688"/>
                    </a:lnTo>
                    <a:lnTo>
                      <a:pt x="0" y="932688"/>
                    </a:lnTo>
                    <a:close/>
                  </a:path>
                </a:pathLst>
              </a:custGeom>
              <a:blipFill>
                <a:blip r:embed="rId3">
                  <a:alphaModFix amt="0"/>
                </a:blip>
                <a:stretch>
                  <a:fillRect t="-67674" r="-531216" b="-67674"/>
                </a:stretch>
              </a:blipFill>
            </p:spPr>
          </p:sp>
          <p:sp>
            <p:nvSpPr>
              <p:cNvPr id="137" name="TextBox 137"/>
              <p:cNvSpPr txBox="1"/>
              <p:nvPr/>
            </p:nvSpPr>
            <p:spPr>
              <a:xfrm>
                <a:off x="0" y="0"/>
                <a:ext cx="892357"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1</a:t>
                </a:r>
              </a:p>
            </p:txBody>
          </p:sp>
        </p:grpSp>
        <p:grpSp>
          <p:nvGrpSpPr>
            <p:cNvPr id="138" name="Group 138"/>
            <p:cNvGrpSpPr/>
            <p:nvPr/>
          </p:nvGrpSpPr>
          <p:grpSpPr>
            <a:xfrm>
              <a:off x="0" y="958088"/>
              <a:ext cx="892357" cy="932688"/>
              <a:chOff x="0" y="0"/>
              <a:chExt cx="892357" cy="932688"/>
            </a:xfrm>
          </p:grpSpPr>
          <p:sp>
            <p:nvSpPr>
              <p:cNvPr id="139" name="Freeform 139"/>
              <p:cNvSpPr/>
              <p:nvPr/>
            </p:nvSpPr>
            <p:spPr>
              <a:xfrm>
                <a:off x="0" y="0"/>
                <a:ext cx="892357" cy="932688"/>
              </a:xfrm>
              <a:custGeom>
                <a:avLst/>
                <a:gdLst/>
                <a:ahLst/>
                <a:cxnLst/>
                <a:rect l="l" t="t" r="r" b="b"/>
                <a:pathLst>
                  <a:path w="892357" h="932688">
                    <a:moveTo>
                      <a:pt x="0" y="0"/>
                    </a:moveTo>
                    <a:lnTo>
                      <a:pt x="892357" y="0"/>
                    </a:lnTo>
                    <a:lnTo>
                      <a:pt x="892357" y="932688"/>
                    </a:lnTo>
                    <a:lnTo>
                      <a:pt x="0" y="932688"/>
                    </a:lnTo>
                    <a:close/>
                  </a:path>
                </a:pathLst>
              </a:custGeom>
              <a:blipFill>
                <a:blip r:embed="rId3">
                  <a:alphaModFix amt="0"/>
                </a:blip>
                <a:stretch>
                  <a:fillRect t="-67674" r="-531216" b="-67674"/>
                </a:stretch>
              </a:blipFill>
            </p:spPr>
          </p:sp>
          <p:sp>
            <p:nvSpPr>
              <p:cNvPr id="140" name="TextBox 140"/>
              <p:cNvSpPr txBox="1"/>
              <p:nvPr/>
            </p:nvSpPr>
            <p:spPr>
              <a:xfrm>
                <a:off x="0" y="0"/>
                <a:ext cx="892357"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2</a:t>
                </a:r>
              </a:p>
            </p:txBody>
          </p:sp>
        </p:grpSp>
        <p:grpSp>
          <p:nvGrpSpPr>
            <p:cNvPr id="141" name="Group 141"/>
            <p:cNvGrpSpPr/>
            <p:nvPr/>
          </p:nvGrpSpPr>
          <p:grpSpPr>
            <a:xfrm>
              <a:off x="0" y="8388604"/>
              <a:ext cx="892357" cy="932688"/>
              <a:chOff x="0" y="0"/>
              <a:chExt cx="892357" cy="932688"/>
            </a:xfrm>
          </p:grpSpPr>
          <p:sp>
            <p:nvSpPr>
              <p:cNvPr id="142" name="Freeform 142"/>
              <p:cNvSpPr/>
              <p:nvPr/>
            </p:nvSpPr>
            <p:spPr>
              <a:xfrm>
                <a:off x="0" y="0"/>
                <a:ext cx="892357" cy="932688"/>
              </a:xfrm>
              <a:custGeom>
                <a:avLst/>
                <a:gdLst/>
                <a:ahLst/>
                <a:cxnLst/>
                <a:rect l="l" t="t" r="r" b="b"/>
                <a:pathLst>
                  <a:path w="892357" h="932688">
                    <a:moveTo>
                      <a:pt x="0" y="0"/>
                    </a:moveTo>
                    <a:lnTo>
                      <a:pt x="892357" y="0"/>
                    </a:lnTo>
                    <a:lnTo>
                      <a:pt x="892357" y="932688"/>
                    </a:lnTo>
                    <a:lnTo>
                      <a:pt x="0" y="932688"/>
                    </a:lnTo>
                    <a:close/>
                  </a:path>
                </a:pathLst>
              </a:custGeom>
              <a:blipFill>
                <a:blip r:embed="rId3">
                  <a:alphaModFix amt="0"/>
                </a:blip>
                <a:stretch>
                  <a:fillRect t="-67674" r="-531216" b="-67674"/>
                </a:stretch>
              </a:blipFill>
            </p:spPr>
          </p:sp>
          <p:sp>
            <p:nvSpPr>
              <p:cNvPr id="143" name="TextBox 143"/>
              <p:cNvSpPr txBox="1"/>
              <p:nvPr/>
            </p:nvSpPr>
            <p:spPr>
              <a:xfrm>
                <a:off x="0" y="0"/>
                <a:ext cx="892357"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10</a:t>
                </a:r>
              </a:p>
            </p:txBody>
          </p:sp>
        </p:grpSp>
        <p:grpSp>
          <p:nvGrpSpPr>
            <p:cNvPr id="144" name="Group 144"/>
            <p:cNvGrpSpPr/>
            <p:nvPr/>
          </p:nvGrpSpPr>
          <p:grpSpPr>
            <a:xfrm>
              <a:off x="0" y="7455916"/>
              <a:ext cx="892357" cy="932688"/>
              <a:chOff x="0" y="0"/>
              <a:chExt cx="892357" cy="932688"/>
            </a:xfrm>
          </p:grpSpPr>
          <p:sp>
            <p:nvSpPr>
              <p:cNvPr id="145" name="Freeform 145"/>
              <p:cNvSpPr/>
              <p:nvPr/>
            </p:nvSpPr>
            <p:spPr>
              <a:xfrm>
                <a:off x="0" y="0"/>
                <a:ext cx="892357" cy="932688"/>
              </a:xfrm>
              <a:custGeom>
                <a:avLst/>
                <a:gdLst/>
                <a:ahLst/>
                <a:cxnLst/>
                <a:rect l="l" t="t" r="r" b="b"/>
                <a:pathLst>
                  <a:path w="892357" h="932688">
                    <a:moveTo>
                      <a:pt x="0" y="0"/>
                    </a:moveTo>
                    <a:lnTo>
                      <a:pt x="892357" y="0"/>
                    </a:lnTo>
                    <a:lnTo>
                      <a:pt x="892357" y="932688"/>
                    </a:lnTo>
                    <a:lnTo>
                      <a:pt x="0" y="932688"/>
                    </a:lnTo>
                    <a:close/>
                  </a:path>
                </a:pathLst>
              </a:custGeom>
              <a:blipFill>
                <a:blip r:embed="rId3">
                  <a:alphaModFix amt="0"/>
                </a:blip>
                <a:stretch>
                  <a:fillRect t="-67674" r="-531216" b="-67674"/>
                </a:stretch>
              </a:blipFill>
            </p:spPr>
          </p:sp>
          <p:sp>
            <p:nvSpPr>
              <p:cNvPr id="146" name="TextBox 146"/>
              <p:cNvSpPr txBox="1"/>
              <p:nvPr/>
            </p:nvSpPr>
            <p:spPr>
              <a:xfrm>
                <a:off x="0" y="0"/>
                <a:ext cx="892357"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9</a:t>
                </a:r>
              </a:p>
            </p:txBody>
          </p:sp>
        </p:grpSp>
        <p:grpSp>
          <p:nvGrpSpPr>
            <p:cNvPr id="147" name="Group 147"/>
            <p:cNvGrpSpPr/>
            <p:nvPr/>
          </p:nvGrpSpPr>
          <p:grpSpPr>
            <a:xfrm>
              <a:off x="0" y="4676140"/>
              <a:ext cx="892357" cy="932688"/>
              <a:chOff x="0" y="0"/>
              <a:chExt cx="892357" cy="932688"/>
            </a:xfrm>
          </p:grpSpPr>
          <p:sp>
            <p:nvSpPr>
              <p:cNvPr id="148" name="Freeform 148"/>
              <p:cNvSpPr/>
              <p:nvPr/>
            </p:nvSpPr>
            <p:spPr>
              <a:xfrm>
                <a:off x="0" y="0"/>
                <a:ext cx="892357" cy="932688"/>
              </a:xfrm>
              <a:custGeom>
                <a:avLst/>
                <a:gdLst/>
                <a:ahLst/>
                <a:cxnLst/>
                <a:rect l="l" t="t" r="r" b="b"/>
                <a:pathLst>
                  <a:path w="892357" h="932688">
                    <a:moveTo>
                      <a:pt x="0" y="0"/>
                    </a:moveTo>
                    <a:lnTo>
                      <a:pt x="892357" y="0"/>
                    </a:lnTo>
                    <a:lnTo>
                      <a:pt x="892357" y="932688"/>
                    </a:lnTo>
                    <a:lnTo>
                      <a:pt x="0" y="932688"/>
                    </a:lnTo>
                    <a:close/>
                  </a:path>
                </a:pathLst>
              </a:custGeom>
              <a:blipFill>
                <a:blip r:embed="rId3">
                  <a:alphaModFix amt="0"/>
                </a:blip>
                <a:stretch>
                  <a:fillRect t="-67674" r="-531216" b="-67674"/>
                </a:stretch>
              </a:blipFill>
            </p:spPr>
          </p:sp>
          <p:sp>
            <p:nvSpPr>
              <p:cNvPr id="149" name="TextBox 149"/>
              <p:cNvSpPr txBox="1"/>
              <p:nvPr/>
            </p:nvSpPr>
            <p:spPr>
              <a:xfrm>
                <a:off x="0" y="0"/>
                <a:ext cx="892357"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6</a:t>
                </a:r>
              </a:p>
            </p:txBody>
          </p:sp>
        </p:grpSp>
        <p:grpSp>
          <p:nvGrpSpPr>
            <p:cNvPr id="150" name="Group 150"/>
            <p:cNvGrpSpPr/>
            <p:nvPr/>
          </p:nvGrpSpPr>
          <p:grpSpPr>
            <a:xfrm>
              <a:off x="0" y="3743452"/>
              <a:ext cx="892357" cy="932688"/>
              <a:chOff x="0" y="0"/>
              <a:chExt cx="892357" cy="932688"/>
            </a:xfrm>
          </p:grpSpPr>
          <p:sp>
            <p:nvSpPr>
              <p:cNvPr id="151" name="Freeform 151"/>
              <p:cNvSpPr/>
              <p:nvPr/>
            </p:nvSpPr>
            <p:spPr>
              <a:xfrm>
                <a:off x="0" y="0"/>
                <a:ext cx="892357" cy="932688"/>
              </a:xfrm>
              <a:custGeom>
                <a:avLst/>
                <a:gdLst/>
                <a:ahLst/>
                <a:cxnLst/>
                <a:rect l="l" t="t" r="r" b="b"/>
                <a:pathLst>
                  <a:path w="892357" h="932688">
                    <a:moveTo>
                      <a:pt x="0" y="0"/>
                    </a:moveTo>
                    <a:lnTo>
                      <a:pt x="892357" y="0"/>
                    </a:lnTo>
                    <a:lnTo>
                      <a:pt x="892357" y="932688"/>
                    </a:lnTo>
                    <a:lnTo>
                      <a:pt x="0" y="932688"/>
                    </a:lnTo>
                    <a:close/>
                  </a:path>
                </a:pathLst>
              </a:custGeom>
              <a:blipFill>
                <a:blip r:embed="rId3">
                  <a:alphaModFix amt="0"/>
                </a:blip>
                <a:stretch>
                  <a:fillRect t="-67674" r="-531216" b="-67674"/>
                </a:stretch>
              </a:blipFill>
            </p:spPr>
          </p:sp>
          <p:sp>
            <p:nvSpPr>
              <p:cNvPr id="152" name="TextBox 152"/>
              <p:cNvSpPr txBox="1"/>
              <p:nvPr/>
            </p:nvSpPr>
            <p:spPr>
              <a:xfrm>
                <a:off x="0" y="0"/>
                <a:ext cx="892357"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5</a:t>
                </a:r>
              </a:p>
            </p:txBody>
          </p:sp>
        </p:grpSp>
        <p:grpSp>
          <p:nvGrpSpPr>
            <p:cNvPr id="153" name="Group 153"/>
            <p:cNvGrpSpPr/>
            <p:nvPr/>
          </p:nvGrpSpPr>
          <p:grpSpPr>
            <a:xfrm>
              <a:off x="0" y="2798064"/>
              <a:ext cx="892357" cy="932688"/>
              <a:chOff x="0" y="0"/>
              <a:chExt cx="892357" cy="932688"/>
            </a:xfrm>
          </p:grpSpPr>
          <p:sp>
            <p:nvSpPr>
              <p:cNvPr id="154" name="Freeform 154"/>
              <p:cNvSpPr/>
              <p:nvPr/>
            </p:nvSpPr>
            <p:spPr>
              <a:xfrm>
                <a:off x="0" y="0"/>
                <a:ext cx="892357" cy="932688"/>
              </a:xfrm>
              <a:custGeom>
                <a:avLst/>
                <a:gdLst/>
                <a:ahLst/>
                <a:cxnLst/>
                <a:rect l="l" t="t" r="r" b="b"/>
                <a:pathLst>
                  <a:path w="892357" h="932688">
                    <a:moveTo>
                      <a:pt x="0" y="0"/>
                    </a:moveTo>
                    <a:lnTo>
                      <a:pt x="892357" y="0"/>
                    </a:lnTo>
                    <a:lnTo>
                      <a:pt x="892357" y="932688"/>
                    </a:lnTo>
                    <a:lnTo>
                      <a:pt x="0" y="932688"/>
                    </a:lnTo>
                    <a:close/>
                  </a:path>
                </a:pathLst>
              </a:custGeom>
              <a:blipFill>
                <a:blip r:embed="rId3">
                  <a:alphaModFix amt="0"/>
                </a:blip>
                <a:stretch>
                  <a:fillRect t="-67674" r="-531216" b="-67674"/>
                </a:stretch>
              </a:blipFill>
            </p:spPr>
          </p:sp>
          <p:sp>
            <p:nvSpPr>
              <p:cNvPr id="155" name="TextBox 155"/>
              <p:cNvSpPr txBox="1"/>
              <p:nvPr/>
            </p:nvSpPr>
            <p:spPr>
              <a:xfrm>
                <a:off x="0" y="0"/>
                <a:ext cx="892357"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4</a:t>
                </a:r>
              </a:p>
            </p:txBody>
          </p:sp>
        </p:grpSp>
        <p:grpSp>
          <p:nvGrpSpPr>
            <p:cNvPr id="156" name="Group 156"/>
            <p:cNvGrpSpPr/>
            <p:nvPr/>
          </p:nvGrpSpPr>
          <p:grpSpPr>
            <a:xfrm>
              <a:off x="0" y="1865376"/>
              <a:ext cx="892357" cy="932688"/>
              <a:chOff x="0" y="0"/>
              <a:chExt cx="892357" cy="932688"/>
            </a:xfrm>
          </p:grpSpPr>
          <p:sp>
            <p:nvSpPr>
              <p:cNvPr id="157" name="Freeform 157"/>
              <p:cNvSpPr/>
              <p:nvPr/>
            </p:nvSpPr>
            <p:spPr>
              <a:xfrm>
                <a:off x="0" y="0"/>
                <a:ext cx="892357" cy="932688"/>
              </a:xfrm>
              <a:custGeom>
                <a:avLst/>
                <a:gdLst/>
                <a:ahLst/>
                <a:cxnLst/>
                <a:rect l="l" t="t" r="r" b="b"/>
                <a:pathLst>
                  <a:path w="892357" h="932688">
                    <a:moveTo>
                      <a:pt x="0" y="0"/>
                    </a:moveTo>
                    <a:lnTo>
                      <a:pt x="892357" y="0"/>
                    </a:lnTo>
                    <a:lnTo>
                      <a:pt x="892357" y="932688"/>
                    </a:lnTo>
                    <a:lnTo>
                      <a:pt x="0" y="932688"/>
                    </a:lnTo>
                    <a:close/>
                  </a:path>
                </a:pathLst>
              </a:custGeom>
              <a:blipFill>
                <a:blip r:embed="rId3">
                  <a:alphaModFix amt="0"/>
                </a:blip>
                <a:stretch>
                  <a:fillRect t="-67674" r="-531216" b="-67674"/>
                </a:stretch>
              </a:blipFill>
            </p:spPr>
          </p:sp>
          <p:sp>
            <p:nvSpPr>
              <p:cNvPr id="158" name="TextBox 158"/>
              <p:cNvSpPr txBox="1"/>
              <p:nvPr/>
            </p:nvSpPr>
            <p:spPr>
              <a:xfrm>
                <a:off x="0" y="0"/>
                <a:ext cx="892357"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3</a:t>
                </a:r>
              </a:p>
            </p:txBody>
          </p:sp>
        </p:grpSp>
        <p:grpSp>
          <p:nvGrpSpPr>
            <p:cNvPr id="159" name="Group 159"/>
            <p:cNvGrpSpPr/>
            <p:nvPr/>
          </p:nvGrpSpPr>
          <p:grpSpPr>
            <a:xfrm>
              <a:off x="0" y="6523228"/>
              <a:ext cx="892357" cy="932688"/>
              <a:chOff x="0" y="0"/>
              <a:chExt cx="892357" cy="932688"/>
            </a:xfrm>
          </p:grpSpPr>
          <p:sp>
            <p:nvSpPr>
              <p:cNvPr id="160" name="Freeform 160"/>
              <p:cNvSpPr/>
              <p:nvPr/>
            </p:nvSpPr>
            <p:spPr>
              <a:xfrm>
                <a:off x="0" y="0"/>
                <a:ext cx="892357" cy="932688"/>
              </a:xfrm>
              <a:custGeom>
                <a:avLst/>
                <a:gdLst/>
                <a:ahLst/>
                <a:cxnLst/>
                <a:rect l="l" t="t" r="r" b="b"/>
                <a:pathLst>
                  <a:path w="892357" h="932688">
                    <a:moveTo>
                      <a:pt x="0" y="0"/>
                    </a:moveTo>
                    <a:lnTo>
                      <a:pt x="892357" y="0"/>
                    </a:lnTo>
                    <a:lnTo>
                      <a:pt x="892357" y="932688"/>
                    </a:lnTo>
                    <a:lnTo>
                      <a:pt x="0" y="932688"/>
                    </a:lnTo>
                    <a:close/>
                  </a:path>
                </a:pathLst>
              </a:custGeom>
              <a:blipFill>
                <a:blip r:embed="rId3">
                  <a:alphaModFix amt="0"/>
                </a:blip>
                <a:stretch>
                  <a:fillRect t="-67674" r="-531216" b="-67674"/>
                </a:stretch>
              </a:blipFill>
            </p:spPr>
          </p:sp>
          <p:sp>
            <p:nvSpPr>
              <p:cNvPr id="161" name="TextBox 161"/>
              <p:cNvSpPr txBox="1"/>
              <p:nvPr/>
            </p:nvSpPr>
            <p:spPr>
              <a:xfrm>
                <a:off x="0" y="0"/>
                <a:ext cx="892357"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8</a:t>
                </a:r>
              </a:p>
            </p:txBody>
          </p:sp>
        </p:grpSp>
        <p:grpSp>
          <p:nvGrpSpPr>
            <p:cNvPr id="162" name="Group 162"/>
            <p:cNvGrpSpPr/>
            <p:nvPr/>
          </p:nvGrpSpPr>
          <p:grpSpPr>
            <a:xfrm>
              <a:off x="0" y="5596128"/>
              <a:ext cx="892357" cy="932688"/>
              <a:chOff x="0" y="0"/>
              <a:chExt cx="892357" cy="932688"/>
            </a:xfrm>
          </p:grpSpPr>
          <p:sp>
            <p:nvSpPr>
              <p:cNvPr id="163" name="Freeform 163"/>
              <p:cNvSpPr/>
              <p:nvPr/>
            </p:nvSpPr>
            <p:spPr>
              <a:xfrm>
                <a:off x="0" y="0"/>
                <a:ext cx="892357" cy="932688"/>
              </a:xfrm>
              <a:custGeom>
                <a:avLst/>
                <a:gdLst/>
                <a:ahLst/>
                <a:cxnLst/>
                <a:rect l="l" t="t" r="r" b="b"/>
                <a:pathLst>
                  <a:path w="892357" h="932688">
                    <a:moveTo>
                      <a:pt x="0" y="0"/>
                    </a:moveTo>
                    <a:lnTo>
                      <a:pt x="892357" y="0"/>
                    </a:lnTo>
                    <a:lnTo>
                      <a:pt x="892357" y="932688"/>
                    </a:lnTo>
                    <a:lnTo>
                      <a:pt x="0" y="932688"/>
                    </a:lnTo>
                    <a:close/>
                  </a:path>
                </a:pathLst>
              </a:custGeom>
              <a:blipFill>
                <a:blip r:embed="rId3">
                  <a:alphaModFix amt="0"/>
                </a:blip>
                <a:stretch>
                  <a:fillRect t="-67674" r="-531216" b="-67674"/>
                </a:stretch>
              </a:blipFill>
            </p:spPr>
          </p:sp>
          <p:sp>
            <p:nvSpPr>
              <p:cNvPr id="164" name="TextBox 164"/>
              <p:cNvSpPr txBox="1"/>
              <p:nvPr/>
            </p:nvSpPr>
            <p:spPr>
              <a:xfrm>
                <a:off x="0" y="0"/>
                <a:ext cx="892357" cy="932688"/>
              </a:xfrm>
              <a:prstGeom prst="rect">
                <a:avLst/>
              </a:prstGeom>
            </p:spPr>
            <p:txBody>
              <a:bodyPr lIns="0" tIns="0" rIns="0" bIns="0" rtlCol="0" anchor="ctr"/>
              <a:lstStyle/>
              <a:p>
                <a:pPr algn="l">
                  <a:lnSpc>
                    <a:spcPts val="1709"/>
                  </a:lnSpc>
                </a:pPr>
                <a:r>
                  <a:rPr lang="en-US" sz="1425">
                    <a:solidFill>
                      <a:srgbClr val="0D1B2A"/>
                    </a:solidFill>
                    <a:latin typeface="DM Sans"/>
                    <a:ea typeface="DM Sans"/>
                    <a:cs typeface="DM Sans"/>
                    <a:sym typeface="DM Sans"/>
                  </a:rPr>
                  <a:t>7</a:t>
                </a:r>
              </a:p>
            </p:txBody>
          </p:sp>
        </p:grpSp>
      </p:grpSp>
      <p:grpSp>
        <p:nvGrpSpPr>
          <p:cNvPr id="165" name="Group 165"/>
          <p:cNvGrpSpPr/>
          <p:nvPr/>
        </p:nvGrpSpPr>
        <p:grpSpPr>
          <a:xfrm>
            <a:off x="1147236" y="2612708"/>
            <a:ext cx="2194017" cy="6990969"/>
            <a:chOff x="0" y="0"/>
            <a:chExt cx="2925356" cy="9321292"/>
          </a:xfrm>
        </p:grpSpPr>
        <p:grpSp>
          <p:nvGrpSpPr>
            <p:cNvPr id="166" name="Group 166"/>
            <p:cNvGrpSpPr/>
            <p:nvPr/>
          </p:nvGrpSpPr>
          <p:grpSpPr>
            <a:xfrm>
              <a:off x="0" y="958088"/>
              <a:ext cx="2925356" cy="932688"/>
              <a:chOff x="0" y="0"/>
              <a:chExt cx="2925356" cy="932688"/>
            </a:xfrm>
          </p:grpSpPr>
          <p:sp>
            <p:nvSpPr>
              <p:cNvPr id="167" name="Freeform 167"/>
              <p:cNvSpPr/>
              <p:nvPr/>
            </p:nvSpPr>
            <p:spPr>
              <a:xfrm>
                <a:off x="0" y="0"/>
                <a:ext cx="2925356" cy="932688"/>
              </a:xfrm>
              <a:custGeom>
                <a:avLst/>
                <a:gdLst/>
                <a:ahLst/>
                <a:cxnLst/>
                <a:rect l="l" t="t" r="r" b="b"/>
                <a:pathLst>
                  <a:path w="2925356" h="932688">
                    <a:moveTo>
                      <a:pt x="0" y="0"/>
                    </a:moveTo>
                    <a:lnTo>
                      <a:pt x="2925356" y="0"/>
                    </a:lnTo>
                    <a:lnTo>
                      <a:pt x="2925356" y="932688"/>
                    </a:lnTo>
                    <a:lnTo>
                      <a:pt x="0" y="932688"/>
                    </a:lnTo>
                    <a:close/>
                  </a:path>
                </a:pathLst>
              </a:custGeom>
              <a:blipFill>
                <a:blip r:embed="rId3">
                  <a:alphaModFix amt="0"/>
                </a:blip>
                <a:stretch>
                  <a:fillRect t="-67674" r="-92547" b="-67674"/>
                </a:stretch>
              </a:blipFill>
            </p:spPr>
          </p:sp>
          <p:sp>
            <p:nvSpPr>
              <p:cNvPr id="168" name="TextBox 168"/>
              <p:cNvSpPr txBox="1"/>
              <p:nvPr/>
            </p:nvSpPr>
            <p:spPr>
              <a:xfrm>
                <a:off x="0" y="0"/>
                <a:ext cx="2925356"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HDFC Top 100 Fund</a:t>
                </a:r>
              </a:p>
            </p:txBody>
          </p:sp>
        </p:grpSp>
        <p:grpSp>
          <p:nvGrpSpPr>
            <p:cNvPr id="169" name="Group 169"/>
            <p:cNvGrpSpPr/>
            <p:nvPr/>
          </p:nvGrpSpPr>
          <p:grpSpPr>
            <a:xfrm>
              <a:off x="0" y="0"/>
              <a:ext cx="2925356" cy="932688"/>
              <a:chOff x="0" y="0"/>
              <a:chExt cx="2925356" cy="932688"/>
            </a:xfrm>
          </p:grpSpPr>
          <p:sp>
            <p:nvSpPr>
              <p:cNvPr id="170" name="Freeform 170"/>
              <p:cNvSpPr/>
              <p:nvPr/>
            </p:nvSpPr>
            <p:spPr>
              <a:xfrm>
                <a:off x="0" y="0"/>
                <a:ext cx="2925356" cy="932688"/>
              </a:xfrm>
              <a:custGeom>
                <a:avLst/>
                <a:gdLst/>
                <a:ahLst/>
                <a:cxnLst/>
                <a:rect l="l" t="t" r="r" b="b"/>
                <a:pathLst>
                  <a:path w="2925356" h="932688">
                    <a:moveTo>
                      <a:pt x="0" y="0"/>
                    </a:moveTo>
                    <a:lnTo>
                      <a:pt x="2925356" y="0"/>
                    </a:lnTo>
                    <a:lnTo>
                      <a:pt x="2925356" y="932688"/>
                    </a:lnTo>
                    <a:lnTo>
                      <a:pt x="0" y="932688"/>
                    </a:lnTo>
                    <a:close/>
                  </a:path>
                </a:pathLst>
              </a:custGeom>
              <a:blipFill>
                <a:blip r:embed="rId3">
                  <a:alphaModFix amt="0"/>
                </a:blip>
                <a:stretch>
                  <a:fillRect t="-67674" r="-92547" b="-67674"/>
                </a:stretch>
              </a:blipFill>
            </p:spPr>
          </p:sp>
          <p:sp>
            <p:nvSpPr>
              <p:cNvPr id="171" name="TextBox 171"/>
              <p:cNvSpPr txBox="1"/>
              <p:nvPr/>
            </p:nvSpPr>
            <p:spPr>
              <a:xfrm>
                <a:off x="0" y="0"/>
                <a:ext cx="2925356"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Axis Bluechip Fund</a:t>
                </a:r>
              </a:p>
            </p:txBody>
          </p:sp>
        </p:grpSp>
        <p:grpSp>
          <p:nvGrpSpPr>
            <p:cNvPr id="172" name="Group 172"/>
            <p:cNvGrpSpPr/>
            <p:nvPr/>
          </p:nvGrpSpPr>
          <p:grpSpPr>
            <a:xfrm>
              <a:off x="0" y="8388604"/>
              <a:ext cx="2925356" cy="932688"/>
              <a:chOff x="0" y="0"/>
              <a:chExt cx="2925356" cy="932688"/>
            </a:xfrm>
          </p:grpSpPr>
          <p:sp>
            <p:nvSpPr>
              <p:cNvPr id="173" name="Freeform 173"/>
              <p:cNvSpPr/>
              <p:nvPr/>
            </p:nvSpPr>
            <p:spPr>
              <a:xfrm>
                <a:off x="0" y="0"/>
                <a:ext cx="2925356" cy="932688"/>
              </a:xfrm>
              <a:custGeom>
                <a:avLst/>
                <a:gdLst/>
                <a:ahLst/>
                <a:cxnLst/>
                <a:rect l="l" t="t" r="r" b="b"/>
                <a:pathLst>
                  <a:path w="2925356" h="932688">
                    <a:moveTo>
                      <a:pt x="0" y="0"/>
                    </a:moveTo>
                    <a:lnTo>
                      <a:pt x="2925356" y="0"/>
                    </a:lnTo>
                    <a:lnTo>
                      <a:pt x="2925356" y="932688"/>
                    </a:lnTo>
                    <a:lnTo>
                      <a:pt x="0" y="932688"/>
                    </a:lnTo>
                    <a:close/>
                  </a:path>
                </a:pathLst>
              </a:custGeom>
              <a:blipFill>
                <a:blip r:embed="rId3">
                  <a:alphaModFix amt="0"/>
                </a:blip>
                <a:stretch>
                  <a:fillRect t="-67674" r="-92547" b="-67674"/>
                </a:stretch>
              </a:blipFill>
            </p:spPr>
          </p:sp>
          <p:sp>
            <p:nvSpPr>
              <p:cNvPr id="174" name="TextBox 174"/>
              <p:cNvSpPr txBox="1"/>
              <p:nvPr/>
            </p:nvSpPr>
            <p:spPr>
              <a:xfrm>
                <a:off x="0" y="0"/>
                <a:ext cx="2925356"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SBI Small Cap Fund</a:t>
                </a:r>
              </a:p>
            </p:txBody>
          </p:sp>
        </p:grpSp>
        <p:grpSp>
          <p:nvGrpSpPr>
            <p:cNvPr id="175" name="Group 175"/>
            <p:cNvGrpSpPr/>
            <p:nvPr/>
          </p:nvGrpSpPr>
          <p:grpSpPr>
            <a:xfrm>
              <a:off x="0" y="7455916"/>
              <a:ext cx="2925356" cy="932688"/>
              <a:chOff x="0" y="0"/>
              <a:chExt cx="2925356" cy="932688"/>
            </a:xfrm>
          </p:grpSpPr>
          <p:sp>
            <p:nvSpPr>
              <p:cNvPr id="176" name="Freeform 176"/>
              <p:cNvSpPr/>
              <p:nvPr/>
            </p:nvSpPr>
            <p:spPr>
              <a:xfrm>
                <a:off x="0" y="0"/>
                <a:ext cx="2925356" cy="932688"/>
              </a:xfrm>
              <a:custGeom>
                <a:avLst/>
                <a:gdLst/>
                <a:ahLst/>
                <a:cxnLst/>
                <a:rect l="l" t="t" r="r" b="b"/>
                <a:pathLst>
                  <a:path w="2925356" h="932688">
                    <a:moveTo>
                      <a:pt x="0" y="0"/>
                    </a:moveTo>
                    <a:lnTo>
                      <a:pt x="2925356" y="0"/>
                    </a:lnTo>
                    <a:lnTo>
                      <a:pt x="2925356" y="932688"/>
                    </a:lnTo>
                    <a:lnTo>
                      <a:pt x="0" y="932688"/>
                    </a:lnTo>
                    <a:close/>
                  </a:path>
                </a:pathLst>
              </a:custGeom>
              <a:blipFill>
                <a:blip r:embed="rId3">
                  <a:alphaModFix amt="0"/>
                </a:blip>
                <a:stretch>
                  <a:fillRect t="-67674" r="-92547" b="-67674"/>
                </a:stretch>
              </a:blipFill>
            </p:spPr>
          </p:sp>
          <p:sp>
            <p:nvSpPr>
              <p:cNvPr id="177" name="TextBox 177"/>
              <p:cNvSpPr txBox="1"/>
              <p:nvPr/>
            </p:nvSpPr>
            <p:spPr>
              <a:xfrm>
                <a:off x="0" y="0"/>
                <a:ext cx="2925356"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ABSL Small Cap Fund</a:t>
                </a:r>
              </a:p>
            </p:txBody>
          </p:sp>
        </p:grpSp>
        <p:grpSp>
          <p:nvGrpSpPr>
            <p:cNvPr id="178" name="Group 178"/>
            <p:cNvGrpSpPr/>
            <p:nvPr/>
          </p:nvGrpSpPr>
          <p:grpSpPr>
            <a:xfrm>
              <a:off x="0" y="4676140"/>
              <a:ext cx="2925356" cy="932688"/>
              <a:chOff x="0" y="0"/>
              <a:chExt cx="2925356" cy="932688"/>
            </a:xfrm>
          </p:grpSpPr>
          <p:sp>
            <p:nvSpPr>
              <p:cNvPr id="179" name="Freeform 179"/>
              <p:cNvSpPr/>
              <p:nvPr/>
            </p:nvSpPr>
            <p:spPr>
              <a:xfrm>
                <a:off x="0" y="0"/>
                <a:ext cx="2925356" cy="932688"/>
              </a:xfrm>
              <a:custGeom>
                <a:avLst/>
                <a:gdLst/>
                <a:ahLst/>
                <a:cxnLst/>
                <a:rect l="l" t="t" r="r" b="b"/>
                <a:pathLst>
                  <a:path w="2925356" h="932688">
                    <a:moveTo>
                      <a:pt x="0" y="0"/>
                    </a:moveTo>
                    <a:lnTo>
                      <a:pt x="2925356" y="0"/>
                    </a:lnTo>
                    <a:lnTo>
                      <a:pt x="2925356" y="932688"/>
                    </a:lnTo>
                    <a:lnTo>
                      <a:pt x="0" y="932688"/>
                    </a:lnTo>
                    <a:close/>
                  </a:path>
                </a:pathLst>
              </a:custGeom>
              <a:blipFill>
                <a:blip r:embed="rId3">
                  <a:alphaModFix amt="0"/>
                </a:blip>
                <a:stretch>
                  <a:fillRect t="-67674" r="-92547" b="-67674"/>
                </a:stretch>
              </a:blipFill>
            </p:spPr>
          </p:sp>
          <p:sp>
            <p:nvSpPr>
              <p:cNvPr id="180" name="TextBox 180"/>
              <p:cNvSpPr txBox="1"/>
              <p:nvPr/>
            </p:nvSpPr>
            <p:spPr>
              <a:xfrm>
                <a:off x="0" y="0"/>
                <a:ext cx="2925356"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Axis Small Cap Fund</a:t>
                </a:r>
              </a:p>
            </p:txBody>
          </p:sp>
        </p:grpSp>
        <p:grpSp>
          <p:nvGrpSpPr>
            <p:cNvPr id="181" name="Group 181"/>
            <p:cNvGrpSpPr/>
            <p:nvPr/>
          </p:nvGrpSpPr>
          <p:grpSpPr>
            <a:xfrm>
              <a:off x="0" y="3743452"/>
              <a:ext cx="2925356" cy="932688"/>
              <a:chOff x="0" y="0"/>
              <a:chExt cx="2925356" cy="932688"/>
            </a:xfrm>
          </p:grpSpPr>
          <p:sp>
            <p:nvSpPr>
              <p:cNvPr id="182" name="Freeform 182"/>
              <p:cNvSpPr/>
              <p:nvPr/>
            </p:nvSpPr>
            <p:spPr>
              <a:xfrm>
                <a:off x="0" y="0"/>
                <a:ext cx="2925356" cy="932688"/>
              </a:xfrm>
              <a:custGeom>
                <a:avLst/>
                <a:gdLst/>
                <a:ahLst/>
                <a:cxnLst/>
                <a:rect l="l" t="t" r="r" b="b"/>
                <a:pathLst>
                  <a:path w="2925356" h="932688">
                    <a:moveTo>
                      <a:pt x="0" y="0"/>
                    </a:moveTo>
                    <a:lnTo>
                      <a:pt x="2925356" y="0"/>
                    </a:lnTo>
                    <a:lnTo>
                      <a:pt x="2925356" y="932688"/>
                    </a:lnTo>
                    <a:lnTo>
                      <a:pt x="0" y="932688"/>
                    </a:lnTo>
                    <a:close/>
                  </a:path>
                </a:pathLst>
              </a:custGeom>
              <a:blipFill>
                <a:blip r:embed="rId3">
                  <a:alphaModFix amt="0"/>
                </a:blip>
                <a:stretch>
                  <a:fillRect t="-67674" r="-92547" b="-67674"/>
                </a:stretch>
              </a:blipFill>
            </p:spPr>
          </p:sp>
          <p:sp>
            <p:nvSpPr>
              <p:cNvPr id="183" name="TextBox 183"/>
              <p:cNvSpPr txBox="1"/>
              <p:nvPr/>
            </p:nvSpPr>
            <p:spPr>
              <a:xfrm>
                <a:off x="0" y="0"/>
                <a:ext cx="2925356"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ABSL Liquid Fund</a:t>
                </a:r>
              </a:p>
            </p:txBody>
          </p:sp>
        </p:grpSp>
        <p:grpSp>
          <p:nvGrpSpPr>
            <p:cNvPr id="184" name="Group 184"/>
            <p:cNvGrpSpPr/>
            <p:nvPr/>
          </p:nvGrpSpPr>
          <p:grpSpPr>
            <a:xfrm>
              <a:off x="0" y="2798064"/>
              <a:ext cx="2925356" cy="932688"/>
              <a:chOff x="0" y="0"/>
              <a:chExt cx="2925356" cy="932688"/>
            </a:xfrm>
          </p:grpSpPr>
          <p:sp>
            <p:nvSpPr>
              <p:cNvPr id="185" name="Freeform 185"/>
              <p:cNvSpPr/>
              <p:nvPr/>
            </p:nvSpPr>
            <p:spPr>
              <a:xfrm>
                <a:off x="0" y="0"/>
                <a:ext cx="2925356" cy="932688"/>
              </a:xfrm>
              <a:custGeom>
                <a:avLst/>
                <a:gdLst/>
                <a:ahLst/>
                <a:cxnLst/>
                <a:rect l="l" t="t" r="r" b="b"/>
                <a:pathLst>
                  <a:path w="2925356" h="932688">
                    <a:moveTo>
                      <a:pt x="0" y="0"/>
                    </a:moveTo>
                    <a:lnTo>
                      <a:pt x="2925356" y="0"/>
                    </a:lnTo>
                    <a:lnTo>
                      <a:pt x="2925356" y="932688"/>
                    </a:lnTo>
                    <a:lnTo>
                      <a:pt x="0" y="932688"/>
                    </a:lnTo>
                    <a:close/>
                  </a:path>
                </a:pathLst>
              </a:custGeom>
              <a:blipFill>
                <a:blip r:embed="rId3">
                  <a:alphaModFix amt="0"/>
                </a:blip>
                <a:stretch>
                  <a:fillRect t="-67674" r="-92547" b="-67674"/>
                </a:stretch>
              </a:blipFill>
            </p:spPr>
          </p:sp>
          <p:sp>
            <p:nvSpPr>
              <p:cNvPr id="186" name="TextBox 186"/>
              <p:cNvSpPr txBox="1"/>
              <p:nvPr/>
            </p:nvSpPr>
            <p:spPr>
              <a:xfrm>
                <a:off x="0" y="0"/>
                <a:ext cx="2925356"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HDFC Short Term Debt Fund</a:t>
                </a:r>
              </a:p>
            </p:txBody>
          </p:sp>
        </p:grpSp>
        <p:grpSp>
          <p:nvGrpSpPr>
            <p:cNvPr id="187" name="Group 187"/>
            <p:cNvGrpSpPr/>
            <p:nvPr/>
          </p:nvGrpSpPr>
          <p:grpSpPr>
            <a:xfrm>
              <a:off x="0" y="1865376"/>
              <a:ext cx="2925356" cy="932688"/>
              <a:chOff x="0" y="0"/>
              <a:chExt cx="2925356" cy="932688"/>
            </a:xfrm>
          </p:grpSpPr>
          <p:sp>
            <p:nvSpPr>
              <p:cNvPr id="188" name="Freeform 188"/>
              <p:cNvSpPr/>
              <p:nvPr/>
            </p:nvSpPr>
            <p:spPr>
              <a:xfrm>
                <a:off x="0" y="0"/>
                <a:ext cx="2925356" cy="932688"/>
              </a:xfrm>
              <a:custGeom>
                <a:avLst/>
                <a:gdLst/>
                <a:ahLst/>
                <a:cxnLst/>
                <a:rect l="l" t="t" r="r" b="b"/>
                <a:pathLst>
                  <a:path w="2925356" h="932688">
                    <a:moveTo>
                      <a:pt x="0" y="0"/>
                    </a:moveTo>
                    <a:lnTo>
                      <a:pt x="2925356" y="0"/>
                    </a:lnTo>
                    <a:lnTo>
                      <a:pt x="2925356" y="932688"/>
                    </a:lnTo>
                    <a:lnTo>
                      <a:pt x="0" y="932688"/>
                    </a:lnTo>
                    <a:close/>
                  </a:path>
                </a:pathLst>
              </a:custGeom>
              <a:blipFill>
                <a:blip r:embed="rId3">
                  <a:alphaModFix amt="0"/>
                </a:blip>
                <a:stretch>
                  <a:fillRect t="-67674" r="-92547" b="-67674"/>
                </a:stretch>
              </a:blipFill>
            </p:spPr>
          </p:sp>
          <p:sp>
            <p:nvSpPr>
              <p:cNvPr id="189" name="TextBox 189"/>
              <p:cNvSpPr txBox="1"/>
              <p:nvPr/>
            </p:nvSpPr>
            <p:spPr>
              <a:xfrm>
                <a:off x="0" y="0"/>
                <a:ext cx="2925356"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UTI Mid Cap Fund</a:t>
                </a:r>
              </a:p>
            </p:txBody>
          </p:sp>
        </p:grpSp>
        <p:grpSp>
          <p:nvGrpSpPr>
            <p:cNvPr id="190" name="Group 190"/>
            <p:cNvGrpSpPr/>
            <p:nvPr/>
          </p:nvGrpSpPr>
          <p:grpSpPr>
            <a:xfrm>
              <a:off x="0" y="6523228"/>
              <a:ext cx="2925356" cy="932688"/>
              <a:chOff x="0" y="0"/>
              <a:chExt cx="2925356" cy="932688"/>
            </a:xfrm>
          </p:grpSpPr>
          <p:sp>
            <p:nvSpPr>
              <p:cNvPr id="191" name="Freeform 191"/>
              <p:cNvSpPr/>
              <p:nvPr/>
            </p:nvSpPr>
            <p:spPr>
              <a:xfrm>
                <a:off x="0" y="0"/>
                <a:ext cx="2925356" cy="932688"/>
              </a:xfrm>
              <a:custGeom>
                <a:avLst/>
                <a:gdLst/>
                <a:ahLst/>
                <a:cxnLst/>
                <a:rect l="l" t="t" r="r" b="b"/>
                <a:pathLst>
                  <a:path w="2925356" h="932688">
                    <a:moveTo>
                      <a:pt x="0" y="0"/>
                    </a:moveTo>
                    <a:lnTo>
                      <a:pt x="2925356" y="0"/>
                    </a:lnTo>
                    <a:lnTo>
                      <a:pt x="2925356" y="932688"/>
                    </a:lnTo>
                    <a:lnTo>
                      <a:pt x="0" y="932688"/>
                    </a:lnTo>
                    <a:close/>
                  </a:path>
                </a:pathLst>
              </a:custGeom>
              <a:blipFill>
                <a:blip r:embed="rId3">
                  <a:alphaModFix amt="0"/>
                </a:blip>
                <a:stretch>
                  <a:fillRect t="-67674" r="-92547" b="-67674"/>
                </a:stretch>
              </a:blipFill>
            </p:spPr>
          </p:sp>
          <p:sp>
            <p:nvSpPr>
              <p:cNvPr id="192" name="TextBox 192"/>
              <p:cNvSpPr txBox="1"/>
              <p:nvPr/>
            </p:nvSpPr>
            <p:spPr>
              <a:xfrm>
                <a:off x="0" y="0"/>
                <a:ext cx="2925356"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Nippon India Gilt Securities</a:t>
                </a:r>
              </a:p>
              <a:p>
                <a:pPr algn="r">
                  <a:lnSpc>
                    <a:spcPts val="1709"/>
                  </a:lnSpc>
                </a:pPr>
                <a:r>
                  <a:rPr lang="en-US" sz="1425">
                    <a:solidFill>
                      <a:srgbClr val="0D1B2A"/>
                    </a:solidFill>
                    <a:latin typeface="DM Sans"/>
                    <a:ea typeface="DM Sans"/>
                    <a:cs typeface="DM Sans"/>
                    <a:sym typeface="DM Sans"/>
                  </a:rPr>
                  <a:t>Fund</a:t>
                </a:r>
              </a:p>
            </p:txBody>
          </p:sp>
        </p:grpSp>
        <p:grpSp>
          <p:nvGrpSpPr>
            <p:cNvPr id="193" name="Group 193"/>
            <p:cNvGrpSpPr/>
            <p:nvPr/>
          </p:nvGrpSpPr>
          <p:grpSpPr>
            <a:xfrm>
              <a:off x="0" y="5596128"/>
              <a:ext cx="2925356" cy="932688"/>
              <a:chOff x="0" y="0"/>
              <a:chExt cx="2925356" cy="932688"/>
            </a:xfrm>
          </p:grpSpPr>
          <p:sp>
            <p:nvSpPr>
              <p:cNvPr id="194" name="Freeform 194"/>
              <p:cNvSpPr/>
              <p:nvPr/>
            </p:nvSpPr>
            <p:spPr>
              <a:xfrm>
                <a:off x="0" y="0"/>
                <a:ext cx="2925356" cy="932688"/>
              </a:xfrm>
              <a:custGeom>
                <a:avLst/>
                <a:gdLst/>
                <a:ahLst/>
                <a:cxnLst/>
                <a:rect l="l" t="t" r="r" b="b"/>
                <a:pathLst>
                  <a:path w="2925356" h="932688">
                    <a:moveTo>
                      <a:pt x="0" y="0"/>
                    </a:moveTo>
                    <a:lnTo>
                      <a:pt x="2925356" y="0"/>
                    </a:lnTo>
                    <a:lnTo>
                      <a:pt x="2925356" y="932688"/>
                    </a:lnTo>
                    <a:lnTo>
                      <a:pt x="0" y="932688"/>
                    </a:lnTo>
                    <a:close/>
                  </a:path>
                </a:pathLst>
              </a:custGeom>
              <a:blipFill>
                <a:blip r:embed="rId3">
                  <a:alphaModFix amt="0"/>
                </a:blip>
                <a:stretch>
                  <a:fillRect t="-67674" r="-92547" b="-67674"/>
                </a:stretch>
              </a:blipFill>
            </p:spPr>
          </p:sp>
          <p:sp>
            <p:nvSpPr>
              <p:cNvPr id="195" name="TextBox 195"/>
              <p:cNvSpPr txBox="1"/>
              <p:nvPr/>
            </p:nvSpPr>
            <p:spPr>
              <a:xfrm>
                <a:off x="0" y="0"/>
                <a:ext cx="2925356"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SBI Magnum Gilt Fund</a:t>
                </a:r>
              </a:p>
            </p:txBody>
          </p:sp>
        </p:grpSp>
      </p:grpSp>
      <p:grpSp>
        <p:nvGrpSpPr>
          <p:cNvPr id="196" name="Group 196"/>
          <p:cNvGrpSpPr/>
          <p:nvPr/>
        </p:nvGrpSpPr>
        <p:grpSpPr>
          <a:xfrm>
            <a:off x="3541030" y="2612708"/>
            <a:ext cx="1395324" cy="6990969"/>
            <a:chOff x="0" y="0"/>
            <a:chExt cx="1860433" cy="9321292"/>
          </a:xfrm>
        </p:grpSpPr>
        <p:grpSp>
          <p:nvGrpSpPr>
            <p:cNvPr id="197" name="Group 197"/>
            <p:cNvGrpSpPr/>
            <p:nvPr/>
          </p:nvGrpSpPr>
          <p:grpSpPr>
            <a:xfrm>
              <a:off x="0" y="958088"/>
              <a:ext cx="1860433" cy="932688"/>
              <a:chOff x="0" y="0"/>
              <a:chExt cx="1860433" cy="932688"/>
            </a:xfrm>
          </p:grpSpPr>
          <p:sp>
            <p:nvSpPr>
              <p:cNvPr id="198" name="Freeform 198"/>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199" name="TextBox 199"/>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81.54</a:t>
                </a:r>
              </a:p>
            </p:txBody>
          </p:sp>
        </p:grpSp>
        <p:grpSp>
          <p:nvGrpSpPr>
            <p:cNvPr id="200" name="Group 200"/>
            <p:cNvGrpSpPr/>
            <p:nvPr/>
          </p:nvGrpSpPr>
          <p:grpSpPr>
            <a:xfrm>
              <a:off x="0" y="0"/>
              <a:ext cx="1860433" cy="932688"/>
              <a:chOff x="0" y="0"/>
              <a:chExt cx="1860433" cy="932688"/>
            </a:xfrm>
          </p:grpSpPr>
          <p:sp>
            <p:nvSpPr>
              <p:cNvPr id="201" name="Freeform 201"/>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02" name="TextBox 202"/>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82.88</a:t>
                </a:r>
              </a:p>
            </p:txBody>
          </p:sp>
        </p:grpSp>
        <p:grpSp>
          <p:nvGrpSpPr>
            <p:cNvPr id="203" name="Group 203"/>
            <p:cNvGrpSpPr/>
            <p:nvPr/>
          </p:nvGrpSpPr>
          <p:grpSpPr>
            <a:xfrm>
              <a:off x="0" y="8388604"/>
              <a:ext cx="1860433" cy="932688"/>
              <a:chOff x="0" y="0"/>
              <a:chExt cx="1860433" cy="932688"/>
            </a:xfrm>
          </p:grpSpPr>
          <p:sp>
            <p:nvSpPr>
              <p:cNvPr id="204" name="Freeform 204"/>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05" name="TextBox 205"/>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68.65</a:t>
                </a:r>
              </a:p>
            </p:txBody>
          </p:sp>
        </p:grpSp>
        <p:grpSp>
          <p:nvGrpSpPr>
            <p:cNvPr id="206" name="Group 206"/>
            <p:cNvGrpSpPr/>
            <p:nvPr/>
          </p:nvGrpSpPr>
          <p:grpSpPr>
            <a:xfrm>
              <a:off x="0" y="7455916"/>
              <a:ext cx="1860433" cy="932688"/>
              <a:chOff x="0" y="0"/>
              <a:chExt cx="1860433" cy="932688"/>
            </a:xfrm>
          </p:grpSpPr>
          <p:sp>
            <p:nvSpPr>
              <p:cNvPr id="207" name="Freeform 207"/>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08" name="TextBox 208"/>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71.60</a:t>
                </a:r>
              </a:p>
            </p:txBody>
          </p:sp>
        </p:grpSp>
        <p:grpSp>
          <p:nvGrpSpPr>
            <p:cNvPr id="209" name="Group 209"/>
            <p:cNvGrpSpPr/>
            <p:nvPr/>
          </p:nvGrpSpPr>
          <p:grpSpPr>
            <a:xfrm>
              <a:off x="0" y="4676140"/>
              <a:ext cx="1860433" cy="932688"/>
              <a:chOff x="0" y="0"/>
              <a:chExt cx="1860433" cy="932688"/>
            </a:xfrm>
          </p:grpSpPr>
          <p:sp>
            <p:nvSpPr>
              <p:cNvPr id="210" name="Freeform 210"/>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11" name="TextBox 211"/>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76.03</a:t>
                </a:r>
              </a:p>
            </p:txBody>
          </p:sp>
        </p:grpSp>
        <p:grpSp>
          <p:nvGrpSpPr>
            <p:cNvPr id="212" name="Group 212"/>
            <p:cNvGrpSpPr/>
            <p:nvPr/>
          </p:nvGrpSpPr>
          <p:grpSpPr>
            <a:xfrm>
              <a:off x="0" y="3743452"/>
              <a:ext cx="1860433" cy="932688"/>
              <a:chOff x="0" y="0"/>
              <a:chExt cx="1860433" cy="932688"/>
            </a:xfrm>
          </p:grpSpPr>
          <p:sp>
            <p:nvSpPr>
              <p:cNvPr id="213" name="Freeform 213"/>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14" name="TextBox 214"/>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77.18</a:t>
                </a:r>
              </a:p>
            </p:txBody>
          </p:sp>
        </p:grpSp>
        <p:grpSp>
          <p:nvGrpSpPr>
            <p:cNvPr id="215" name="Group 215"/>
            <p:cNvGrpSpPr/>
            <p:nvPr/>
          </p:nvGrpSpPr>
          <p:grpSpPr>
            <a:xfrm>
              <a:off x="0" y="2798064"/>
              <a:ext cx="1860433" cy="932688"/>
              <a:chOff x="0" y="0"/>
              <a:chExt cx="1860433" cy="932688"/>
            </a:xfrm>
          </p:grpSpPr>
          <p:sp>
            <p:nvSpPr>
              <p:cNvPr id="216" name="Freeform 216"/>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17" name="TextBox 217"/>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78.97</a:t>
                </a:r>
              </a:p>
            </p:txBody>
          </p:sp>
        </p:grpSp>
        <p:grpSp>
          <p:nvGrpSpPr>
            <p:cNvPr id="218" name="Group 218"/>
            <p:cNvGrpSpPr/>
            <p:nvPr/>
          </p:nvGrpSpPr>
          <p:grpSpPr>
            <a:xfrm>
              <a:off x="0" y="1865376"/>
              <a:ext cx="1860433" cy="932688"/>
              <a:chOff x="0" y="0"/>
              <a:chExt cx="1860433" cy="932688"/>
            </a:xfrm>
          </p:grpSpPr>
          <p:sp>
            <p:nvSpPr>
              <p:cNvPr id="219" name="Freeform 219"/>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20" name="TextBox 220"/>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81.09</a:t>
                </a:r>
              </a:p>
            </p:txBody>
          </p:sp>
        </p:grpSp>
        <p:grpSp>
          <p:nvGrpSpPr>
            <p:cNvPr id="221" name="Group 221"/>
            <p:cNvGrpSpPr/>
            <p:nvPr/>
          </p:nvGrpSpPr>
          <p:grpSpPr>
            <a:xfrm>
              <a:off x="0" y="6523228"/>
              <a:ext cx="1860433" cy="932688"/>
              <a:chOff x="0" y="0"/>
              <a:chExt cx="1860433" cy="932688"/>
            </a:xfrm>
          </p:grpSpPr>
          <p:sp>
            <p:nvSpPr>
              <p:cNvPr id="222" name="Freeform 222"/>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23" name="TextBox 223"/>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74.49</a:t>
                </a:r>
              </a:p>
            </p:txBody>
          </p:sp>
        </p:grpSp>
        <p:grpSp>
          <p:nvGrpSpPr>
            <p:cNvPr id="224" name="Group 224"/>
            <p:cNvGrpSpPr/>
            <p:nvPr/>
          </p:nvGrpSpPr>
          <p:grpSpPr>
            <a:xfrm>
              <a:off x="0" y="5596128"/>
              <a:ext cx="1860433" cy="932688"/>
              <a:chOff x="0" y="0"/>
              <a:chExt cx="1860433" cy="932688"/>
            </a:xfrm>
          </p:grpSpPr>
          <p:sp>
            <p:nvSpPr>
              <p:cNvPr id="225" name="Freeform 225"/>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26" name="TextBox 226"/>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74.62</a:t>
                </a:r>
              </a:p>
            </p:txBody>
          </p:sp>
        </p:grpSp>
      </p:grpSp>
      <p:grpSp>
        <p:nvGrpSpPr>
          <p:cNvPr id="227" name="Group 227"/>
          <p:cNvGrpSpPr/>
          <p:nvPr/>
        </p:nvGrpSpPr>
        <p:grpSpPr>
          <a:xfrm>
            <a:off x="5162003" y="2612708"/>
            <a:ext cx="1395324" cy="6990969"/>
            <a:chOff x="0" y="0"/>
            <a:chExt cx="1860433" cy="9321292"/>
          </a:xfrm>
        </p:grpSpPr>
        <p:grpSp>
          <p:nvGrpSpPr>
            <p:cNvPr id="228" name="Group 228"/>
            <p:cNvGrpSpPr/>
            <p:nvPr/>
          </p:nvGrpSpPr>
          <p:grpSpPr>
            <a:xfrm>
              <a:off x="0" y="8388604"/>
              <a:ext cx="1860433" cy="932688"/>
              <a:chOff x="0" y="0"/>
              <a:chExt cx="1860433" cy="932688"/>
            </a:xfrm>
          </p:grpSpPr>
          <p:sp>
            <p:nvSpPr>
              <p:cNvPr id="229" name="Freeform 229"/>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30" name="TextBox 230"/>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-1.2883</a:t>
                </a:r>
              </a:p>
            </p:txBody>
          </p:sp>
        </p:grpSp>
        <p:grpSp>
          <p:nvGrpSpPr>
            <p:cNvPr id="231" name="Group 231"/>
            <p:cNvGrpSpPr/>
            <p:nvPr/>
          </p:nvGrpSpPr>
          <p:grpSpPr>
            <a:xfrm>
              <a:off x="0" y="958088"/>
              <a:ext cx="1860433" cy="932688"/>
              <a:chOff x="0" y="0"/>
              <a:chExt cx="1860433" cy="932688"/>
            </a:xfrm>
          </p:grpSpPr>
          <p:sp>
            <p:nvSpPr>
              <p:cNvPr id="232" name="Freeform 232"/>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33" name="TextBox 233"/>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1.2446</a:t>
                </a:r>
              </a:p>
            </p:txBody>
          </p:sp>
        </p:grpSp>
        <p:grpSp>
          <p:nvGrpSpPr>
            <p:cNvPr id="234" name="Group 234"/>
            <p:cNvGrpSpPr/>
            <p:nvPr/>
          </p:nvGrpSpPr>
          <p:grpSpPr>
            <a:xfrm>
              <a:off x="0" y="0"/>
              <a:ext cx="1860433" cy="932688"/>
              <a:chOff x="0" y="0"/>
              <a:chExt cx="1860433" cy="932688"/>
            </a:xfrm>
          </p:grpSpPr>
          <p:sp>
            <p:nvSpPr>
              <p:cNvPr id="235" name="Freeform 235"/>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36" name="TextBox 236"/>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0.5064</a:t>
                </a:r>
              </a:p>
            </p:txBody>
          </p:sp>
        </p:grpSp>
        <p:grpSp>
          <p:nvGrpSpPr>
            <p:cNvPr id="237" name="Group 237"/>
            <p:cNvGrpSpPr/>
            <p:nvPr/>
          </p:nvGrpSpPr>
          <p:grpSpPr>
            <a:xfrm>
              <a:off x="0" y="7455916"/>
              <a:ext cx="1860433" cy="932688"/>
              <a:chOff x="0" y="0"/>
              <a:chExt cx="1860433" cy="932688"/>
            </a:xfrm>
          </p:grpSpPr>
          <p:sp>
            <p:nvSpPr>
              <p:cNvPr id="238" name="Freeform 238"/>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39" name="TextBox 239"/>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-4.0021</a:t>
                </a:r>
              </a:p>
            </p:txBody>
          </p:sp>
        </p:grpSp>
        <p:grpSp>
          <p:nvGrpSpPr>
            <p:cNvPr id="240" name="Group 240"/>
            <p:cNvGrpSpPr/>
            <p:nvPr/>
          </p:nvGrpSpPr>
          <p:grpSpPr>
            <a:xfrm>
              <a:off x="0" y="4676140"/>
              <a:ext cx="1860433" cy="932688"/>
              <a:chOff x="0" y="0"/>
              <a:chExt cx="1860433" cy="932688"/>
            </a:xfrm>
          </p:grpSpPr>
          <p:sp>
            <p:nvSpPr>
              <p:cNvPr id="241" name="Freeform 241"/>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42" name="TextBox 242"/>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-11.2988</a:t>
                </a:r>
              </a:p>
            </p:txBody>
          </p:sp>
        </p:grpSp>
        <p:grpSp>
          <p:nvGrpSpPr>
            <p:cNvPr id="243" name="Group 243"/>
            <p:cNvGrpSpPr/>
            <p:nvPr/>
          </p:nvGrpSpPr>
          <p:grpSpPr>
            <a:xfrm>
              <a:off x="0" y="3743452"/>
              <a:ext cx="1860433" cy="932688"/>
              <a:chOff x="0" y="0"/>
              <a:chExt cx="1860433" cy="932688"/>
            </a:xfrm>
          </p:grpSpPr>
          <p:sp>
            <p:nvSpPr>
              <p:cNvPr id="244" name="Freeform 244"/>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45" name="TextBox 245"/>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6.0755</a:t>
                </a:r>
              </a:p>
            </p:txBody>
          </p:sp>
        </p:grpSp>
        <p:grpSp>
          <p:nvGrpSpPr>
            <p:cNvPr id="246" name="Group 246"/>
            <p:cNvGrpSpPr/>
            <p:nvPr/>
          </p:nvGrpSpPr>
          <p:grpSpPr>
            <a:xfrm>
              <a:off x="0" y="2798064"/>
              <a:ext cx="1860433" cy="932688"/>
              <a:chOff x="0" y="0"/>
              <a:chExt cx="1860433" cy="932688"/>
            </a:xfrm>
          </p:grpSpPr>
          <p:sp>
            <p:nvSpPr>
              <p:cNvPr id="247" name="Freeform 247"/>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48" name="TextBox 248"/>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3.7690</a:t>
                </a:r>
              </a:p>
            </p:txBody>
          </p:sp>
        </p:grpSp>
        <p:grpSp>
          <p:nvGrpSpPr>
            <p:cNvPr id="249" name="Group 249"/>
            <p:cNvGrpSpPr/>
            <p:nvPr/>
          </p:nvGrpSpPr>
          <p:grpSpPr>
            <a:xfrm>
              <a:off x="0" y="1865376"/>
              <a:ext cx="1860433" cy="932688"/>
              <a:chOff x="0" y="0"/>
              <a:chExt cx="1860433" cy="932688"/>
            </a:xfrm>
          </p:grpSpPr>
          <p:sp>
            <p:nvSpPr>
              <p:cNvPr id="250" name="Freeform 250"/>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51" name="TextBox 251"/>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-0.7392</a:t>
                </a:r>
              </a:p>
            </p:txBody>
          </p:sp>
        </p:grpSp>
        <p:grpSp>
          <p:nvGrpSpPr>
            <p:cNvPr id="252" name="Group 252"/>
            <p:cNvGrpSpPr/>
            <p:nvPr/>
          </p:nvGrpSpPr>
          <p:grpSpPr>
            <a:xfrm>
              <a:off x="0" y="6523228"/>
              <a:ext cx="1860433" cy="932688"/>
              <a:chOff x="0" y="0"/>
              <a:chExt cx="1860433" cy="932688"/>
            </a:xfrm>
          </p:grpSpPr>
          <p:sp>
            <p:nvSpPr>
              <p:cNvPr id="253" name="Freeform 253"/>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54" name="TextBox 254"/>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3.9092</a:t>
                </a:r>
              </a:p>
            </p:txBody>
          </p:sp>
        </p:grpSp>
        <p:grpSp>
          <p:nvGrpSpPr>
            <p:cNvPr id="255" name="Group 255"/>
            <p:cNvGrpSpPr/>
            <p:nvPr/>
          </p:nvGrpSpPr>
          <p:grpSpPr>
            <a:xfrm>
              <a:off x="0" y="5596128"/>
              <a:ext cx="1860433" cy="932688"/>
              <a:chOff x="0" y="0"/>
              <a:chExt cx="1860433" cy="932688"/>
            </a:xfrm>
          </p:grpSpPr>
          <p:sp>
            <p:nvSpPr>
              <p:cNvPr id="256" name="Freeform 256"/>
              <p:cNvSpPr/>
              <p:nvPr/>
            </p:nvSpPr>
            <p:spPr>
              <a:xfrm>
                <a:off x="0" y="0"/>
                <a:ext cx="1860433" cy="932688"/>
              </a:xfrm>
              <a:custGeom>
                <a:avLst/>
                <a:gdLst/>
                <a:ahLst/>
                <a:cxnLst/>
                <a:rect l="l" t="t" r="r" b="b"/>
                <a:pathLst>
                  <a:path w="1860433" h="932688">
                    <a:moveTo>
                      <a:pt x="0" y="0"/>
                    </a:moveTo>
                    <a:lnTo>
                      <a:pt x="1860433" y="0"/>
                    </a:lnTo>
                    <a:lnTo>
                      <a:pt x="1860433" y="932688"/>
                    </a:lnTo>
                    <a:lnTo>
                      <a:pt x="0" y="932688"/>
                    </a:lnTo>
                    <a:close/>
                  </a:path>
                </a:pathLst>
              </a:custGeom>
              <a:blipFill>
                <a:blip r:embed="rId3">
                  <a:alphaModFix amt="0"/>
                </a:blip>
                <a:stretch>
                  <a:fillRect t="-67674" r="-202763" b="-67674"/>
                </a:stretch>
              </a:blipFill>
            </p:spPr>
          </p:sp>
          <p:sp>
            <p:nvSpPr>
              <p:cNvPr id="257" name="TextBox 257"/>
              <p:cNvSpPr txBox="1"/>
              <p:nvPr/>
            </p:nvSpPr>
            <p:spPr>
              <a:xfrm>
                <a:off x="0" y="0"/>
                <a:ext cx="1860433"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5.6187</a:t>
                </a:r>
              </a:p>
            </p:txBody>
          </p:sp>
        </p:grpSp>
      </p:grpSp>
      <p:grpSp>
        <p:nvGrpSpPr>
          <p:cNvPr id="258" name="Group 258"/>
          <p:cNvGrpSpPr/>
          <p:nvPr/>
        </p:nvGrpSpPr>
        <p:grpSpPr>
          <a:xfrm>
            <a:off x="6768390" y="2612708"/>
            <a:ext cx="1512555" cy="6990969"/>
            <a:chOff x="0" y="0"/>
            <a:chExt cx="2016740" cy="9321292"/>
          </a:xfrm>
        </p:grpSpPr>
        <p:grpSp>
          <p:nvGrpSpPr>
            <p:cNvPr id="259" name="Group 259"/>
            <p:cNvGrpSpPr/>
            <p:nvPr/>
          </p:nvGrpSpPr>
          <p:grpSpPr>
            <a:xfrm>
              <a:off x="0" y="8388604"/>
              <a:ext cx="2016740" cy="932688"/>
              <a:chOff x="0" y="0"/>
              <a:chExt cx="2016740" cy="932688"/>
            </a:xfrm>
          </p:grpSpPr>
          <p:sp>
            <p:nvSpPr>
              <p:cNvPr id="260" name="Freeform 260"/>
              <p:cNvSpPr/>
              <p:nvPr/>
            </p:nvSpPr>
            <p:spPr>
              <a:xfrm>
                <a:off x="0" y="0"/>
                <a:ext cx="2016740" cy="932688"/>
              </a:xfrm>
              <a:custGeom>
                <a:avLst/>
                <a:gdLst/>
                <a:ahLst/>
                <a:cxnLst/>
                <a:rect l="l" t="t" r="r" b="b"/>
                <a:pathLst>
                  <a:path w="2016740" h="932688">
                    <a:moveTo>
                      <a:pt x="0" y="0"/>
                    </a:moveTo>
                    <a:lnTo>
                      <a:pt x="2016740" y="0"/>
                    </a:lnTo>
                    <a:lnTo>
                      <a:pt x="2016740" y="932688"/>
                    </a:lnTo>
                    <a:lnTo>
                      <a:pt x="0" y="932688"/>
                    </a:lnTo>
                    <a:close/>
                  </a:path>
                </a:pathLst>
              </a:custGeom>
              <a:blipFill>
                <a:blip r:embed="rId3">
                  <a:alphaModFix amt="0"/>
                </a:blip>
                <a:stretch>
                  <a:fillRect t="-67674" r="-179297" b="-67674"/>
                </a:stretch>
              </a:blipFill>
            </p:spPr>
          </p:sp>
          <p:sp>
            <p:nvSpPr>
              <p:cNvPr id="261" name="TextBox 261"/>
              <p:cNvSpPr txBox="1"/>
              <p:nvPr/>
            </p:nvSpPr>
            <p:spPr>
              <a:xfrm>
                <a:off x="0" y="0"/>
                <a:ext cx="2016740"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-0.0520</a:t>
                </a:r>
              </a:p>
            </p:txBody>
          </p:sp>
        </p:grpSp>
        <p:grpSp>
          <p:nvGrpSpPr>
            <p:cNvPr id="262" name="Group 262"/>
            <p:cNvGrpSpPr/>
            <p:nvPr/>
          </p:nvGrpSpPr>
          <p:grpSpPr>
            <a:xfrm>
              <a:off x="0" y="7455916"/>
              <a:ext cx="2016740" cy="932688"/>
              <a:chOff x="0" y="0"/>
              <a:chExt cx="2016740" cy="932688"/>
            </a:xfrm>
          </p:grpSpPr>
          <p:sp>
            <p:nvSpPr>
              <p:cNvPr id="263" name="Freeform 263"/>
              <p:cNvSpPr/>
              <p:nvPr/>
            </p:nvSpPr>
            <p:spPr>
              <a:xfrm>
                <a:off x="0" y="0"/>
                <a:ext cx="2016740" cy="932688"/>
              </a:xfrm>
              <a:custGeom>
                <a:avLst/>
                <a:gdLst/>
                <a:ahLst/>
                <a:cxnLst/>
                <a:rect l="l" t="t" r="r" b="b"/>
                <a:pathLst>
                  <a:path w="2016740" h="932688">
                    <a:moveTo>
                      <a:pt x="0" y="0"/>
                    </a:moveTo>
                    <a:lnTo>
                      <a:pt x="2016740" y="0"/>
                    </a:lnTo>
                    <a:lnTo>
                      <a:pt x="2016740" y="932688"/>
                    </a:lnTo>
                    <a:lnTo>
                      <a:pt x="0" y="932688"/>
                    </a:lnTo>
                    <a:close/>
                  </a:path>
                </a:pathLst>
              </a:custGeom>
              <a:blipFill>
                <a:blip r:embed="rId3">
                  <a:alphaModFix amt="0"/>
                </a:blip>
                <a:stretch>
                  <a:fillRect t="-67674" r="-179297" b="-67674"/>
                </a:stretch>
              </a:blipFill>
            </p:spPr>
          </p:sp>
          <p:sp>
            <p:nvSpPr>
              <p:cNvPr id="264" name="TextBox 264"/>
              <p:cNvSpPr txBox="1"/>
              <p:nvPr/>
            </p:nvSpPr>
            <p:spPr>
              <a:xfrm>
                <a:off x="0" y="0"/>
                <a:ext cx="2016740"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0.1855</a:t>
                </a:r>
              </a:p>
            </p:txBody>
          </p:sp>
        </p:grpSp>
        <p:grpSp>
          <p:nvGrpSpPr>
            <p:cNvPr id="265" name="Group 265"/>
            <p:cNvGrpSpPr/>
            <p:nvPr/>
          </p:nvGrpSpPr>
          <p:grpSpPr>
            <a:xfrm>
              <a:off x="0" y="4676140"/>
              <a:ext cx="2016740" cy="932688"/>
              <a:chOff x="0" y="0"/>
              <a:chExt cx="2016740" cy="932688"/>
            </a:xfrm>
          </p:grpSpPr>
          <p:sp>
            <p:nvSpPr>
              <p:cNvPr id="266" name="Freeform 266"/>
              <p:cNvSpPr/>
              <p:nvPr/>
            </p:nvSpPr>
            <p:spPr>
              <a:xfrm>
                <a:off x="0" y="0"/>
                <a:ext cx="2016740" cy="932688"/>
              </a:xfrm>
              <a:custGeom>
                <a:avLst/>
                <a:gdLst/>
                <a:ahLst/>
                <a:cxnLst/>
                <a:rect l="l" t="t" r="r" b="b"/>
                <a:pathLst>
                  <a:path w="2016740" h="932688">
                    <a:moveTo>
                      <a:pt x="0" y="0"/>
                    </a:moveTo>
                    <a:lnTo>
                      <a:pt x="2016740" y="0"/>
                    </a:lnTo>
                    <a:lnTo>
                      <a:pt x="2016740" y="932688"/>
                    </a:lnTo>
                    <a:lnTo>
                      <a:pt x="0" y="932688"/>
                    </a:lnTo>
                    <a:close/>
                  </a:path>
                </a:pathLst>
              </a:custGeom>
              <a:blipFill>
                <a:blip r:embed="rId3">
                  <a:alphaModFix amt="0"/>
                </a:blip>
                <a:stretch>
                  <a:fillRect t="-67674" r="-179297" b="-67674"/>
                </a:stretch>
              </a:blipFill>
            </p:spPr>
          </p:sp>
          <p:sp>
            <p:nvSpPr>
              <p:cNvPr id="267" name="TextBox 267"/>
              <p:cNvSpPr txBox="1"/>
              <p:nvPr/>
            </p:nvSpPr>
            <p:spPr>
              <a:xfrm>
                <a:off x="0" y="0"/>
                <a:ext cx="2016740"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-0.0717</a:t>
                </a:r>
              </a:p>
            </p:txBody>
          </p:sp>
        </p:grpSp>
        <p:grpSp>
          <p:nvGrpSpPr>
            <p:cNvPr id="268" name="Group 268"/>
            <p:cNvGrpSpPr/>
            <p:nvPr/>
          </p:nvGrpSpPr>
          <p:grpSpPr>
            <a:xfrm>
              <a:off x="0" y="3743452"/>
              <a:ext cx="2016740" cy="932688"/>
              <a:chOff x="0" y="0"/>
              <a:chExt cx="2016740" cy="932688"/>
            </a:xfrm>
          </p:grpSpPr>
          <p:sp>
            <p:nvSpPr>
              <p:cNvPr id="269" name="Freeform 269"/>
              <p:cNvSpPr/>
              <p:nvPr/>
            </p:nvSpPr>
            <p:spPr>
              <a:xfrm>
                <a:off x="0" y="0"/>
                <a:ext cx="2016740" cy="932688"/>
              </a:xfrm>
              <a:custGeom>
                <a:avLst/>
                <a:gdLst/>
                <a:ahLst/>
                <a:cxnLst/>
                <a:rect l="l" t="t" r="r" b="b"/>
                <a:pathLst>
                  <a:path w="2016740" h="932688">
                    <a:moveTo>
                      <a:pt x="0" y="0"/>
                    </a:moveTo>
                    <a:lnTo>
                      <a:pt x="2016740" y="0"/>
                    </a:lnTo>
                    <a:lnTo>
                      <a:pt x="2016740" y="932688"/>
                    </a:lnTo>
                    <a:lnTo>
                      <a:pt x="0" y="932688"/>
                    </a:lnTo>
                    <a:close/>
                  </a:path>
                </a:pathLst>
              </a:custGeom>
              <a:blipFill>
                <a:blip r:embed="rId3">
                  <a:alphaModFix amt="0"/>
                </a:blip>
                <a:stretch>
                  <a:fillRect t="-67674" r="-179297" b="-67674"/>
                </a:stretch>
              </a:blipFill>
            </p:spPr>
          </p:sp>
          <p:sp>
            <p:nvSpPr>
              <p:cNvPr id="270" name="TextBox 270"/>
              <p:cNvSpPr txBox="1"/>
              <p:nvPr/>
            </p:nvSpPr>
            <p:spPr>
              <a:xfrm>
                <a:off x="0" y="0"/>
                <a:ext cx="2016740"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-0.4438</a:t>
                </a:r>
              </a:p>
            </p:txBody>
          </p:sp>
        </p:grpSp>
        <p:grpSp>
          <p:nvGrpSpPr>
            <p:cNvPr id="271" name="Group 271"/>
            <p:cNvGrpSpPr/>
            <p:nvPr/>
          </p:nvGrpSpPr>
          <p:grpSpPr>
            <a:xfrm>
              <a:off x="0" y="2798064"/>
              <a:ext cx="2016740" cy="932688"/>
              <a:chOff x="0" y="0"/>
              <a:chExt cx="2016740" cy="932688"/>
            </a:xfrm>
          </p:grpSpPr>
          <p:sp>
            <p:nvSpPr>
              <p:cNvPr id="272" name="Freeform 272"/>
              <p:cNvSpPr/>
              <p:nvPr/>
            </p:nvSpPr>
            <p:spPr>
              <a:xfrm>
                <a:off x="0" y="0"/>
                <a:ext cx="2016740" cy="932688"/>
              </a:xfrm>
              <a:custGeom>
                <a:avLst/>
                <a:gdLst/>
                <a:ahLst/>
                <a:cxnLst/>
                <a:rect l="l" t="t" r="r" b="b"/>
                <a:pathLst>
                  <a:path w="2016740" h="932688">
                    <a:moveTo>
                      <a:pt x="0" y="0"/>
                    </a:moveTo>
                    <a:lnTo>
                      <a:pt x="2016740" y="0"/>
                    </a:lnTo>
                    <a:lnTo>
                      <a:pt x="2016740" y="932688"/>
                    </a:lnTo>
                    <a:lnTo>
                      <a:pt x="0" y="932688"/>
                    </a:lnTo>
                    <a:close/>
                  </a:path>
                </a:pathLst>
              </a:custGeom>
              <a:blipFill>
                <a:blip r:embed="rId3">
                  <a:alphaModFix amt="0"/>
                </a:blip>
                <a:stretch>
                  <a:fillRect t="-67674" r="-179297" b="-67674"/>
                </a:stretch>
              </a:blipFill>
            </p:spPr>
          </p:sp>
          <p:sp>
            <p:nvSpPr>
              <p:cNvPr id="273" name="TextBox 273"/>
              <p:cNvSpPr txBox="1"/>
              <p:nvPr/>
            </p:nvSpPr>
            <p:spPr>
              <a:xfrm>
                <a:off x="0" y="0"/>
                <a:ext cx="2016740"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-0.5433</a:t>
                </a:r>
              </a:p>
            </p:txBody>
          </p:sp>
        </p:grpSp>
        <p:grpSp>
          <p:nvGrpSpPr>
            <p:cNvPr id="274" name="Group 274"/>
            <p:cNvGrpSpPr/>
            <p:nvPr/>
          </p:nvGrpSpPr>
          <p:grpSpPr>
            <a:xfrm>
              <a:off x="0" y="958088"/>
              <a:ext cx="2016740" cy="932688"/>
              <a:chOff x="0" y="0"/>
              <a:chExt cx="2016740" cy="932688"/>
            </a:xfrm>
          </p:grpSpPr>
          <p:sp>
            <p:nvSpPr>
              <p:cNvPr id="275" name="Freeform 275"/>
              <p:cNvSpPr/>
              <p:nvPr/>
            </p:nvSpPr>
            <p:spPr>
              <a:xfrm>
                <a:off x="0" y="0"/>
                <a:ext cx="2016740" cy="932688"/>
              </a:xfrm>
              <a:custGeom>
                <a:avLst/>
                <a:gdLst/>
                <a:ahLst/>
                <a:cxnLst/>
                <a:rect l="l" t="t" r="r" b="b"/>
                <a:pathLst>
                  <a:path w="2016740" h="932688">
                    <a:moveTo>
                      <a:pt x="0" y="0"/>
                    </a:moveTo>
                    <a:lnTo>
                      <a:pt x="2016740" y="0"/>
                    </a:lnTo>
                    <a:lnTo>
                      <a:pt x="2016740" y="932688"/>
                    </a:lnTo>
                    <a:lnTo>
                      <a:pt x="0" y="932688"/>
                    </a:lnTo>
                    <a:close/>
                  </a:path>
                </a:pathLst>
              </a:custGeom>
              <a:blipFill>
                <a:blip r:embed="rId3">
                  <a:alphaModFix amt="0"/>
                </a:blip>
                <a:stretch>
                  <a:fillRect t="-67674" r="-179297" b="-67674"/>
                </a:stretch>
              </a:blipFill>
            </p:spPr>
          </p:sp>
          <p:sp>
            <p:nvSpPr>
              <p:cNvPr id="276" name="TextBox 276"/>
              <p:cNvSpPr txBox="1"/>
              <p:nvPr/>
            </p:nvSpPr>
            <p:spPr>
              <a:xfrm>
                <a:off x="0" y="0"/>
                <a:ext cx="2016740"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-0.1971</a:t>
                </a:r>
              </a:p>
            </p:txBody>
          </p:sp>
        </p:grpSp>
        <p:grpSp>
          <p:nvGrpSpPr>
            <p:cNvPr id="277" name="Group 277"/>
            <p:cNvGrpSpPr/>
            <p:nvPr/>
          </p:nvGrpSpPr>
          <p:grpSpPr>
            <a:xfrm>
              <a:off x="0" y="1865376"/>
              <a:ext cx="2016740" cy="932688"/>
              <a:chOff x="0" y="0"/>
              <a:chExt cx="2016740" cy="932688"/>
            </a:xfrm>
          </p:grpSpPr>
          <p:sp>
            <p:nvSpPr>
              <p:cNvPr id="278" name="Freeform 278"/>
              <p:cNvSpPr/>
              <p:nvPr/>
            </p:nvSpPr>
            <p:spPr>
              <a:xfrm>
                <a:off x="0" y="0"/>
                <a:ext cx="2016740" cy="932688"/>
              </a:xfrm>
              <a:custGeom>
                <a:avLst/>
                <a:gdLst/>
                <a:ahLst/>
                <a:cxnLst/>
                <a:rect l="l" t="t" r="r" b="b"/>
                <a:pathLst>
                  <a:path w="2016740" h="932688">
                    <a:moveTo>
                      <a:pt x="0" y="0"/>
                    </a:moveTo>
                    <a:lnTo>
                      <a:pt x="2016740" y="0"/>
                    </a:lnTo>
                    <a:lnTo>
                      <a:pt x="2016740" y="932688"/>
                    </a:lnTo>
                    <a:lnTo>
                      <a:pt x="0" y="932688"/>
                    </a:lnTo>
                    <a:close/>
                  </a:path>
                </a:pathLst>
              </a:custGeom>
              <a:blipFill>
                <a:blip r:embed="rId3">
                  <a:alphaModFix amt="0"/>
                </a:blip>
                <a:stretch>
                  <a:fillRect t="-67674" r="-179297" b="-67674"/>
                </a:stretch>
              </a:blipFill>
            </p:spPr>
          </p:sp>
          <p:sp>
            <p:nvSpPr>
              <p:cNvPr id="279" name="TextBox 279"/>
              <p:cNvSpPr txBox="1"/>
              <p:nvPr/>
            </p:nvSpPr>
            <p:spPr>
              <a:xfrm>
                <a:off x="0" y="0"/>
                <a:ext cx="2016740"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-0.2037</a:t>
                </a:r>
              </a:p>
            </p:txBody>
          </p:sp>
        </p:grpSp>
        <p:grpSp>
          <p:nvGrpSpPr>
            <p:cNvPr id="280" name="Group 280"/>
            <p:cNvGrpSpPr/>
            <p:nvPr/>
          </p:nvGrpSpPr>
          <p:grpSpPr>
            <a:xfrm>
              <a:off x="0" y="0"/>
              <a:ext cx="2016740" cy="932688"/>
              <a:chOff x="0" y="0"/>
              <a:chExt cx="2016740" cy="932688"/>
            </a:xfrm>
          </p:grpSpPr>
          <p:sp>
            <p:nvSpPr>
              <p:cNvPr id="281" name="Freeform 281"/>
              <p:cNvSpPr/>
              <p:nvPr/>
            </p:nvSpPr>
            <p:spPr>
              <a:xfrm>
                <a:off x="0" y="0"/>
                <a:ext cx="2016740" cy="932688"/>
              </a:xfrm>
              <a:custGeom>
                <a:avLst/>
                <a:gdLst/>
                <a:ahLst/>
                <a:cxnLst/>
                <a:rect l="l" t="t" r="r" b="b"/>
                <a:pathLst>
                  <a:path w="2016740" h="932688">
                    <a:moveTo>
                      <a:pt x="0" y="0"/>
                    </a:moveTo>
                    <a:lnTo>
                      <a:pt x="2016740" y="0"/>
                    </a:lnTo>
                    <a:lnTo>
                      <a:pt x="2016740" y="932688"/>
                    </a:lnTo>
                    <a:lnTo>
                      <a:pt x="0" y="932688"/>
                    </a:lnTo>
                    <a:close/>
                  </a:path>
                </a:pathLst>
              </a:custGeom>
              <a:blipFill>
                <a:blip r:embed="rId3">
                  <a:alphaModFix amt="0"/>
                </a:blip>
                <a:stretch>
                  <a:fillRect t="-67674" r="-179297" b="-67674"/>
                </a:stretch>
              </a:blipFill>
            </p:spPr>
          </p:sp>
          <p:sp>
            <p:nvSpPr>
              <p:cNvPr id="282" name="TextBox 282"/>
              <p:cNvSpPr txBox="1"/>
              <p:nvPr/>
            </p:nvSpPr>
            <p:spPr>
              <a:xfrm>
                <a:off x="0" y="0"/>
                <a:ext cx="2016740"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0.0483</a:t>
                </a:r>
              </a:p>
            </p:txBody>
          </p:sp>
        </p:grpSp>
        <p:grpSp>
          <p:nvGrpSpPr>
            <p:cNvPr id="283" name="Group 283"/>
            <p:cNvGrpSpPr/>
            <p:nvPr/>
          </p:nvGrpSpPr>
          <p:grpSpPr>
            <a:xfrm>
              <a:off x="0" y="6523228"/>
              <a:ext cx="2016740" cy="932688"/>
              <a:chOff x="0" y="0"/>
              <a:chExt cx="2016740" cy="932688"/>
            </a:xfrm>
          </p:grpSpPr>
          <p:sp>
            <p:nvSpPr>
              <p:cNvPr id="284" name="Freeform 284"/>
              <p:cNvSpPr/>
              <p:nvPr/>
            </p:nvSpPr>
            <p:spPr>
              <a:xfrm>
                <a:off x="0" y="0"/>
                <a:ext cx="2016740" cy="932688"/>
              </a:xfrm>
              <a:custGeom>
                <a:avLst/>
                <a:gdLst/>
                <a:ahLst/>
                <a:cxnLst/>
                <a:rect l="l" t="t" r="r" b="b"/>
                <a:pathLst>
                  <a:path w="2016740" h="932688">
                    <a:moveTo>
                      <a:pt x="0" y="0"/>
                    </a:moveTo>
                    <a:lnTo>
                      <a:pt x="2016740" y="0"/>
                    </a:lnTo>
                    <a:lnTo>
                      <a:pt x="2016740" y="932688"/>
                    </a:lnTo>
                    <a:lnTo>
                      <a:pt x="0" y="932688"/>
                    </a:lnTo>
                    <a:close/>
                  </a:path>
                </a:pathLst>
              </a:custGeom>
              <a:blipFill>
                <a:blip r:embed="rId3">
                  <a:alphaModFix amt="0"/>
                </a:blip>
                <a:stretch>
                  <a:fillRect t="-67674" r="-179297" b="-67674"/>
                </a:stretch>
              </a:blipFill>
            </p:spPr>
          </p:sp>
          <p:sp>
            <p:nvSpPr>
              <p:cNvPr id="285" name="TextBox 285"/>
              <p:cNvSpPr txBox="1"/>
              <p:nvPr/>
            </p:nvSpPr>
            <p:spPr>
              <a:xfrm>
                <a:off x="0" y="0"/>
                <a:ext cx="2016740"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-0.3239</a:t>
                </a:r>
              </a:p>
            </p:txBody>
          </p:sp>
        </p:grpSp>
        <p:grpSp>
          <p:nvGrpSpPr>
            <p:cNvPr id="286" name="Group 286"/>
            <p:cNvGrpSpPr/>
            <p:nvPr/>
          </p:nvGrpSpPr>
          <p:grpSpPr>
            <a:xfrm>
              <a:off x="0" y="5596128"/>
              <a:ext cx="2016740" cy="932688"/>
              <a:chOff x="0" y="0"/>
              <a:chExt cx="2016740" cy="932688"/>
            </a:xfrm>
          </p:grpSpPr>
          <p:sp>
            <p:nvSpPr>
              <p:cNvPr id="287" name="Freeform 287"/>
              <p:cNvSpPr/>
              <p:nvPr/>
            </p:nvSpPr>
            <p:spPr>
              <a:xfrm>
                <a:off x="0" y="0"/>
                <a:ext cx="2016740" cy="932688"/>
              </a:xfrm>
              <a:custGeom>
                <a:avLst/>
                <a:gdLst/>
                <a:ahLst/>
                <a:cxnLst/>
                <a:rect l="l" t="t" r="r" b="b"/>
                <a:pathLst>
                  <a:path w="2016740" h="932688">
                    <a:moveTo>
                      <a:pt x="0" y="0"/>
                    </a:moveTo>
                    <a:lnTo>
                      <a:pt x="2016740" y="0"/>
                    </a:lnTo>
                    <a:lnTo>
                      <a:pt x="2016740" y="932688"/>
                    </a:lnTo>
                    <a:lnTo>
                      <a:pt x="0" y="932688"/>
                    </a:lnTo>
                    <a:close/>
                  </a:path>
                </a:pathLst>
              </a:custGeom>
              <a:blipFill>
                <a:blip r:embed="rId3">
                  <a:alphaModFix amt="0"/>
                </a:blip>
                <a:stretch>
                  <a:fillRect t="-67674" r="-179297" b="-67674"/>
                </a:stretch>
              </a:blipFill>
            </p:spPr>
          </p:sp>
          <p:sp>
            <p:nvSpPr>
              <p:cNvPr id="288" name="TextBox 288"/>
              <p:cNvSpPr txBox="1"/>
              <p:nvPr/>
            </p:nvSpPr>
            <p:spPr>
              <a:xfrm>
                <a:off x="0" y="0"/>
                <a:ext cx="2016740" cy="932688"/>
              </a:xfrm>
              <a:prstGeom prst="rect">
                <a:avLst/>
              </a:prstGeom>
            </p:spPr>
            <p:txBody>
              <a:bodyPr lIns="0" tIns="0" rIns="0" bIns="0" rtlCol="0" anchor="ctr"/>
              <a:lstStyle/>
              <a:p>
                <a:pPr algn="r">
                  <a:lnSpc>
                    <a:spcPts val="1709"/>
                  </a:lnSpc>
                </a:pPr>
                <a:r>
                  <a:rPr lang="en-US" sz="1425">
                    <a:solidFill>
                      <a:srgbClr val="0D1B2A"/>
                    </a:solidFill>
                    <a:latin typeface="DM Sans"/>
                    <a:ea typeface="DM Sans"/>
                    <a:cs typeface="DM Sans"/>
                    <a:sym typeface="DM Sans"/>
                  </a:rPr>
                  <a:t>-0.1865</a:t>
                </a:r>
              </a:p>
            </p:txBody>
          </p:sp>
        </p:grpSp>
      </p:grpSp>
      <p:grpSp>
        <p:nvGrpSpPr>
          <p:cNvPr id="289" name="Group 289"/>
          <p:cNvGrpSpPr/>
          <p:nvPr/>
        </p:nvGrpSpPr>
        <p:grpSpPr>
          <a:xfrm>
            <a:off x="440317" y="1922717"/>
            <a:ext cx="1279105" cy="699516"/>
            <a:chOff x="0" y="0"/>
            <a:chExt cx="1705473" cy="932688"/>
          </a:xfrm>
        </p:grpSpPr>
        <p:sp>
          <p:nvSpPr>
            <p:cNvPr id="290" name="Freeform 290"/>
            <p:cNvSpPr/>
            <p:nvPr/>
          </p:nvSpPr>
          <p:spPr>
            <a:xfrm>
              <a:off x="0" y="0"/>
              <a:ext cx="1705473" cy="932688"/>
            </a:xfrm>
            <a:custGeom>
              <a:avLst/>
              <a:gdLst/>
              <a:ahLst/>
              <a:cxnLst/>
              <a:rect l="l" t="t" r="r" b="b"/>
              <a:pathLst>
                <a:path w="1705473" h="932688">
                  <a:moveTo>
                    <a:pt x="0" y="0"/>
                  </a:moveTo>
                  <a:lnTo>
                    <a:pt x="1705473" y="0"/>
                  </a:lnTo>
                  <a:lnTo>
                    <a:pt x="1705473" y="932688"/>
                  </a:lnTo>
                  <a:lnTo>
                    <a:pt x="0" y="932688"/>
                  </a:lnTo>
                  <a:close/>
                </a:path>
              </a:pathLst>
            </a:custGeom>
            <a:blipFill>
              <a:blip r:embed="rId3">
                <a:alphaModFix amt="0"/>
              </a:blip>
              <a:stretch>
                <a:fillRect t="-67674" r="-230272" b="-67674"/>
              </a:stretch>
            </a:blipFill>
          </p:spPr>
        </p:sp>
        <p:sp>
          <p:nvSpPr>
            <p:cNvPr id="291" name="TextBox 291"/>
            <p:cNvSpPr txBox="1"/>
            <p:nvPr/>
          </p:nvSpPr>
          <p:spPr>
            <a:xfrm>
              <a:off x="0" y="-9525"/>
              <a:ext cx="1705473" cy="942213"/>
            </a:xfrm>
            <a:prstGeom prst="rect">
              <a:avLst/>
            </a:prstGeom>
          </p:spPr>
          <p:txBody>
            <a:bodyPr lIns="0" tIns="0" rIns="0" bIns="0" rtlCol="0" anchor="ctr"/>
            <a:lstStyle/>
            <a:p>
              <a:pPr algn="l">
                <a:lnSpc>
                  <a:spcPts val="1800"/>
                </a:lnSpc>
              </a:pPr>
              <a:r>
                <a:rPr lang="en-US" sz="1500" b="1" spc="150">
                  <a:solidFill>
                    <a:srgbClr val="FFFFFF"/>
                  </a:solidFill>
                  <a:latin typeface="DM Sans Bold"/>
                  <a:ea typeface="DM Sans Bold"/>
                  <a:cs typeface="DM Sans Bold"/>
                  <a:sym typeface="DM Sans Bold"/>
                </a:rPr>
                <a:t>Rank</a:t>
              </a:r>
            </a:p>
          </p:txBody>
        </p:sp>
      </p:grpSp>
      <p:grpSp>
        <p:nvGrpSpPr>
          <p:cNvPr id="292" name="Group 292"/>
          <p:cNvGrpSpPr/>
          <p:nvPr/>
        </p:nvGrpSpPr>
        <p:grpSpPr>
          <a:xfrm>
            <a:off x="1366435" y="1903667"/>
            <a:ext cx="1878712" cy="699516"/>
            <a:chOff x="0" y="0"/>
            <a:chExt cx="2504949" cy="932688"/>
          </a:xfrm>
        </p:grpSpPr>
        <p:sp>
          <p:nvSpPr>
            <p:cNvPr id="293" name="Freeform 293"/>
            <p:cNvSpPr/>
            <p:nvPr/>
          </p:nvSpPr>
          <p:spPr>
            <a:xfrm>
              <a:off x="0" y="0"/>
              <a:ext cx="2504949" cy="932688"/>
            </a:xfrm>
            <a:custGeom>
              <a:avLst/>
              <a:gdLst/>
              <a:ahLst/>
              <a:cxnLst/>
              <a:rect l="l" t="t" r="r" b="b"/>
              <a:pathLst>
                <a:path w="2504949" h="932688">
                  <a:moveTo>
                    <a:pt x="0" y="0"/>
                  </a:moveTo>
                  <a:lnTo>
                    <a:pt x="2504949" y="0"/>
                  </a:lnTo>
                  <a:lnTo>
                    <a:pt x="2504949" y="932688"/>
                  </a:lnTo>
                  <a:lnTo>
                    <a:pt x="0" y="932688"/>
                  </a:lnTo>
                  <a:close/>
                </a:path>
              </a:pathLst>
            </a:custGeom>
            <a:blipFill>
              <a:blip r:embed="rId3">
                <a:alphaModFix amt="0"/>
              </a:blip>
              <a:stretch>
                <a:fillRect t="-2724" r="-750" b="-2724"/>
              </a:stretch>
            </a:blipFill>
          </p:spPr>
        </p:sp>
        <p:sp>
          <p:nvSpPr>
            <p:cNvPr id="294" name="TextBox 294"/>
            <p:cNvSpPr txBox="1"/>
            <p:nvPr/>
          </p:nvSpPr>
          <p:spPr>
            <a:xfrm>
              <a:off x="0" y="-9525"/>
              <a:ext cx="2504949" cy="942213"/>
            </a:xfrm>
            <a:prstGeom prst="rect">
              <a:avLst/>
            </a:prstGeom>
          </p:spPr>
          <p:txBody>
            <a:bodyPr lIns="0" tIns="0" rIns="0" bIns="0" rtlCol="0" anchor="ctr"/>
            <a:lstStyle/>
            <a:p>
              <a:pPr algn="ctr">
                <a:lnSpc>
                  <a:spcPts val="1800"/>
                </a:lnSpc>
              </a:pPr>
              <a:r>
                <a:rPr lang="en-US" sz="1500" b="1" spc="150">
                  <a:solidFill>
                    <a:srgbClr val="FFFFFF"/>
                  </a:solidFill>
                  <a:latin typeface="DM Sans Bold"/>
                  <a:ea typeface="DM Sans Bold"/>
                  <a:cs typeface="DM Sans Bold"/>
                  <a:sym typeface="DM Sans Bold"/>
                </a:rPr>
                <a:t>Scheme </a:t>
              </a:r>
            </a:p>
          </p:txBody>
        </p:sp>
      </p:grpSp>
      <p:grpSp>
        <p:nvGrpSpPr>
          <p:cNvPr id="295" name="Group 295"/>
          <p:cNvGrpSpPr/>
          <p:nvPr/>
        </p:nvGrpSpPr>
        <p:grpSpPr>
          <a:xfrm>
            <a:off x="3541030" y="1922717"/>
            <a:ext cx="1540171" cy="699516"/>
            <a:chOff x="0" y="0"/>
            <a:chExt cx="2053561" cy="932688"/>
          </a:xfrm>
        </p:grpSpPr>
        <p:sp>
          <p:nvSpPr>
            <p:cNvPr id="296" name="Freeform 296"/>
            <p:cNvSpPr/>
            <p:nvPr/>
          </p:nvSpPr>
          <p:spPr>
            <a:xfrm>
              <a:off x="0" y="0"/>
              <a:ext cx="2053561" cy="932688"/>
            </a:xfrm>
            <a:custGeom>
              <a:avLst/>
              <a:gdLst/>
              <a:ahLst/>
              <a:cxnLst/>
              <a:rect l="l" t="t" r="r" b="b"/>
              <a:pathLst>
                <a:path w="2053561" h="932688">
                  <a:moveTo>
                    <a:pt x="0" y="0"/>
                  </a:moveTo>
                  <a:lnTo>
                    <a:pt x="2053561" y="0"/>
                  </a:lnTo>
                  <a:lnTo>
                    <a:pt x="2053561" y="932688"/>
                  </a:lnTo>
                  <a:lnTo>
                    <a:pt x="0" y="932688"/>
                  </a:lnTo>
                  <a:close/>
                </a:path>
              </a:pathLst>
            </a:custGeom>
            <a:blipFill>
              <a:blip r:embed="rId3">
                <a:alphaModFix amt="0"/>
              </a:blip>
              <a:stretch>
                <a:fillRect t="-182292" r="-441454" b="-182292"/>
              </a:stretch>
            </a:blipFill>
          </p:spPr>
        </p:sp>
        <p:sp>
          <p:nvSpPr>
            <p:cNvPr id="297" name="TextBox 297"/>
            <p:cNvSpPr txBox="1"/>
            <p:nvPr/>
          </p:nvSpPr>
          <p:spPr>
            <a:xfrm>
              <a:off x="0" y="-9525"/>
              <a:ext cx="2053561" cy="942213"/>
            </a:xfrm>
            <a:prstGeom prst="rect">
              <a:avLst/>
            </a:prstGeom>
          </p:spPr>
          <p:txBody>
            <a:bodyPr lIns="0" tIns="0" rIns="0" bIns="0" rtlCol="0" anchor="ctr"/>
            <a:lstStyle/>
            <a:p>
              <a:pPr algn="ctr">
                <a:lnSpc>
                  <a:spcPts val="1800"/>
                </a:lnSpc>
              </a:pPr>
              <a:r>
                <a:rPr lang="en-US" sz="1500" b="1" spc="150">
                  <a:solidFill>
                    <a:srgbClr val="FFFFFF"/>
                  </a:solidFill>
                  <a:latin typeface="DM Sans Bold"/>
                  <a:ea typeface="DM Sans Bold"/>
                  <a:cs typeface="DM Sans Bold"/>
                  <a:sym typeface="DM Sans Bold"/>
                </a:rPr>
                <a:t>Compostite Score</a:t>
              </a:r>
            </a:p>
          </p:txBody>
        </p:sp>
      </p:grpSp>
      <p:grpSp>
        <p:nvGrpSpPr>
          <p:cNvPr id="298" name="Group 298"/>
          <p:cNvGrpSpPr/>
          <p:nvPr/>
        </p:nvGrpSpPr>
        <p:grpSpPr>
          <a:xfrm>
            <a:off x="5266479" y="1922717"/>
            <a:ext cx="1540171" cy="699516"/>
            <a:chOff x="0" y="0"/>
            <a:chExt cx="2053561" cy="932688"/>
          </a:xfrm>
        </p:grpSpPr>
        <p:sp>
          <p:nvSpPr>
            <p:cNvPr id="299" name="Freeform 299"/>
            <p:cNvSpPr/>
            <p:nvPr/>
          </p:nvSpPr>
          <p:spPr>
            <a:xfrm>
              <a:off x="0" y="0"/>
              <a:ext cx="2053561" cy="932688"/>
            </a:xfrm>
            <a:custGeom>
              <a:avLst/>
              <a:gdLst/>
              <a:ahLst/>
              <a:cxnLst/>
              <a:rect l="l" t="t" r="r" b="b"/>
              <a:pathLst>
                <a:path w="2053561" h="932688">
                  <a:moveTo>
                    <a:pt x="0" y="0"/>
                  </a:moveTo>
                  <a:lnTo>
                    <a:pt x="2053561" y="0"/>
                  </a:lnTo>
                  <a:lnTo>
                    <a:pt x="2053561" y="932688"/>
                  </a:lnTo>
                  <a:lnTo>
                    <a:pt x="0" y="932688"/>
                  </a:lnTo>
                  <a:close/>
                </a:path>
              </a:pathLst>
            </a:custGeom>
            <a:blipFill>
              <a:blip r:embed="rId3">
                <a:alphaModFix amt="0"/>
              </a:blip>
              <a:stretch>
                <a:fillRect t="-182292" r="-441454" b="-182292"/>
              </a:stretch>
            </a:blipFill>
          </p:spPr>
        </p:sp>
        <p:sp>
          <p:nvSpPr>
            <p:cNvPr id="300" name="TextBox 300"/>
            <p:cNvSpPr txBox="1"/>
            <p:nvPr/>
          </p:nvSpPr>
          <p:spPr>
            <a:xfrm>
              <a:off x="0" y="-9525"/>
              <a:ext cx="2053561" cy="942213"/>
            </a:xfrm>
            <a:prstGeom prst="rect">
              <a:avLst/>
            </a:prstGeom>
          </p:spPr>
          <p:txBody>
            <a:bodyPr lIns="0" tIns="0" rIns="0" bIns="0" rtlCol="0" anchor="ctr"/>
            <a:lstStyle/>
            <a:p>
              <a:pPr algn="l">
                <a:lnSpc>
                  <a:spcPts val="1800"/>
                </a:lnSpc>
              </a:pPr>
              <a:r>
                <a:rPr lang="en-US" sz="1500" b="1" spc="150">
                  <a:solidFill>
                    <a:srgbClr val="FFFFFF"/>
                  </a:solidFill>
                  <a:latin typeface="DM Sans Bold"/>
                  <a:ea typeface="DM Sans Bold"/>
                  <a:cs typeface="DM Sans Bold"/>
                  <a:sym typeface="DM Sans Bold"/>
                </a:rPr>
                <a:t>CAGR_3Yr</a:t>
              </a:r>
            </a:p>
          </p:txBody>
        </p:sp>
      </p:grpSp>
      <p:grpSp>
        <p:nvGrpSpPr>
          <p:cNvPr id="301" name="Group 301"/>
          <p:cNvGrpSpPr/>
          <p:nvPr/>
        </p:nvGrpSpPr>
        <p:grpSpPr>
          <a:xfrm>
            <a:off x="7129103" y="1922717"/>
            <a:ext cx="1540171" cy="699516"/>
            <a:chOff x="0" y="0"/>
            <a:chExt cx="2053561" cy="932688"/>
          </a:xfrm>
        </p:grpSpPr>
        <p:sp>
          <p:nvSpPr>
            <p:cNvPr id="302" name="Freeform 302"/>
            <p:cNvSpPr/>
            <p:nvPr/>
          </p:nvSpPr>
          <p:spPr>
            <a:xfrm>
              <a:off x="0" y="0"/>
              <a:ext cx="2053561" cy="932688"/>
            </a:xfrm>
            <a:custGeom>
              <a:avLst/>
              <a:gdLst/>
              <a:ahLst/>
              <a:cxnLst/>
              <a:rect l="l" t="t" r="r" b="b"/>
              <a:pathLst>
                <a:path w="2053561" h="932688">
                  <a:moveTo>
                    <a:pt x="0" y="0"/>
                  </a:moveTo>
                  <a:lnTo>
                    <a:pt x="2053561" y="0"/>
                  </a:lnTo>
                  <a:lnTo>
                    <a:pt x="2053561" y="932688"/>
                  </a:lnTo>
                  <a:lnTo>
                    <a:pt x="0" y="932688"/>
                  </a:lnTo>
                  <a:close/>
                </a:path>
              </a:pathLst>
            </a:custGeom>
            <a:blipFill>
              <a:blip r:embed="rId3">
                <a:alphaModFix amt="0"/>
              </a:blip>
              <a:stretch>
                <a:fillRect t="-182292" r="-441454" b="-182292"/>
              </a:stretch>
            </a:blipFill>
          </p:spPr>
        </p:sp>
        <p:sp>
          <p:nvSpPr>
            <p:cNvPr id="303" name="TextBox 303"/>
            <p:cNvSpPr txBox="1"/>
            <p:nvPr/>
          </p:nvSpPr>
          <p:spPr>
            <a:xfrm>
              <a:off x="0" y="-9525"/>
              <a:ext cx="2053561" cy="942213"/>
            </a:xfrm>
            <a:prstGeom prst="rect">
              <a:avLst/>
            </a:prstGeom>
          </p:spPr>
          <p:txBody>
            <a:bodyPr lIns="0" tIns="0" rIns="0" bIns="0" rtlCol="0" anchor="ctr"/>
            <a:lstStyle/>
            <a:p>
              <a:pPr algn="l">
                <a:lnSpc>
                  <a:spcPts val="1800"/>
                </a:lnSpc>
              </a:pPr>
              <a:r>
                <a:rPr lang="en-US" sz="1500" b="1" spc="150">
                  <a:solidFill>
                    <a:srgbClr val="FFFFFF"/>
                  </a:solidFill>
                  <a:latin typeface="DM Sans Bold"/>
                  <a:ea typeface="DM Sans Bold"/>
                  <a:cs typeface="DM Sans Bold"/>
                  <a:sym typeface="DM Sans Bold"/>
                </a:rPr>
                <a:t>Sharpe</a:t>
              </a:r>
            </a:p>
          </p:txBody>
        </p:sp>
      </p:grpSp>
      <p:sp>
        <p:nvSpPr>
          <p:cNvPr id="304" name="TextBox 304"/>
          <p:cNvSpPr txBox="1"/>
          <p:nvPr/>
        </p:nvSpPr>
        <p:spPr>
          <a:xfrm>
            <a:off x="12694783" y="8344853"/>
            <a:ext cx="2094309" cy="20955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8: Fund Scorecard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527810"/>
            <a:chOff x="0" y="0"/>
            <a:chExt cx="24403304" cy="2037080"/>
          </a:xfrm>
        </p:grpSpPr>
        <p:sp>
          <p:nvSpPr>
            <p:cNvPr id="3" name="Freeform 3"/>
            <p:cNvSpPr/>
            <p:nvPr/>
          </p:nvSpPr>
          <p:spPr>
            <a:xfrm>
              <a:off x="0" y="0"/>
              <a:ext cx="24403304" cy="2037080"/>
            </a:xfrm>
            <a:custGeom>
              <a:avLst/>
              <a:gdLst/>
              <a:ahLst/>
              <a:cxnLst/>
              <a:rect l="l" t="t" r="r" b="b"/>
              <a:pathLst>
                <a:path w="24403304" h="2037080">
                  <a:moveTo>
                    <a:pt x="0" y="0"/>
                  </a:moveTo>
                  <a:lnTo>
                    <a:pt x="24403304" y="0"/>
                  </a:lnTo>
                  <a:lnTo>
                    <a:pt x="24403304" y="2037080"/>
                  </a:lnTo>
                  <a:lnTo>
                    <a:pt x="0" y="2037080"/>
                  </a:lnTo>
                  <a:close/>
                </a:path>
              </a:pathLst>
            </a:custGeom>
            <a:solidFill>
              <a:srgbClr val="132338"/>
            </a:solidFill>
            <a:ln w="19050" cap="sq">
              <a:solidFill>
                <a:srgbClr val="0D1B2A"/>
              </a:solidFill>
              <a:prstDash val="solid"/>
              <a:miter/>
            </a:ln>
          </p:spPr>
        </p:sp>
      </p:grpSp>
      <p:grpSp>
        <p:nvGrpSpPr>
          <p:cNvPr id="4" name="Group 4"/>
          <p:cNvGrpSpPr/>
          <p:nvPr/>
        </p:nvGrpSpPr>
        <p:grpSpPr>
          <a:xfrm>
            <a:off x="548640" y="137160"/>
            <a:ext cx="16911828" cy="822960"/>
            <a:chOff x="0" y="0"/>
            <a:chExt cx="22549104" cy="1097280"/>
          </a:xfrm>
        </p:grpSpPr>
        <p:sp>
          <p:nvSpPr>
            <p:cNvPr id="5" name="Freeform 5"/>
            <p:cNvSpPr/>
            <p:nvPr/>
          </p:nvSpPr>
          <p:spPr>
            <a:xfrm>
              <a:off x="0" y="0"/>
              <a:ext cx="22549104" cy="1097280"/>
            </a:xfrm>
            <a:custGeom>
              <a:avLst/>
              <a:gdLst/>
              <a:ahLst/>
              <a:cxnLst/>
              <a:rect l="l" t="t" r="r" b="b"/>
              <a:pathLst>
                <a:path w="22549104" h="1097280">
                  <a:moveTo>
                    <a:pt x="0" y="0"/>
                  </a:moveTo>
                  <a:lnTo>
                    <a:pt x="22549104" y="0"/>
                  </a:lnTo>
                  <a:lnTo>
                    <a:pt x="22549104" y="1097280"/>
                  </a:lnTo>
                  <a:lnTo>
                    <a:pt x="0" y="1097280"/>
                  </a:lnTo>
                  <a:close/>
                </a:path>
              </a:pathLst>
            </a:custGeom>
            <a:blipFill>
              <a:blip r:embed="rId3">
                <a:alphaModFix amt="0"/>
              </a:blip>
              <a:stretch>
                <a:fillRect t="-350417" b="-350417"/>
              </a:stretch>
            </a:blipFill>
          </p:spPr>
        </p:sp>
        <p:sp>
          <p:nvSpPr>
            <p:cNvPr id="6" name="TextBox 6"/>
            <p:cNvSpPr txBox="1"/>
            <p:nvPr/>
          </p:nvSpPr>
          <p:spPr>
            <a:xfrm>
              <a:off x="0" y="0"/>
              <a:ext cx="22549104" cy="1097280"/>
            </a:xfrm>
            <a:prstGeom prst="rect">
              <a:avLst/>
            </a:prstGeom>
          </p:spPr>
          <p:txBody>
            <a:bodyPr lIns="0" tIns="0" rIns="0" bIns="0" rtlCol="0" anchor="ctr"/>
            <a:lstStyle/>
            <a:p>
              <a:pPr algn="l">
                <a:lnSpc>
                  <a:spcPts val="5040"/>
                </a:lnSpc>
              </a:pPr>
              <a:r>
                <a:rPr lang="en-US" sz="4200" b="1">
                  <a:solidFill>
                    <a:srgbClr val="FFFFFF"/>
                  </a:solidFill>
                  <a:latin typeface="DM Sans Bold"/>
                  <a:ea typeface="DM Sans Bold"/>
                  <a:cs typeface="DM Sans Bold"/>
                  <a:sym typeface="DM Sans Bold"/>
                </a:rPr>
                <a:t>Performance Metrics — Risk Analysis</a:t>
              </a:r>
            </a:p>
          </p:txBody>
        </p:sp>
      </p:grpSp>
      <p:grpSp>
        <p:nvGrpSpPr>
          <p:cNvPr id="7" name="Group 7"/>
          <p:cNvGrpSpPr/>
          <p:nvPr/>
        </p:nvGrpSpPr>
        <p:grpSpPr>
          <a:xfrm>
            <a:off x="548640" y="891540"/>
            <a:ext cx="16911828" cy="521208"/>
            <a:chOff x="0" y="0"/>
            <a:chExt cx="22549104" cy="694944"/>
          </a:xfrm>
        </p:grpSpPr>
        <p:sp>
          <p:nvSpPr>
            <p:cNvPr id="8" name="Freeform 8"/>
            <p:cNvSpPr/>
            <p:nvPr/>
          </p:nvSpPr>
          <p:spPr>
            <a:xfrm>
              <a:off x="0" y="0"/>
              <a:ext cx="22549104" cy="694944"/>
            </a:xfrm>
            <a:custGeom>
              <a:avLst/>
              <a:gdLst/>
              <a:ahLst/>
              <a:cxnLst/>
              <a:rect l="l" t="t" r="r" b="b"/>
              <a:pathLst>
                <a:path w="22549104" h="694944">
                  <a:moveTo>
                    <a:pt x="0" y="0"/>
                  </a:moveTo>
                  <a:lnTo>
                    <a:pt x="22549104" y="0"/>
                  </a:lnTo>
                  <a:lnTo>
                    <a:pt x="22549104" y="694944"/>
                  </a:lnTo>
                  <a:lnTo>
                    <a:pt x="0" y="694944"/>
                  </a:lnTo>
                  <a:close/>
                </a:path>
              </a:pathLst>
            </a:custGeom>
            <a:blipFill>
              <a:blip r:embed="rId3">
                <a:alphaModFix amt="0"/>
              </a:blip>
              <a:stretch>
                <a:fillRect t="-582238" b="-582238"/>
              </a:stretch>
            </a:blipFill>
          </p:spPr>
        </p:sp>
        <p:sp>
          <p:nvSpPr>
            <p:cNvPr id="9" name="TextBox 9"/>
            <p:cNvSpPr txBox="1"/>
            <p:nvPr/>
          </p:nvSpPr>
          <p:spPr>
            <a:xfrm>
              <a:off x="0" y="9525"/>
              <a:ext cx="22549104" cy="685419"/>
            </a:xfrm>
            <a:prstGeom prst="rect">
              <a:avLst/>
            </a:prstGeom>
          </p:spPr>
          <p:txBody>
            <a:bodyPr lIns="0" tIns="0" rIns="0" bIns="0" rtlCol="0" anchor="ctr"/>
            <a:lstStyle/>
            <a:p>
              <a:pPr algn="l">
                <a:lnSpc>
                  <a:spcPts val="2340"/>
                </a:lnSpc>
              </a:pPr>
              <a:r>
                <a:rPr lang="en-US" sz="1950">
                  <a:solidFill>
                    <a:srgbClr val="DCEDFA"/>
                  </a:solidFill>
                  <a:latin typeface="DM Sans"/>
                  <a:ea typeface="DM Sans"/>
                  <a:cs typeface="DM Sans"/>
                  <a:sym typeface="DM Sans"/>
                </a:rPr>
                <a:t>Sharpe · Sortino · Alpha/Beta · Max Drawdown · VaR</a:t>
              </a:r>
            </a:p>
          </p:txBody>
        </p:sp>
      </p:grpSp>
      <p:grpSp>
        <p:nvGrpSpPr>
          <p:cNvPr id="10" name="Group 10"/>
          <p:cNvGrpSpPr/>
          <p:nvPr/>
        </p:nvGrpSpPr>
        <p:grpSpPr>
          <a:xfrm>
            <a:off x="-9525" y="1499235"/>
            <a:ext cx="18302478" cy="73914"/>
            <a:chOff x="0" y="0"/>
            <a:chExt cx="24403304" cy="98552"/>
          </a:xfrm>
        </p:grpSpPr>
        <p:sp>
          <p:nvSpPr>
            <p:cNvPr id="11" name="Freeform 11"/>
            <p:cNvSpPr/>
            <p:nvPr/>
          </p:nvSpPr>
          <p:spPr>
            <a:xfrm>
              <a:off x="0" y="0"/>
              <a:ext cx="24403304" cy="98552"/>
            </a:xfrm>
            <a:custGeom>
              <a:avLst/>
              <a:gdLst/>
              <a:ahLst/>
              <a:cxnLst/>
              <a:rect l="l" t="t" r="r" b="b"/>
              <a:pathLst>
                <a:path w="24403304" h="98552">
                  <a:moveTo>
                    <a:pt x="0" y="0"/>
                  </a:moveTo>
                  <a:lnTo>
                    <a:pt x="24403304" y="0"/>
                  </a:lnTo>
                  <a:lnTo>
                    <a:pt x="24403304" y="98552"/>
                  </a:lnTo>
                  <a:lnTo>
                    <a:pt x="0" y="98552"/>
                  </a:lnTo>
                  <a:close/>
                </a:path>
              </a:pathLst>
            </a:custGeom>
            <a:solidFill>
              <a:srgbClr val="1565C0"/>
            </a:solidFill>
            <a:ln w="19050" cap="sq">
              <a:solidFill>
                <a:srgbClr val="1565C0"/>
              </a:solidFill>
              <a:prstDash val="solid"/>
              <a:miter/>
            </a:ln>
          </p:spPr>
        </p:sp>
      </p:grpSp>
      <p:grpSp>
        <p:nvGrpSpPr>
          <p:cNvPr id="12" name="Group 12"/>
          <p:cNvGrpSpPr/>
          <p:nvPr/>
        </p:nvGrpSpPr>
        <p:grpSpPr>
          <a:xfrm>
            <a:off x="696278" y="6443116"/>
            <a:ext cx="3036570" cy="555775"/>
            <a:chOff x="0" y="0"/>
            <a:chExt cx="4048760" cy="741034"/>
          </a:xfrm>
        </p:grpSpPr>
        <p:sp>
          <p:nvSpPr>
            <p:cNvPr id="13" name="Freeform 13"/>
            <p:cNvSpPr/>
            <p:nvPr/>
          </p:nvSpPr>
          <p:spPr>
            <a:xfrm>
              <a:off x="0" y="0"/>
              <a:ext cx="4048760" cy="741033"/>
            </a:xfrm>
            <a:custGeom>
              <a:avLst/>
              <a:gdLst/>
              <a:ahLst/>
              <a:cxnLst/>
              <a:rect l="l" t="t" r="r" b="b"/>
              <a:pathLst>
                <a:path w="4048760" h="741033">
                  <a:moveTo>
                    <a:pt x="0" y="0"/>
                  </a:moveTo>
                  <a:lnTo>
                    <a:pt x="4048760" y="0"/>
                  </a:lnTo>
                  <a:lnTo>
                    <a:pt x="4048760" y="741033"/>
                  </a:lnTo>
                  <a:lnTo>
                    <a:pt x="0" y="741033"/>
                  </a:lnTo>
                  <a:close/>
                </a:path>
              </a:pathLst>
            </a:custGeom>
            <a:solidFill>
              <a:srgbClr val="132338"/>
            </a:solidFill>
            <a:ln w="19050" cap="sq">
              <a:solidFill>
                <a:srgbClr val="CBD5E0"/>
              </a:solidFill>
              <a:prstDash val="solid"/>
              <a:miter/>
            </a:ln>
          </p:spPr>
        </p:sp>
      </p:grpSp>
      <p:grpSp>
        <p:nvGrpSpPr>
          <p:cNvPr id="14" name="Group 14"/>
          <p:cNvGrpSpPr/>
          <p:nvPr/>
        </p:nvGrpSpPr>
        <p:grpSpPr>
          <a:xfrm>
            <a:off x="856298" y="6823999"/>
            <a:ext cx="2880360" cy="539823"/>
            <a:chOff x="0" y="0"/>
            <a:chExt cx="3840480" cy="719764"/>
          </a:xfrm>
        </p:grpSpPr>
        <p:sp>
          <p:nvSpPr>
            <p:cNvPr id="15" name="Freeform 15"/>
            <p:cNvSpPr/>
            <p:nvPr/>
          </p:nvSpPr>
          <p:spPr>
            <a:xfrm>
              <a:off x="0" y="0"/>
              <a:ext cx="3840480" cy="719764"/>
            </a:xfrm>
            <a:custGeom>
              <a:avLst/>
              <a:gdLst/>
              <a:ahLst/>
              <a:cxnLst/>
              <a:rect l="l" t="t" r="r" b="b"/>
              <a:pathLst>
                <a:path w="3840480" h="719764">
                  <a:moveTo>
                    <a:pt x="0" y="0"/>
                  </a:moveTo>
                  <a:lnTo>
                    <a:pt x="3840480" y="0"/>
                  </a:lnTo>
                  <a:lnTo>
                    <a:pt x="3840480" y="719764"/>
                  </a:lnTo>
                  <a:lnTo>
                    <a:pt x="0" y="719764"/>
                  </a:lnTo>
                  <a:close/>
                </a:path>
              </a:pathLst>
            </a:custGeom>
            <a:blipFill>
              <a:blip r:embed="rId3">
                <a:alphaModFix amt="0"/>
              </a:blip>
              <a:stretch>
                <a:fillRect t="-44257" b="-63676"/>
              </a:stretch>
            </a:blipFill>
          </p:spPr>
        </p:sp>
        <p:sp>
          <p:nvSpPr>
            <p:cNvPr id="16" name="TextBox 16"/>
            <p:cNvSpPr txBox="1"/>
            <p:nvPr/>
          </p:nvSpPr>
          <p:spPr>
            <a:xfrm>
              <a:off x="0" y="0"/>
              <a:ext cx="3840480" cy="719764"/>
            </a:xfrm>
            <a:prstGeom prst="rect">
              <a:avLst/>
            </a:prstGeom>
          </p:spPr>
          <p:txBody>
            <a:bodyPr lIns="0" tIns="0" rIns="0" bIns="0" rtlCol="0" anchor="ctr"/>
            <a:lstStyle/>
            <a:p>
              <a:pPr algn="l">
                <a:lnSpc>
                  <a:spcPts val="1709"/>
                </a:lnSpc>
              </a:pPr>
              <a:r>
                <a:rPr lang="en-US" sz="1425" b="1">
                  <a:solidFill>
                    <a:srgbClr val="FFFFFF"/>
                  </a:solidFill>
                  <a:latin typeface="DM Sans Bold"/>
                  <a:ea typeface="DM Sans Bold"/>
                  <a:cs typeface="DM Sans Bold"/>
                  <a:sym typeface="DM Sans Bold"/>
                </a:rPr>
                <a:t>Metric</a:t>
              </a:r>
            </a:p>
          </p:txBody>
        </p:sp>
      </p:grpSp>
      <p:grpSp>
        <p:nvGrpSpPr>
          <p:cNvPr id="17" name="Group 17"/>
          <p:cNvGrpSpPr/>
          <p:nvPr/>
        </p:nvGrpSpPr>
        <p:grpSpPr>
          <a:xfrm>
            <a:off x="3713797" y="6443116"/>
            <a:ext cx="5505450" cy="555775"/>
            <a:chOff x="0" y="0"/>
            <a:chExt cx="7340600" cy="741034"/>
          </a:xfrm>
        </p:grpSpPr>
        <p:sp>
          <p:nvSpPr>
            <p:cNvPr id="18" name="Freeform 18"/>
            <p:cNvSpPr/>
            <p:nvPr/>
          </p:nvSpPr>
          <p:spPr>
            <a:xfrm>
              <a:off x="0" y="0"/>
              <a:ext cx="7340600" cy="741033"/>
            </a:xfrm>
            <a:custGeom>
              <a:avLst/>
              <a:gdLst/>
              <a:ahLst/>
              <a:cxnLst/>
              <a:rect l="l" t="t" r="r" b="b"/>
              <a:pathLst>
                <a:path w="7340600" h="741033">
                  <a:moveTo>
                    <a:pt x="0" y="0"/>
                  </a:moveTo>
                  <a:lnTo>
                    <a:pt x="7340600" y="0"/>
                  </a:lnTo>
                  <a:lnTo>
                    <a:pt x="7340600" y="741033"/>
                  </a:lnTo>
                  <a:lnTo>
                    <a:pt x="0" y="741033"/>
                  </a:lnTo>
                  <a:close/>
                </a:path>
              </a:pathLst>
            </a:custGeom>
            <a:solidFill>
              <a:srgbClr val="132338"/>
            </a:solidFill>
            <a:ln w="19050" cap="sq">
              <a:solidFill>
                <a:srgbClr val="CBD5E0"/>
              </a:solidFill>
              <a:prstDash val="solid"/>
              <a:miter/>
            </a:ln>
          </p:spPr>
        </p:sp>
      </p:grpSp>
      <p:grpSp>
        <p:nvGrpSpPr>
          <p:cNvPr id="19" name="Group 19"/>
          <p:cNvGrpSpPr/>
          <p:nvPr/>
        </p:nvGrpSpPr>
        <p:grpSpPr>
          <a:xfrm>
            <a:off x="3870008" y="6823999"/>
            <a:ext cx="5349240" cy="539823"/>
            <a:chOff x="0" y="0"/>
            <a:chExt cx="7132320" cy="719764"/>
          </a:xfrm>
        </p:grpSpPr>
        <p:sp>
          <p:nvSpPr>
            <p:cNvPr id="20" name="Freeform 20"/>
            <p:cNvSpPr/>
            <p:nvPr/>
          </p:nvSpPr>
          <p:spPr>
            <a:xfrm>
              <a:off x="0" y="0"/>
              <a:ext cx="7132320" cy="719764"/>
            </a:xfrm>
            <a:custGeom>
              <a:avLst/>
              <a:gdLst/>
              <a:ahLst/>
              <a:cxnLst/>
              <a:rect l="l" t="t" r="r" b="b"/>
              <a:pathLst>
                <a:path w="7132320" h="719764">
                  <a:moveTo>
                    <a:pt x="0" y="0"/>
                  </a:moveTo>
                  <a:lnTo>
                    <a:pt x="7132320" y="0"/>
                  </a:lnTo>
                  <a:lnTo>
                    <a:pt x="7132320" y="719764"/>
                  </a:lnTo>
                  <a:lnTo>
                    <a:pt x="0" y="719764"/>
                  </a:lnTo>
                  <a:close/>
                </a:path>
              </a:pathLst>
            </a:custGeom>
            <a:blipFill>
              <a:blip r:embed="rId3">
                <a:alphaModFix amt="0"/>
              </a:blip>
              <a:stretch>
                <a:fillRect t="-133372" b="-152791"/>
              </a:stretch>
            </a:blipFill>
          </p:spPr>
        </p:sp>
        <p:sp>
          <p:nvSpPr>
            <p:cNvPr id="21" name="TextBox 21"/>
            <p:cNvSpPr txBox="1"/>
            <p:nvPr/>
          </p:nvSpPr>
          <p:spPr>
            <a:xfrm>
              <a:off x="0" y="0"/>
              <a:ext cx="7132320" cy="719764"/>
            </a:xfrm>
            <a:prstGeom prst="rect">
              <a:avLst/>
            </a:prstGeom>
          </p:spPr>
          <p:txBody>
            <a:bodyPr lIns="0" tIns="0" rIns="0" bIns="0" rtlCol="0" anchor="ctr"/>
            <a:lstStyle/>
            <a:p>
              <a:pPr algn="l">
                <a:lnSpc>
                  <a:spcPts val="1709"/>
                </a:lnSpc>
              </a:pPr>
              <a:r>
                <a:rPr lang="en-US" sz="1425" b="1">
                  <a:solidFill>
                    <a:srgbClr val="FFFFFF"/>
                  </a:solidFill>
                  <a:latin typeface="DM Sans Bold"/>
                  <a:ea typeface="DM Sans Bold"/>
                  <a:cs typeface="DM Sans Bold"/>
                  <a:sym typeface="DM Sans Bold"/>
                </a:rPr>
                <a:t>Formula</a:t>
              </a:r>
            </a:p>
          </p:txBody>
        </p:sp>
      </p:grpSp>
      <p:grpSp>
        <p:nvGrpSpPr>
          <p:cNvPr id="22" name="Group 22"/>
          <p:cNvGrpSpPr/>
          <p:nvPr/>
        </p:nvGrpSpPr>
        <p:grpSpPr>
          <a:xfrm>
            <a:off x="9200198" y="6443116"/>
            <a:ext cx="8385810" cy="555775"/>
            <a:chOff x="0" y="0"/>
            <a:chExt cx="11181080" cy="741034"/>
          </a:xfrm>
        </p:grpSpPr>
        <p:sp>
          <p:nvSpPr>
            <p:cNvPr id="23" name="Freeform 23"/>
            <p:cNvSpPr/>
            <p:nvPr/>
          </p:nvSpPr>
          <p:spPr>
            <a:xfrm>
              <a:off x="0" y="0"/>
              <a:ext cx="11181080" cy="741033"/>
            </a:xfrm>
            <a:custGeom>
              <a:avLst/>
              <a:gdLst/>
              <a:ahLst/>
              <a:cxnLst/>
              <a:rect l="l" t="t" r="r" b="b"/>
              <a:pathLst>
                <a:path w="11181080" h="741033">
                  <a:moveTo>
                    <a:pt x="0" y="0"/>
                  </a:moveTo>
                  <a:lnTo>
                    <a:pt x="11181080" y="0"/>
                  </a:lnTo>
                  <a:lnTo>
                    <a:pt x="11181080" y="741033"/>
                  </a:lnTo>
                  <a:lnTo>
                    <a:pt x="0" y="741033"/>
                  </a:lnTo>
                  <a:close/>
                </a:path>
              </a:pathLst>
            </a:custGeom>
            <a:solidFill>
              <a:srgbClr val="132338"/>
            </a:solidFill>
            <a:ln w="19050" cap="sq">
              <a:solidFill>
                <a:srgbClr val="CBD5E0"/>
              </a:solidFill>
              <a:prstDash val="solid"/>
              <a:miter/>
            </a:ln>
          </p:spPr>
        </p:sp>
      </p:grpSp>
      <p:grpSp>
        <p:nvGrpSpPr>
          <p:cNvPr id="24" name="Group 24"/>
          <p:cNvGrpSpPr/>
          <p:nvPr/>
        </p:nvGrpSpPr>
        <p:grpSpPr>
          <a:xfrm>
            <a:off x="9362122" y="6489583"/>
            <a:ext cx="8229600" cy="539823"/>
            <a:chOff x="0" y="0"/>
            <a:chExt cx="10972800" cy="719764"/>
          </a:xfrm>
        </p:grpSpPr>
        <p:sp>
          <p:nvSpPr>
            <p:cNvPr id="25" name="Freeform 25"/>
            <p:cNvSpPr/>
            <p:nvPr/>
          </p:nvSpPr>
          <p:spPr>
            <a:xfrm>
              <a:off x="0" y="0"/>
              <a:ext cx="10972800" cy="719764"/>
            </a:xfrm>
            <a:custGeom>
              <a:avLst/>
              <a:gdLst/>
              <a:ahLst/>
              <a:cxnLst/>
              <a:rect l="l" t="t" r="r" b="b"/>
              <a:pathLst>
                <a:path w="10972800" h="719764">
                  <a:moveTo>
                    <a:pt x="0" y="0"/>
                  </a:moveTo>
                  <a:lnTo>
                    <a:pt x="10972800" y="0"/>
                  </a:lnTo>
                  <a:lnTo>
                    <a:pt x="10972800" y="719764"/>
                  </a:lnTo>
                  <a:lnTo>
                    <a:pt x="0" y="719764"/>
                  </a:lnTo>
                  <a:close/>
                </a:path>
              </a:pathLst>
            </a:custGeom>
            <a:blipFill>
              <a:blip r:embed="rId3">
                <a:alphaModFix amt="0"/>
              </a:blip>
              <a:stretch>
                <a:fillRect t="-237339" b="-256758"/>
              </a:stretch>
            </a:blipFill>
          </p:spPr>
        </p:sp>
        <p:sp>
          <p:nvSpPr>
            <p:cNvPr id="26" name="TextBox 26"/>
            <p:cNvSpPr txBox="1"/>
            <p:nvPr/>
          </p:nvSpPr>
          <p:spPr>
            <a:xfrm>
              <a:off x="0" y="0"/>
              <a:ext cx="10972800" cy="719764"/>
            </a:xfrm>
            <a:prstGeom prst="rect">
              <a:avLst/>
            </a:prstGeom>
          </p:spPr>
          <p:txBody>
            <a:bodyPr lIns="0" tIns="0" rIns="0" bIns="0" rtlCol="0" anchor="ctr"/>
            <a:lstStyle/>
            <a:p>
              <a:pPr algn="l">
                <a:lnSpc>
                  <a:spcPts val="1709"/>
                </a:lnSpc>
              </a:pPr>
              <a:r>
                <a:rPr lang="en-US" sz="1425" b="1">
                  <a:solidFill>
                    <a:srgbClr val="FFFFFF"/>
                  </a:solidFill>
                  <a:latin typeface="DM Sans Bold"/>
                  <a:ea typeface="DM Sans Bold"/>
                  <a:cs typeface="DM Sans Bold"/>
                  <a:sym typeface="DM Sans Bold"/>
                </a:rPr>
                <a:t>Key Finding</a:t>
              </a:r>
            </a:p>
          </p:txBody>
        </p:sp>
      </p:grpSp>
      <p:grpSp>
        <p:nvGrpSpPr>
          <p:cNvPr id="27" name="Group 27"/>
          <p:cNvGrpSpPr/>
          <p:nvPr/>
        </p:nvGrpSpPr>
        <p:grpSpPr>
          <a:xfrm>
            <a:off x="842962" y="6459069"/>
            <a:ext cx="8229600" cy="539823"/>
            <a:chOff x="0" y="0"/>
            <a:chExt cx="10972800" cy="719764"/>
          </a:xfrm>
        </p:grpSpPr>
        <p:sp>
          <p:nvSpPr>
            <p:cNvPr id="28" name="Freeform 28"/>
            <p:cNvSpPr/>
            <p:nvPr/>
          </p:nvSpPr>
          <p:spPr>
            <a:xfrm>
              <a:off x="0" y="0"/>
              <a:ext cx="10972800" cy="719764"/>
            </a:xfrm>
            <a:custGeom>
              <a:avLst/>
              <a:gdLst/>
              <a:ahLst/>
              <a:cxnLst/>
              <a:rect l="l" t="t" r="r" b="b"/>
              <a:pathLst>
                <a:path w="10972800" h="719764">
                  <a:moveTo>
                    <a:pt x="0" y="0"/>
                  </a:moveTo>
                  <a:lnTo>
                    <a:pt x="10972800" y="0"/>
                  </a:lnTo>
                  <a:lnTo>
                    <a:pt x="10972800" y="719764"/>
                  </a:lnTo>
                  <a:lnTo>
                    <a:pt x="0" y="719764"/>
                  </a:lnTo>
                  <a:close/>
                </a:path>
              </a:pathLst>
            </a:custGeom>
            <a:blipFill>
              <a:blip r:embed="rId3">
                <a:alphaModFix amt="0"/>
              </a:blip>
              <a:stretch>
                <a:fillRect t="-237339" b="-256758"/>
              </a:stretch>
            </a:blipFill>
          </p:spPr>
        </p:sp>
        <p:sp>
          <p:nvSpPr>
            <p:cNvPr id="29" name="TextBox 29"/>
            <p:cNvSpPr txBox="1"/>
            <p:nvPr/>
          </p:nvSpPr>
          <p:spPr>
            <a:xfrm>
              <a:off x="0" y="0"/>
              <a:ext cx="10972800" cy="719764"/>
            </a:xfrm>
            <a:prstGeom prst="rect">
              <a:avLst/>
            </a:prstGeom>
          </p:spPr>
          <p:txBody>
            <a:bodyPr lIns="0" tIns="0" rIns="0" bIns="0" rtlCol="0" anchor="ctr"/>
            <a:lstStyle/>
            <a:p>
              <a:pPr algn="l">
                <a:lnSpc>
                  <a:spcPts val="1709"/>
                </a:lnSpc>
              </a:pPr>
              <a:r>
                <a:rPr lang="en-US" sz="1425" b="1">
                  <a:solidFill>
                    <a:srgbClr val="FFFFFF"/>
                  </a:solidFill>
                  <a:latin typeface="DM Sans Bold"/>
                  <a:ea typeface="DM Sans Bold"/>
                  <a:cs typeface="DM Sans Bold"/>
                  <a:sym typeface="DM Sans Bold"/>
                </a:rPr>
                <a:t>Metrics</a:t>
              </a:r>
            </a:p>
          </p:txBody>
        </p:sp>
      </p:grpSp>
      <p:grpSp>
        <p:nvGrpSpPr>
          <p:cNvPr id="30" name="Group 30"/>
          <p:cNvGrpSpPr/>
          <p:nvPr/>
        </p:nvGrpSpPr>
        <p:grpSpPr>
          <a:xfrm>
            <a:off x="3870007" y="6489583"/>
            <a:ext cx="8229600" cy="539823"/>
            <a:chOff x="0" y="0"/>
            <a:chExt cx="10972800" cy="719764"/>
          </a:xfrm>
        </p:grpSpPr>
        <p:sp>
          <p:nvSpPr>
            <p:cNvPr id="31" name="Freeform 31"/>
            <p:cNvSpPr/>
            <p:nvPr/>
          </p:nvSpPr>
          <p:spPr>
            <a:xfrm>
              <a:off x="0" y="0"/>
              <a:ext cx="10972800" cy="719764"/>
            </a:xfrm>
            <a:custGeom>
              <a:avLst/>
              <a:gdLst/>
              <a:ahLst/>
              <a:cxnLst/>
              <a:rect l="l" t="t" r="r" b="b"/>
              <a:pathLst>
                <a:path w="10972800" h="719764">
                  <a:moveTo>
                    <a:pt x="0" y="0"/>
                  </a:moveTo>
                  <a:lnTo>
                    <a:pt x="10972800" y="0"/>
                  </a:lnTo>
                  <a:lnTo>
                    <a:pt x="10972800" y="719764"/>
                  </a:lnTo>
                  <a:lnTo>
                    <a:pt x="0" y="719764"/>
                  </a:lnTo>
                  <a:close/>
                </a:path>
              </a:pathLst>
            </a:custGeom>
            <a:blipFill>
              <a:blip r:embed="rId3">
                <a:alphaModFix amt="0"/>
              </a:blip>
              <a:stretch>
                <a:fillRect t="-237339" b="-256758"/>
              </a:stretch>
            </a:blipFill>
          </p:spPr>
        </p:sp>
        <p:sp>
          <p:nvSpPr>
            <p:cNvPr id="32" name="TextBox 32"/>
            <p:cNvSpPr txBox="1"/>
            <p:nvPr/>
          </p:nvSpPr>
          <p:spPr>
            <a:xfrm>
              <a:off x="0" y="0"/>
              <a:ext cx="10972800" cy="719764"/>
            </a:xfrm>
            <a:prstGeom prst="rect">
              <a:avLst/>
            </a:prstGeom>
          </p:spPr>
          <p:txBody>
            <a:bodyPr lIns="0" tIns="0" rIns="0" bIns="0" rtlCol="0" anchor="ctr"/>
            <a:lstStyle/>
            <a:p>
              <a:pPr algn="l">
                <a:lnSpc>
                  <a:spcPts val="1709"/>
                </a:lnSpc>
              </a:pPr>
              <a:r>
                <a:rPr lang="en-US" sz="1425" b="1">
                  <a:solidFill>
                    <a:srgbClr val="FFFFFF"/>
                  </a:solidFill>
                  <a:latin typeface="DM Sans Bold"/>
                  <a:ea typeface="DM Sans Bold"/>
                  <a:cs typeface="DM Sans Bold"/>
                  <a:sym typeface="DM Sans Bold"/>
                </a:rPr>
                <a:t>Formula</a:t>
              </a:r>
            </a:p>
          </p:txBody>
        </p:sp>
      </p:grpSp>
      <p:grpSp>
        <p:nvGrpSpPr>
          <p:cNvPr id="33" name="Group 33"/>
          <p:cNvGrpSpPr/>
          <p:nvPr/>
        </p:nvGrpSpPr>
        <p:grpSpPr>
          <a:xfrm>
            <a:off x="696278" y="6982939"/>
            <a:ext cx="3036570" cy="555775"/>
            <a:chOff x="0" y="0"/>
            <a:chExt cx="4048760" cy="741034"/>
          </a:xfrm>
        </p:grpSpPr>
        <p:sp>
          <p:nvSpPr>
            <p:cNvPr id="34" name="Freeform 34"/>
            <p:cNvSpPr/>
            <p:nvPr/>
          </p:nvSpPr>
          <p:spPr>
            <a:xfrm>
              <a:off x="0" y="0"/>
              <a:ext cx="4048760" cy="741033"/>
            </a:xfrm>
            <a:custGeom>
              <a:avLst/>
              <a:gdLst/>
              <a:ahLst/>
              <a:cxnLst/>
              <a:rect l="l" t="t" r="r" b="b"/>
              <a:pathLst>
                <a:path w="4048760" h="741033">
                  <a:moveTo>
                    <a:pt x="0" y="0"/>
                  </a:moveTo>
                  <a:lnTo>
                    <a:pt x="4048760" y="0"/>
                  </a:lnTo>
                  <a:lnTo>
                    <a:pt x="4048760" y="741033"/>
                  </a:lnTo>
                  <a:lnTo>
                    <a:pt x="0" y="741033"/>
                  </a:lnTo>
                  <a:close/>
                </a:path>
              </a:pathLst>
            </a:custGeom>
            <a:solidFill>
              <a:srgbClr val="EBF4FF"/>
            </a:solidFill>
            <a:ln w="19050" cap="sq">
              <a:solidFill>
                <a:srgbClr val="CBD5E0"/>
              </a:solidFill>
              <a:prstDash val="solid"/>
              <a:miter/>
            </a:ln>
          </p:spPr>
        </p:sp>
      </p:grpSp>
      <p:grpSp>
        <p:nvGrpSpPr>
          <p:cNvPr id="35" name="Group 35"/>
          <p:cNvGrpSpPr/>
          <p:nvPr/>
        </p:nvGrpSpPr>
        <p:grpSpPr>
          <a:xfrm>
            <a:off x="842962" y="6990915"/>
            <a:ext cx="2880360" cy="539823"/>
            <a:chOff x="0" y="0"/>
            <a:chExt cx="3840480" cy="719764"/>
          </a:xfrm>
        </p:grpSpPr>
        <p:sp>
          <p:nvSpPr>
            <p:cNvPr id="36" name="Freeform 36"/>
            <p:cNvSpPr/>
            <p:nvPr/>
          </p:nvSpPr>
          <p:spPr>
            <a:xfrm>
              <a:off x="0" y="0"/>
              <a:ext cx="3840480" cy="719764"/>
            </a:xfrm>
            <a:custGeom>
              <a:avLst/>
              <a:gdLst/>
              <a:ahLst/>
              <a:cxnLst/>
              <a:rect l="l" t="t" r="r" b="b"/>
              <a:pathLst>
                <a:path w="3840480" h="719764">
                  <a:moveTo>
                    <a:pt x="0" y="0"/>
                  </a:moveTo>
                  <a:lnTo>
                    <a:pt x="3840480" y="0"/>
                  </a:lnTo>
                  <a:lnTo>
                    <a:pt x="3840480" y="719764"/>
                  </a:lnTo>
                  <a:lnTo>
                    <a:pt x="0" y="719764"/>
                  </a:lnTo>
                  <a:close/>
                </a:path>
              </a:pathLst>
            </a:custGeom>
            <a:blipFill>
              <a:blip r:embed="rId3">
                <a:alphaModFix amt="0"/>
              </a:blip>
              <a:stretch>
                <a:fillRect t="-44257" b="-63676"/>
              </a:stretch>
            </a:blipFill>
          </p:spPr>
        </p:sp>
        <p:sp>
          <p:nvSpPr>
            <p:cNvPr id="37" name="TextBox 37"/>
            <p:cNvSpPr txBox="1"/>
            <p:nvPr/>
          </p:nvSpPr>
          <p:spPr>
            <a:xfrm>
              <a:off x="0" y="0"/>
              <a:ext cx="384048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Sharpe</a:t>
              </a:r>
            </a:p>
          </p:txBody>
        </p:sp>
      </p:grpSp>
      <p:grpSp>
        <p:nvGrpSpPr>
          <p:cNvPr id="38" name="Group 38"/>
          <p:cNvGrpSpPr/>
          <p:nvPr/>
        </p:nvGrpSpPr>
        <p:grpSpPr>
          <a:xfrm>
            <a:off x="3713797" y="6982939"/>
            <a:ext cx="5505450" cy="555775"/>
            <a:chOff x="0" y="0"/>
            <a:chExt cx="7340600" cy="741034"/>
          </a:xfrm>
        </p:grpSpPr>
        <p:sp>
          <p:nvSpPr>
            <p:cNvPr id="39" name="Freeform 39"/>
            <p:cNvSpPr/>
            <p:nvPr/>
          </p:nvSpPr>
          <p:spPr>
            <a:xfrm>
              <a:off x="0" y="0"/>
              <a:ext cx="7340600" cy="741033"/>
            </a:xfrm>
            <a:custGeom>
              <a:avLst/>
              <a:gdLst/>
              <a:ahLst/>
              <a:cxnLst/>
              <a:rect l="l" t="t" r="r" b="b"/>
              <a:pathLst>
                <a:path w="7340600" h="741033">
                  <a:moveTo>
                    <a:pt x="0" y="0"/>
                  </a:moveTo>
                  <a:lnTo>
                    <a:pt x="7340600" y="0"/>
                  </a:lnTo>
                  <a:lnTo>
                    <a:pt x="7340600" y="741033"/>
                  </a:lnTo>
                  <a:lnTo>
                    <a:pt x="0" y="741033"/>
                  </a:lnTo>
                  <a:close/>
                </a:path>
              </a:pathLst>
            </a:custGeom>
            <a:solidFill>
              <a:srgbClr val="EBF4FF"/>
            </a:solidFill>
            <a:ln w="19050" cap="sq">
              <a:solidFill>
                <a:srgbClr val="CBD5E0"/>
              </a:solidFill>
              <a:prstDash val="solid"/>
              <a:miter/>
            </a:ln>
          </p:spPr>
        </p:sp>
      </p:grpSp>
      <p:grpSp>
        <p:nvGrpSpPr>
          <p:cNvPr id="40" name="Group 40"/>
          <p:cNvGrpSpPr/>
          <p:nvPr/>
        </p:nvGrpSpPr>
        <p:grpSpPr>
          <a:xfrm>
            <a:off x="3860483" y="6990915"/>
            <a:ext cx="5349240" cy="539823"/>
            <a:chOff x="0" y="0"/>
            <a:chExt cx="7132320" cy="719764"/>
          </a:xfrm>
        </p:grpSpPr>
        <p:sp>
          <p:nvSpPr>
            <p:cNvPr id="41" name="Freeform 41"/>
            <p:cNvSpPr/>
            <p:nvPr/>
          </p:nvSpPr>
          <p:spPr>
            <a:xfrm>
              <a:off x="0" y="0"/>
              <a:ext cx="7132320" cy="719764"/>
            </a:xfrm>
            <a:custGeom>
              <a:avLst/>
              <a:gdLst/>
              <a:ahLst/>
              <a:cxnLst/>
              <a:rect l="l" t="t" r="r" b="b"/>
              <a:pathLst>
                <a:path w="7132320" h="719764">
                  <a:moveTo>
                    <a:pt x="0" y="0"/>
                  </a:moveTo>
                  <a:lnTo>
                    <a:pt x="7132320" y="0"/>
                  </a:lnTo>
                  <a:lnTo>
                    <a:pt x="7132320" y="719764"/>
                  </a:lnTo>
                  <a:lnTo>
                    <a:pt x="0" y="719764"/>
                  </a:lnTo>
                  <a:close/>
                </a:path>
              </a:pathLst>
            </a:custGeom>
            <a:blipFill>
              <a:blip r:embed="rId3">
                <a:alphaModFix amt="0"/>
              </a:blip>
              <a:stretch>
                <a:fillRect t="-133372" b="-152791"/>
              </a:stretch>
            </a:blipFill>
          </p:spPr>
        </p:sp>
        <p:sp>
          <p:nvSpPr>
            <p:cNvPr id="42" name="TextBox 42"/>
            <p:cNvSpPr txBox="1"/>
            <p:nvPr/>
          </p:nvSpPr>
          <p:spPr>
            <a:xfrm>
              <a:off x="0" y="0"/>
              <a:ext cx="713232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(Rp−Rf)/(σ × √252)</a:t>
              </a:r>
            </a:p>
          </p:txBody>
        </p:sp>
      </p:grpSp>
      <p:grpSp>
        <p:nvGrpSpPr>
          <p:cNvPr id="43" name="Group 43"/>
          <p:cNvGrpSpPr/>
          <p:nvPr/>
        </p:nvGrpSpPr>
        <p:grpSpPr>
          <a:xfrm>
            <a:off x="9200198" y="6982939"/>
            <a:ext cx="8385810" cy="555775"/>
            <a:chOff x="0" y="0"/>
            <a:chExt cx="11181080" cy="741034"/>
          </a:xfrm>
        </p:grpSpPr>
        <p:sp>
          <p:nvSpPr>
            <p:cNvPr id="44" name="Freeform 44"/>
            <p:cNvSpPr/>
            <p:nvPr/>
          </p:nvSpPr>
          <p:spPr>
            <a:xfrm>
              <a:off x="0" y="0"/>
              <a:ext cx="11181080" cy="741033"/>
            </a:xfrm>
            <a:custGeom>
              <a:avLst/>
              <a:gdLst/>
              <a:ahLst/>
              <a:cxnLst/>
              <a:rect l="l" t="t" r="r" b="b"/>
              <a:pathLst>
                <a:path w="11181080" h="741033">
                  <a:moveTo>
                    <a:pt x="0" y="0"/>
                  </a:moveTo>
                  <a:lnTo>
                    <a:pt x="11181080" y="0"/>
                  </a:lnTo>
                  <a:lnTo>
                    <a:pt x="11181080" y="741033"/>
                  </a:lnTo>
                  <a:lnTo>
                    <a:pt x="0" y="741033"/>
                  </a:lnTo>
                  <a:close/>
                </a:path>
              </a:pathLst>
            </a:custGeom>
            <a:solidFill>
              <a:srgbClr val="EBF4FF"/>
            </a:solidFill>
            <a:ln w="19050" cap="sq">
              <a:solidFill>
                <a:srgbClr val="CBD5E0"/>
              </a:solidFill>
              <a:prstDash val="solid"/>
              <a:miter/>
            </a:ln>
          </p:spPr>
        </p:sp>
      </p:grpSp>
      <p:grpSp>
        <p:nvGrpSpPr>
          <p:cNvPr id="45" name="Group 45"/>
          <p:cNvGrpSpPr/>
          <p:nvPr/>
        </p:nvGrpSpPr>
        <p:grpSpPr>
          <a:xfrm>
            <a:off x="9346883" y="6990915"/>
            <a:ext cx="8229600" cy="539823"/>
            <a:chOff x="0" y="0"/>
            <a:chExt cx="10972800" cy="719764"/>
          </a:xfrm>
        </p:grpSpPr>
        <p:sp>
          <p:nvSpPr>
            <p:cNvPr id="46" name="Freeform 46"/>
            <p:cNvSpPr/>
            <p:nvPr/>
          </p:nvSpPr>
          <p:spPr>
            <a:xfrm>
              <a:off x="0" y="0"/>
              <a:ext cx="10972800" cy="719764"/>
            </a:xfrm>
            <a:custGeom>
              <a:avLst/>
              <a:gdLst/>
              <a:ahLst/>
              <a:cxnLst/>
              <a:rect l="l" t="t" r="r" b="b"/>
              <a:pathLst>
                <a:path w="10972800" h="719764">
                  <a:moveTo>
                    <a:pt x="0" y="0"/>
                  </a:moveTo>
                  <a:lnTo>
                    <a:pt x="10972800" y="0"/>
                  </a:lnTo>
                  <a:lnTo>
                    <a:pt x="10972800" y="719764"/>
                  </a:lnTo>
                  <a:lnTo>
                    <a:pt x="0" y="719764"/>
                  </a:lnTo>
                  <a:close/>
                </a:path>
              </a:pathLst>
            </a:custGeom>
            <a:blipFill>
              <a:blip r:embed="rId3">
                <a:alphaModFix amt="0"/>
              </a:blip>
              <a:stretch>
                <a:fillRect t="-237339" b="-256758"/>
              </a:stretch>
            </a:blipFill>
          </p:spPr>
        </p:sp>
        <p:sp>
          <p:nvSpPr>
            <p:cNvPr id="47" name="TextBox 47"/>
            <p:cNvSpPr txBox="1"/>
            <p:nvPr/>
          </p:nvSpPr>
          <p:spPr>
            <a:xfrm>
              <a:off x="0" y="0"/>
              <a:ext cx="1097280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Best: 1.7298  |  Rf=6.5%</a:t>
              </a:r>
            </a:p>
          </p:txBody>
        </p:sp>
      </p:grpSp>
      <p:grpSp>
        <p:nvGrpSpPr>
          <p:cNvPr id="48" name="Group 48"/>
          <p:cNvGrpSpPr/>
          <p:nvPr/>
        </p:nvGrpSpPr>
        <p:grpSpPr>
          <a:xfrm>
            <a:off x="696278" y="7522762"/>
            <a:ext cx="3036570" cy="555775"/>
            <a:chOff x="0" y="0"/>
            <a:chExt cx="4048760" cy="741034"/>
          </a:xfrm>
        </p:grpSpPr>
        <p:sp>
          <p:nvSpPr>
            <p:cNvPr id="49" name="Freeform 49"/>
            <p:cNvSpPr/>
            <p:nvPr/>
          </p:nvSpPr>
          <p:spPr>
            <a:xfrm>
              <a:off x="0" y="0"/>
              <a:ext cx="4048760" cy="741033"/>
            </a:xfrm>
            <a:custGeom>
              <a:avLst/>
              <a:gdLst/>
              <a:ahLst/>
              <a:cxnLst/>
              <a:rect l="l" t="t" r="r" b="b"/>
              <a:pathLst>
                <a:path w="4048760" h="741033">
                  <a:moveTo>
                    <a:pt x="0" y="0"/>
                  </a:moveTo>
                  <a:lnTo>
                    <a:pt x="4048760" y="0"/>
                  </a:lnTo>
                  <a:lnTo>
                    <a:pt x="4048760" y="741033"/>
                  </a:lnTo>
                  <a:lnTo>
                    <a:pt x="0" y="741033"/>
                  </a:lnTo>
                  <a:close/>
                </a:path>
              </a:pathLst>
            </a:custGeom>
            <a:solidFill>
              <a:srgbClr val="FFFFFF"/>
            </a:solidFill>
            <a:ln w="19050" cap="sq">
              <a:solidFill>
                <a:srgbClr val="CBD5E0"/>
              </a:solidFill>
              <a:prstDash val="solid"/>
              <a:miter/>
            </a:ln>
          </p:spPr>
        </p:sp>
      </p:grpSp>
      <p:grpSp>
        <p:nvGrpSpPr>
          <p:cNvPr id="50" name="Group 50"/>
          <p:cNvGrpSpPr/>
          <p:nvPr/>
        </p:nvGrpSpPr>
        <p:grpSpPr>
          <a:xfrm>
            <a:off x="842962" y="7530738"/>
            <a:ext cx="2880360" cy="539823"/>
            <a:chOff x="0" y="0"/>
            <a:chExt cx="3840480" cy="719764"/>
          </a:xfrm>
        </p:grpSpPr>
        <p:sp>
          <p:nvSpPr>
            <p:cNvPr id="51" name="Freeform 51"/>
            <p:cNvSpPr/>
            <p:nvPr/>
          </p:nvSpPr>
          <p:spPr>
            <a:xfrm>
              <a:off x="0" y="0"/>
              <a:ext cx="3840480" cy="719764"/>
            </a:xfrm>
            <a:custGeom>
              <a:avLst/>
              <a:gdLst/>
              <a:ahLst/>
              <a:cxnLst/>
              <a:rect l="l" t="t" r="r" b="b"/>
              <a:pathLst>
                <a:path w="3840480" h="719764">
                  <a:moveTo>
                    <a:pt x="0" y="0"/>
                  </a:moveTo>
                  <a:lnTo>
                    <a:pt x="3840480" y="0"/>
                  </a:lnTo>
                  <a:lnTo>
                    <a:pt x="3840480" y="719764"/>
                  </a:lnTo>
                  <a:lnTo>
                    <a:pt x="0" y="719764"/>
                  </a:lnTo>
                  <a:close/>
                </a:path>
              </a:pathLst>
            </a:custGeom>
            <a:blipFill>
              <a:blip r:embed="rId3">
                <a:alphaModFix amt="0"/>
              </a:blip>
              <a:stretch>
                <a:fillRect t="-44257" b="-63676"/>
              </a:stretch>
            </a:blipFill>
          </p:spPr>
        </p:sp>
        <p:sp>
          <p:nvSpPr>
            <p:cNvPr id="52" name="TextBox 52"/>
            <p:cNvSpPr txBox="1"/>
            <p:nvPr/>
          </p:nvSpPr>
          <p:spPr>
            <a:xfrm>
              <a:off x="0" y="0"/>
              <a:ext cx="384048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Sortino</a:t>
              </a:r>
            </a:p>
          </p:txBody>
        </p:sp>
      </p:grpSp>
      <p:grpSp>
        <p:nvGrpSpPr>
          <p:cNvPr id="53" name="Group 53"/>
          <p:cNvGrpSpPr/>
          <p:nvPr/>
        </p:nvGrpSpPr>
        <p:grpSpPr>
          <a:xfrm>
            <a:off x="3713797" y="7522762"/>
            <a:ext cx="5505450" cy="555775"/>
            <a:chOff x="0" y="0"/>
            <a:chExt cx="7340600" cy="741034"/>
          </a:xfrm>
        </p:grpSpPr>
        <p:sp>
          <p:nvSpPr>
            <p:cNvPr id="54" name="Freeform 54"/>
            <p:cNvSpPr/>
            <p:nvPr/>
          </p:nvSpPr>
          <p:spPr>
            <a:xfrm>
              <a:off x="0" y="0"/>
              <a:ext cx="7340600" cy="741033"/>
            </a:xfrm>
            <a:custGeom>
              <a:avLst/>
              <a:gdLst/>
              <a:ahLst/>
              <a:cxnLst/>
              <a:rect l="l" t="t" r="r" b="b"/>
              <a:pathLst>
                <a:path w="7340600" h="741033">
                  <a:moveTo>
                    <a:pt x="0" y="0"/>
                  </a:moveTo>
                  <a:lnTo>
                    <a:pt x="7340600" y="0"/>
                  </a:lnTo>
                  <a:lnTo>
                    <a:pt x="7340600" y="741033"/>
                  </a:lnTo>
                  <a:lnTo>
                    <a:pt x="0" y="741033"/>
                  </a:lnTo>
                  <a:close/>
                </a:path>
              </a:pathLst>
            </a:custGeom>
            <a:solidFill>
              <a:srgbClr val="FFFFFF"/>
            </a:solidFill>
            <a:ln w="19050" cap="sq">
              <a:solidFill>
                <a:srgbClr val="CBD5E0"/>
              </a:solidFill>
              <a:prstDash val="solid"/>
              <a:miter/>
            </a:ln>
          </p:spPr>
        </p:sp>
      </p:grpSp>
      <p:grpSp>
        <p:nvGrpSpPr>
          <p:cNvPr id="55" name="Group 55"/>
          <p:cNvGrpSpPr/>
          <p:nvPr/>
        </p:nvGrpSpPr>
        <p:grpSpPr>
          <a:xfrm>
            <a:off x="3860483" y="7530738"/>
            <a:ext cx="5349240" cy="539823"/>
            <a:chOff x="0" y="0"/>
            <a:chExt cx="7132320" cy="719764"/>
          </a:xfrm>
        </p:grpSpPr>
        <p:sp>
          <p:nvSpPr>
            <p:cNvPr id="56" name="Freeform 56"/>
            <p:cNvSpPr/>
            <p:nvPr/>
          </p:nvSpPr>
          <p:spPr>
            <a:xfrm>
              <a:off x="0" y="0"/>
              <a:ext cx="7132320" cy="719764"/>
            </a:xfrm>
            <a:custGeom>
              <a:avLst/>
              <a:gdLst/>
              <a:ahLst/>
              <a:cxnLst/>
              <a:rect l="l" t="t" r="r" b="b"/>
              <a:pathLst>
                <a:path w="7132320" h="719764">
                  <a:moveTo>
                    <a:pt x="0" y="0"/>
                  </a:moveTo>
                  <a:lnTo>
                    <a:pt x="7132320" y="0"/>
                  </a:lnTo>
                  <a:lnTo>
                    <a:pt x="7132320" y="719764"/>
                  </a:lnTo>
                  <a:lnTo>
                    <a:pt x="0" y="719764"/>
                  </a:lnTo>
                  <a:close/>
                </a:path>
              </a:pathLst>
            </a:custGeom>
            <a:blipFill>
              <a:blip r:embed="rId3">
                <a:alphaModFix amt="0"/>
              </a:blip>
              <a:stretch>
                <a:fillRect t="-133372" b="-152791"/>
              </a:stretch>
            </a:blipFill>
          </p:spPr>
        </p:sp>
        <p:sp>
          <p:nvSpPr>
            <p:cNvPr id="57" name="TextBox 57"/>
            <p:cNvSpPr txBox="1"/>
            <p:nvPr/>
          </p:nvSpPr>
          <p:spPr>
            <a:xfrm>
              <a:off x="0" y="0"/>
              <a:ext cx="713232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(Rp−Rf)/σ_down × √252</a:t>
              </a:r>
            </a:p>
          </p:txBody>
        </p:sp>
      </p:grpSp>
      <p:grpSp>
        <p:nvGrpSpPr>
          <p:cNvPr id="58" name="Group 58"/>
          <p:cNvGrpSpPr/>
          <p:nvPr/>
        </p:nvGrpSpPr>
        <p:grpSpPr>
          <a:xfrm>
            <a:off x="9200198" y="7522762"/>
            <a:ext cx="8385810" cy="555775"/>
            <a:chOff x="0" y="0"/>
            <a:chExt cx="11181080" cy="741034"/>
          </a:xfrm>
        </p:grpSpPr>
        <p:sp>
          <p:nvSpPr>
            <p:cNvPr id="59" name="Freeform 59"/>
            <p:cNvSpPr/>
            <p:nvPr/>
          </p:nvSpPr>
          <p:spPr>
            <a:xfrm>
              <a:off x="0" y="0"/>
              <a:ext cx="11181080" cy="741033"/>
            </a:xfrm>
            <a:custGeom>
              <a:avLst/>
              <a:gdLst/>
              <a:ahLst/>
              <a:cxnLst/>
              <a:rect l="l" t="t" r="r" b="b"/>
              <a:pathLst>
                <a:path w="11181080" h="741033">
                  <a:moveTo>
                    <a:pt x="0" y="0"/>
                  </a:moveTo>
                  <a:lnTo>
                    <a:pt x="11181080" y="0"/>
                  </a:lnTo>
                  <a:lnTo>
                    <a:pt x="11181080" y="741033"/>
                  </a:lnTo>
                  <a:lnTo>
                    <a:pt x="0" y="741033"/>
                  </a:lnTo>
                  <a:close/>
                </a:path>
              </a:pathLst>
            </a:custGeom>
            <a:solidFill>
              <a:srgbClr val="FFFFFF"/>
            </a:solidFill>
            <a:ln w="19050" cap="sq">
              <a:solidFill>
                <a:srgbClr val="CBD5E0"/>
              </a:solidFill>
              <a:prstDash val="solid"/>
              <a:miter/>
            </a:ln>
          </p:spPr>
        </p:sp>
      </p:grpSp>
      <p:grpSp>
        <p:nvGrpSpPr>
          <p:cNvPr id="60" name="Group 60"/>
          <p:cNvGrpSpPr/>
          <p:nvPr/>
        </p:nvGrpSpPr>
        <p:grpSpPr>
          <a:xfrm>
            <a:off x="9346882" y="7530738"/>
            <a:ext cx="8229600" cy="539823"/>
            <a:chOff x="0" y="0"/>
            <a:chExt cx="10972800" cy="719764"/>
          </a:xfrm>
        </p:grpSpPr>
        <p:sp>
          <p:nvSpPr>
            <p:cNvPr id="61" name="Freeform 61"/>
            <p:cNvSpPr/>
            <p:nvPr/>
          </p:nvSpPr>
          <p:spPr>
            <a:xfrm>
              <a:off x="0" y="0"/>
              <a:ext cx="10972800" cy="719764"/>
            </a:xfrm>
            <a:custGeom>
              <a:avLst/>
              <a:gdLst/>
              <a:ahLst/>
              <a:cxnLst/>
              <a:rect l="l" t="t" r="r" b="b"/>
              <a:pathLst>
                <a:path w="10972800" h="719764">
                  <a:moveTo>
                    <a:pt x="0" y="0"/>
                  </a:moveTo>
                  <a:lnTo>
                    <a:pt x="10972800" y="0"/>
                  </a:lnTo>
                  <a:lnTo>
                    <a:pt x="10972800" y="719764"/>
                  </a:lnTo>
                  <a:lnTo>
                    <a:pt x="0" y="719764"/>
                  </a:lnTo>
                  <a:close/>
                </a:path>
              </a:pathLst>
            </a:custGeom>
            <a:blipFill>
              <a:blip r:embed="rId3">
                <a:alphaModFix amt="0"/>
              </a:blip>
              <a:stretch>
                <a:fillRect t="-237339" b="-256758"/>
              </a:stretch>
            </a:blipFill>
          </p:spPr>
        </p:sp>
        <p:sp>
          <p:nvSpPr>
            <p:cNvPr id="62" name="TextBox 62"/>
            <p:cNvSpPr txBox="1"/>
            <p:nvPr/>
          </p:nvSpPr>
          <p:spPr>
            <a:xfrm>
              <a:off x="0" y="0"/>
              <a:ext cx="1097280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Uses downside std only</a:t>
              </a:r>
            </a:p>
          </p:txBody>
        </p:sp>
      </p:grpSp>
      <p:grpSp>
        <p:nvGrpSpPr>
          <p:cNvPr id="63" name="Group 63"/>
          <p:cNvGrpSpPr/>
          <p:nvPr/>
        </p:nvGrpSpPr>
        <p:grpSpPr>
          <a:xfrm>
            <a:off x="696278" y="8062585"/>
            <a:ext cx="3036570" cy="555775"/>
            <a:chOff x="0" y="0"/>
            <a:chExt cx="4048760" cy="741034"/>
          </a:xfrm>
        </p:grpSpPr>
        <p:sp>
          <p:nvSpPr>
            <p:cNvPr id="64" name="Freeform 64"/>
            <p:cNvSpPr/>
            <p:nvPr/>
          </p:nvSpPr>
          <p:spPr>
            <a:xfrm>
              <a:off x="0" y="0"/>
              <a:ext cx="4048760" cy="741033"/>
            </a:xfrm>
            <a:custGeom>
              <a:avLst/>
              <a:gdLst/>
              <a:ahLst/>
              <a:cxnLst/>
              <a:rect l="l" t="t" r="r" b="b"/>
              <a:pathLst>
                <a:path w="4048760" h="741033">
                  <a:moveTo>
                    <a:pt x="0" y="0"/>
                  </a:moveTo>
                  <a:lnTo>
                    <a:pt x="4048760" y="0"/>
                  </a:lnTo>
                  <a:lnTo>
                    <a:pt x="4048760" y="741033"/>
                  </a:lnTo>
                  <a:lnTo>
                    <a:pt x="0" y="741033"/>
                  </a:lnTo>
                  <a:close/>
                </a:path>
              </a:pathLst>
            </a:custGeom>
            <a:solidFill>
              <a:srgbClr val="EBF4FF"/>
            </a:solidFill>
            <a:ln w="19050" cap="sq">
              <a:solidFill>
                <a:srgbClr val="CBD5E0"/>
              </a:solidFill>
              <a:prstDash val="solid"/>
              <a:miter/>
            </a:ln>
          </p:spPr>
        </p:sp>
      </p:grpSp>
      <p:grpSp>
        <p:nvGrpSpPr>
          <p:cNvPr id="65" name="Group 65"/>
          <p:cNvGrpSpPr/>
          <p:nvPr/>
        </p:nvGrpSpPr>
        <p:grpSpPr>
          <a:xfrm>
            <a:off x="842962" y="8070561"/>
            <a:ext cx="2880360" cy="539823"/>
            <a:chOff x="0" y="0"/>
            <a:chExt cx="3840480" cy="719764"/>
          </a:xfrm>
        </p:grpSpPr>
        <p:sp>
          <p:nvSpPr>
            <p:cNvPr id="66" name="Freeform 66"/>
            <p:cNvSpPr/>
            <p:nvPr/>
          </p:nvSpPr>
          <p:spPr>
            <a:xfrm>
              <a:off x="0" y="0"/>
              <a:ext cx="3840480" cy="719764"/>
            </a:xfrm>
            <a:custGeom>
              <a:avLst/>
              <a:gdLst/>
              <a:ahLst/>
              <a:cxnLst/>
              <a:rect l="l" t="t" r="r" b="b"/>
              <a:pathLst>
                <a:path w="3840480" h="719764">
                  <a:moveTo>
                    <a:pt x="0" y="0"/>
                  </a:moveTo>
                  <a:lnTo>
                    <a:pt x="3840480" y="0"/>
                  </a:lnTo>
                  <a:lnTo>
                    <a:pt x="3840480" y="719764"/>
                  </a:lnTo>
                  <a:lnTo>
                    <a:pt x="0" y="719764"/>
                  </a:lnTo>
                  <a:close/>
                </a:path>
              </a:pathLst>
            </a:custGeom>
            <a:blipFill>
              <a:blip r:embed="rId3">
                <a:alphaModFix amt="0"/>
              </a:blip>
              <a:stretch>
                <a:fillRect t="-44257" b="-63676"/>
              </a:stretch>
            </a:blipFill>
          </p:spPr>
        </p:sp>
        <p:sp>
          <p:nvSpPr>
            <p:cNvPr id="67" name="TextBox 67"/>
            <p:cNvSpPr txBox="1"/>
            <p:nvPr/>
          </p:nvSpPr>
          <p:spPr>
            <a:xfrm>
              <a:off x="0" y="0"/>
              <a:ext cx="384048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Alpha</a:t>
              </a:r>
            </a:p>
          </p:txBody>
        </p:sp>
      </p:grpSp>
      <p:grpSp>
        <p:nvGrpSpPr>
          <p:cNvPr id="68" name="Group 68"/>
          <p:cNvGrpSpPr/>
          <p:nvPr/>
        </p:nvGrpSpPr>
        <p:grpSpPr>
          <a:xfrm>
            <a:off x="3713797" y="8062585"/>
            <a:ext cx="5505450" cy="555775"/>
            <a:chOff x="0" y="0"/>
            <a:chExt cx="7340600" cy="741034"/>
          </a:xfrm>
        </p:grpSpPr>
        <p:sp>
          <p:nvSpPr>
            <p:cNvPr id="69" name="Freeform 69"/>
            <p:cNvSpPr/>
            <p:nvPr/>
          </p:nvSpPr>
          <p:spPr>
            <a:xfrm>
              <a:off x="0" y="0"/>
              <a:ext cx="7340600" cy="741033"/>
            </a:xfrm>
            <a:custGeom>
              <a:avLst/>
              <a:gdLst/>
              <a:ahLst/>
              <a:cxnLst/>
              <a:rect l="l" t="t" r="r" b="b"/>
              <a:pathLst>
                <a:path w="7340600" h="741033">
                  <a:moveTo>
                    <a:pt x="0" y="0"/>
                  </a:moveTo>
                  <a:lnTo>
                    <a:pt x="7340600" y="0"/>
                  </a:lnTo>
                  <a:lnTo>
                    <a:pt x="7340600" y="741033"/>
                  </a:lnTo>
                  <a:lnTo>
                    <a:pt x="0" y="741033"/>
                  </a:lnTo>
                  <a:close/>
                </a:path>
              </a:pathLst>
            </a:custGeom>
            <a:solidFill>
              <a:srgbClr val="EBF4FF"/>
            </a:solidFill>
            <a:ln w="19050" cap="sq">
              <a:solidFill>
                <a:srgbClr val="CBD5E0"/>
              </a:solidFill>
              <a:prstDash val="solid"/>
              <a:miter/>
            </a:ln>
          </p:spPr>
        </p:sp>
      </p:grpSp>
      <p:grpSp>
        <p:nvGrpSpPr>
          <p:cNvPr id="70" name="Group 70"/>
          <p:cNvGrpSpPr/>
          <p:nvPr/>
        </p:nvGrpSpPr>
        <p:grpSpPr>
          <a:xfrm>
            <a:off x="3860483" y="8070561"/>
            <a:ext cx="5349240" cy="539823"/>
            <a:chOff x="0" y="0"/>
            <a:chExt cx="7132320" cy="719764"/>
          </a:xfrm>
        </p:grpSpPr>
        <p:sp>
          <p:nvSpPr>
            <p:cNvPr id="71" name="Freeform 71"/>
            <p:cNvSpPr/>
            <p:nvPr/>
          </p:nvSpPr>
          <p:spPr>
            <a:xfrm>
              <a:off x="0" y="0"/>
              <a:ext cx="7132320" cy="719764"/>
            </a:xfrm>
            <a:custGeom>
              <a:avLst/>
              <a:gdLst/>
              <a:ahLst/>
              <a:cxnLst/>
              <a:rect l="l" t="t" r="r" b="b"/>
              <a:pathLst>
                <a:path w="7132320" h="719764">
                  <a:moveTo>
                    <a:pt x="0" y="0"/>
                  </a:moveTo>
                  <a:lnTo>
                    <a:pt x="7132320" y="0"/>
                  </a:lnTo>
                  <a:lnTo>
                    <a:pt x="7132320" y="719764"/>
                  </a:lnTo>
                  <a:lnTo>
                    <a:pt x="0" y="719764"/>
                  </a:lnTo>
                  <a:close/>
                </a:path>
              </a:pathLst>
            </a:custGeom>
            <a:blipFill>
              <a:blip r:embed="rId3">
                <a:alphaModFix amt="0"/>
              </a:blip>
              <a:stretch>
                <a:fillRect t="-133372" b="-152791"/>
              </a:stretch>
            </a:blipFill>
          </p:spPr>
        </p:sp>
        <p:sp>
          <p:nvSpPr>
            <p:cNvPr id="72" name="TextBox 72"/>
            <p:cNvSpPr txBox="1"/>
            <p:nvPr/>
          </p:nvSpPr>
          <p:spPr>
            <a:xfrm>
              <a:off x="0" y="0"/>
              <a:ext cx="713232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OLS intercept × 252</a:t>
              </a:r>
            </a:p>
          </p:txBody>
        </p:sp>
      </p:grpSp>
      <p:grpSp>
        <p:nvGrpSpPr>
          <p:cNvPr id="73" name="Group 73"/>
          <p:cNvGrpSpPr/>
          <p:nvPr/>
        </p:nvGrpSpPr>
        <p:grpSpPr>
          <a:xfrm>
            <a:off x="9200198" y="8062585"/>
            <a:ext cx="8385810" cy="555775"/>
            <a:chOff x="0" y="0"/>
            <a:chExt cx="11181080" cy="741034"/>
          </a:xfrm>
        </p:grpSpPr>
        <p:sp>
          <p:nvSpPr>
            <p:cNvPr id="74" name="Freeform 74"/>
            <p:cNvSpPr/>
            <p:nvPr/>
          </p:nvSpPr>
          <p:spPr>
            <a:xfrm>
              <a:off x="0" y="0"/>
              <a:ext cx="11181080" cy="741033"/>
            </a:xfrm>
            <a:custGeom>
              <a:avLst/>
              <a:gdLst/>
              <a:ahLst/>
              <a:cxnLst/>
              <a:rect l="l" t="t" r="r" b="b"/>
              <a:pathLst>
                <a:path w="11181080" h="741033">
                  <a:moveTo>
                    <a:pt x="0" y="0"/>
                  </a:moveTo>
                  <a:lnTo>
                    <a:pt x="11181080" y="0"/>
                  </a:lnTo>
                  <a:lnTo>
                    <a:pt x="11181080" y="741033"/>
                  </a:lnTo>
                  <a:lnTo>
                    <a:pt x="0" y="741033"/>
                  </a:lnTo>
                  <a:close/>
                </a:path>
              </a:pathLst>
            </a:custGeom>
            <a:solidFill>
              <a:srgbClr val="EBF4FF"/>
            </a:solidFill>
            <a:ln w="19050" cap="sq">
              <a:solidFill>
                <a:srgbClr val="CBD5E0"/>
              </a:solidFill>
              <a:prstDash val="solid"/>
              <a:miter/>
            </a:ln>
          </p:spPr>
        </p:sp>
      </p:grpSp>
      <p:grpSp>
        <p:nvGrpSpPr>
          <p:cNvPr id="75" name="Group 75"/>
          <p:cNvGrpSpPr/>
          <p:nvPr/>
        </p:nvGrpSpPr>
        <p:grpSpPr>
          <a:xfrm>
            <a:off x="9346882" y="8070561"/>
            <a:ext cx="8229600" cy="539823"/>
            <a:chOff x="0" y="0"/>
            <a:chExt cx="10972800" cy="719764"/>
          </a:xfrm>
        </p:grpSpPr>
        <p:sp>
          <p:nvSpPr>
            <p:cNvPr id="76" name="Freeform 76"/>
            <p:cNvSpPr/>
            <p:nvPr/>
          </p:nvSpPr>
          <p:spPr>
            <a:xfrm>
              <a:off x="0" y="0"/>
              <a:ext cx="10972800" cy="719764"/>
            </a:xfrm>
            <a:custGeom>
              <a:avLst/>
              <a:gdLst/>
              <a:ahLst/>
              <a:cxnLst/>
              <a:rect l="l" t="t" r="r" b="b"/>
              <a:pathLst>
                <a:path w="10972800" h="719764">
                  <a:moveTo>
                    <a:pt x="0" y="0"/>
                  </a:moveTo>
                  <a:lnTo>
                    <a:pt x="10972800" y="0"/>
                  </a:lnTo>
                  <a:lnTo>
                    <a:pt x="10972800" y="719764"/>
                  </a:lnTo>
                  <a:lnTo>
                    <a:pt x="0" y="719764"/>
                  </a:lnTo>
                  <a:close/>
                </a:path>
              </a:pathLst>
            </a:custGeom>
            <a:blipFill>
              <a:blip r:embed="rId3">
                <a:alphaModFix amt="0"/>
              </a:blip>
              <a:stretch>
                <a:fillRect t="-237339" b="-256758"/>
              </a:stretch>
            </a:blipFill>
          </p:spPr>
        </p:sp>
        <p:sp>
          <p:nvSpPr>
            <p:cNvPr id="77" name="TextBox 77"/>
            <p:cNvSpPr txBox="1"/>
            <p:nvPr/>
          </p:nvSpPr>
          <p:spPr>
            <a:xfrm>
              <a:off x="0" y="0"/>
              <a:ext cx="1097280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Best: +20% annualised</a:t>
              </a:r>
            </a:p>
          </p:txBody>
        </p:sp>
      </p:grpSp>
      <p:grpSp>
        <p:nvGrpSpPr>
          <p:cNvPr id="78" name="Group 78"/>
          <p:cNvGrpSpPr/>
          <p:nvPr/>
        </p:nvGrpSpPr>
        <p:grpSpPr>
          <a:xfrm>
            <a:off x="696278" y="8602408"/>
            <a:ext cx="3036570" cy="555775"/>
            <a:chOff x="0" y="0"/>
            <a:chExt cx="4048760" cy="741034"/>
          </a:xfrm>
        </p:grpSpPr>
        <p:sp>
          <p:nvSpPr>
            <p:cNvPr id="79" name="Freeform 79"/>
            <p:cNvSpPr/>
            <p:nvPr/>
          </p:nvSpPr>
          <p:spPr>
            <a:xfrm>
              <a:off x="0" y="0"/>
              <a:ext cx="4048760" cy="741033"/>
            </a:xfrm>
            <a:custGeom>
              <a:avLst/>
              <a:gdLst/>
              <a:ahLst/>
              <a:cxnLst/>
              <a:rect l="l" t="t" r="r" b="b"/>
              <a:pathLst>
                <a:path w="4048760" h="741033">
                  <a:moveTo>
                    <a:pt x="0" y="0"/>
                  </a:moveTo>
                  <a:lnTo>
                    <a:pt x="4048760" y="0"/>
                  </a:lnTo>
                  <a:lnTo>
                    <a:pt x="4048760" y="741033"/>
                  </a:lnTo>
                  <a:lnTo>
                    <a:pt x="0" y="741033"/>
                  </a:lnTo>
                  <a:close/>
                </a:path>
              </a:pathLst>
            </a:custGeom>
            <a:solidFill>
              <a:srgbClr val="FFFFFF"/>
            </a:solidFill>
            <a:ln w="19050" cap="sq">
              <a:solidFill>
                <a:srgbClr val="CBD5E0"/>
              </a:solidFill>
              <a:prstDash val="solid"/>
              <a:miter/>
            </a:ln>
          </p:spPr>
        </p:sp>
      </p:grpSp>
      <p:grpSp>
        <p:nvGrpSpPr>
          <p:cNvPr id="80" name="Group 80"/>
          <p:cNvGrpSpPr/>
          <p:nvPr/>
        </p:nvGrpSpPr>
        <p:grpSpPr>
          <a:xfrm>
            <a:off x="842962" y="8610384"/>
            <a:ext cx="2880360" cy="539823"/>
            <a:chOff x="0" y="0"/>
            <a:chExt cx="3840480" cy="719764"/>
          </a:xfrm>
        </p:grpSpPr>
        <p:sp>
          <p:nvSpPr>
            <p:cNvPr id="81" name="Freeform 81"/>
            <p:cNvSpPr/>
            <p:nvPr/>
          </p:nvSpPr>
          <p:spPr>
            <a:xfrm>
              <a:off x="0" y="0"/>
              <a:ext cx="3840480" cy="719764"/>
            </a:xfrm>
            <a:custGeom>
              <a:avLst/>
              <a:gdLst/>
              <a:ahLst/>
              <a:cxnLst/>
              <a:rect l="l" t="t" r="r" b="b"/>
              <a:pathLst>
                <a:path w="3840480" h="719764">
                  <a:moveTo>
                    <a:pt x="0" y="0"/>
                  </a:moveTo>
                  <a:lnTo>
                    <a:pt x="3840480" y="0"/>
                  </a:lnTo>
                  <a:lnTo>
                    <a:pt x="3840480" y="719764"/>
                  </a:lnTo>
                  <a:lnTo>
                    <a:pt x="0" y="719764"/>
                  </a:lnTo>
                  <a:close/>
                </a:path>
              </a:pathLst>
            </a:custGeom>
            <a:blipFill>
              <a:blip r:embed="rId3">
                <a:alphaModFix amt="0"/>
              </a:blip>
              <a:stretch>
                <a:fillRect t="-44257" b="-63676"/>
              </a:stretch>
            </a:blipFill>
          </p:spPr>
        </p:sp>
        <p:sp>
          <p:nvSpPr>
            <p:cNvPr id="82" name="TextBox 82"/>
            <p:cNvSpPr txBox="1"/>
            <p:nvPr/>
          </p:nvSpPr>
          <p:spPr>
            <a:xfrm>
              <a:off x="0" y="0"/>
              <a:ext cx="384048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VaR 95%</a:t>
              </a:r>
            </a:p>
          </p:txBody>
        </p:sp>
      </p:grpSp>
      <p:grpSp>
        <p:nvGrpSpPr>
          <p:cNvPr id="83" name="Group 83"/>
          <p:cNvGrpSpPr/>
          <p:nvPr/>
        </p:nvGrpSpPr>
        <p:grpSpPr>
          <a:xfrm>
            <a:off x="3713797" y="8602408"/>
            <a:ext cx="5505450" cy="555775"/>
            <a:chOff x="0" y="0"/>
            <a:chExt cx="7340600" cy="741034"/>
          </a:xfrm>
        </p:grpSpPr>
        <p:sp>
          <p:nvSpPr>
            <p:cNvPr id="84" name="Freeform 84"/>
            <p:cNvSpPr/>
            <p:nvPr/>
          </p:nvSpPr>
          <p:spPr>
            <a:xfrm>
              <a:off x="0" y="0"/>
              <a:ext cx="7340600" cy="741033"/>
            </a:xfrm>
            <a:custGeom>
              <a:avLst/>
              <a:gdLst/>
              <a:ahLst/>
              <a:cxnLst/>
              <a:rect l="l" t="t" r="r" b="b"/>
              <a:pathLst>
                <a:path w="7340600" h="741033">
                  <a:moveTo>
                    <a:pt x="0" y="0"/>
                  </a:moveTo>
                  <a:lnTo>
                    <a:pt x="7340600" y="0"/>
                  </a:lnTo>
                  <a:lnTo>
                    <a:pt x="7340600" y="741033"/>
                  </a:lnTo>
                  <a:lnTo>
                    <a:pt x="0" y="741033"/>
                  </a:lnTo>
                  <a:close/>
                </a:path>
              </a:pathLst>
            </a:custGeom>
            <a:solidFill>
              <a:srgbClr val="FFFFFF"/>
            </a:solidFill>
            <a:ln w="19050" cap="sq">
              <a:solidFill>
                <a:srgbClr val="CBD5E0"/>
              </a:solidFill>
              <a:prstDash val="solid"/>
              <a:miter/>
            </a:ln>
          </p:spPr>
        </p:sp>
      </p:grpSp>
      <p:grpSp>
        <p:nvGrpSpPr>
          <p:cNvPr id="85" name="Group 85"/>
          <p:cNvGrpSpPr/>
          <p:nvPr/>
        </p:nvGrpSpPr>
        <p:grpSpPr>
          <a:xfrm>
            <a:off x="3860483" y="8610384"/>
            <a:ext cx="5349240" cy="539823"/>
            <a:chOff x="0" y="0"/>
            <a:chExt cx="7132320" cy="719764"/>
          </a:xfrm>
        </p:grpSpPr>
        <p:sp>
          <p:nvSpPr>
            <p:cNvPr id="86" name="Freeform 86"/>
            <p:cNvSpPr/>
            <p:nvPr/>
          </p:nvSpPr>
          <p:spPr>
            <a:xfrm>
              <a:off x="0" y="0"/>
              <a:ext cx="7132320" cy="719764"/>
            </a:xfrm>
            <a:custGeom>
              <a:avLst/>
              <a:gdLst/>
              <a:ahLst/>
              <a:cxnLst/>
              <a:rect l="l" t="t" r="r" b="b"/>
              <a:pathLst>
                <a:path w="7132320" h="719764">
                  <a:moveTo>
                    <a:pt x="0" y="0"/>
                  </a:moveTo>
                  <a:lnTo>
                    <a:pt x="7132320" y="0"/>
                  </a:lnTo>
                  <a:lnTo>
                    <a:pt x="7132320" y="719764"/>
                  </a:lnTo>
                  <a:lnTo>
                    <a:pt x="0" y="719764"/>
                  </a:lnTo>
                  <a:close/>
                </a:path>
              </a:pathLst>
            </a:custGeom>
            <a:blipFill>
              <a:blip r:embed="rId3">
                <a:alphaModFix amt="0"/>
              </a:blip>
              <a:stretch>
                <a:fillRect t="-133372" b="-152791"/>
              </a:stretch>
            </a:blipFill>
          </p:spPr>
        </p:sp>
        <p:sp>
          <p:nvSpPr>
            <p:cNvPr id="87" name="TextBox 87"/>
            <p:cNvSpPr txBox="1"/>
            <p:nvPr/>
          </p:nvSpPr>
          <p:spPr>
            <a:xfrm>
              <a:off x="0" y="0"/>
              <a:ext cx="713232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5th pct of daily returns</a:t>
              </a:r>
            </a:p>
          </p:txBody>
        </p:sp>
      </p:grpSp>
      <p:grpSp>
        <p:nvGrpSpPr>
          <p:cNvPr id="88" name="Group 88"/>
          <p:cNvGrpSpPr/>
          <p:nvPr/>
        </p:nvGrpSpPr>
        <p:grpSpPr>
          <a:xfrm>
            <a:off x="9200198" y="8602408"/>
            <a:ext cx="8385810" cy="555775"/>
            <a:chOff x="0" y="0"/>
            <a:chExt cx="11181080" cy="741034"/>
          </a:xfrm>
        </p:grpSpPr>
        <p:sp>
          <p:nvSpPr>
            <p:cNvPr id="89" name="Freeform 89"/>
            <p:cNvSpPr/>
            <p:nvPr/>
          </p:nvSpPr>
          <p:spPr>
            <a:xfrm>
              <a:off x="0" y="0"/>
              <a:ext cx="11181080" cy="741033"/>
            </a:xfrm>
            <a:custGeom>
              <a:avLst/>
              <a:gdLst/>
              <a:ahLst/>
              <a:cxnLst/>
              <a:rect l="l" t="t" r="r" b="b"/>
              <a:pathLst>
                <a:path w="11181080" h="741033">
                  <a:moveTo>
                    <a:pt x="0" y="0"/>
                  </a:moveTo>
                  <a:lnTo>
                    <a:pt x="11181080" y="0"/>
                  </a:lnTo>
                  <a:lnTo>
                    <a:pt x="11181080" y="741033"/>
                  </a:lnTo>
                  <a:lnTo>
                    <a:pt x="0" y="741033"/>
                  </a:lnTo>
                  <a:close/>
                </a:path>
              </a:pathLst>
            </a:custGeom>
            <a:solidFill>
              <a:srgbClr val="FFFFFF"/>
            </a:solidFill>
            <a:ln w="19050" cap="sq">
              <a:solidFill>
                <a:srgbClr val="CBD5E0"/>
              </a:solidFill>
              <a:prstDash val="solid"/>
              <a:miter/>
            </a:ln>
          </p:spPr>
        </p:sp>
      </p:grpSp>
      <p:grpSp>
        <p:nvGrpSpPr>
          <p:cNvPr id="90" name="Group 90"/>
          <p:cNvGrpSpPr/>
          <p:nvPr/>
        </p:nvGrpSpPr>
        <p:grpSpPr>
          <a:xfrm>
            <a:off x="9346883" y="8610384"/>
            <a:ext cx="8229600" cy="539823"/>
            <a:chOff x="0" y="0"/>
            <a:chExt cx="10972800" cy="719764"/>
          </a:xfrm>
        </p:grpSpPr>
        <p:sp>
          <p:nvSpPr>
            <p:cNvPr id="91" name="Freeform 91"/>
            <p:cNvSpPr/>
            <p:nvPr/>
          </p:nvSpPr>
          <p:spPr>
            <a:xfrm>
              <a:off x="0" y="0"/>
              <a:ext cx="10972800" cy="719764"/>
            </a:xfrm>
            <a:custGeom>
              <a:avLst/>
              <a:gdLst/>
              <a:ahLst/>
              <a:cxnLst/>
              <a:rect l="l" t="t" r="r" b="b"/>
              <a:pathLst>
                <a:path w="10972800" h="719764">
                  <a:moveTo>
                    <a:pt x="0" y="0"/>
                  </a:moveTo>
                  <a:lnTo>
                    <a:pt x="10972800" y="0"/>
                  </a:lnTo>
                  <a:lnTo>
                    <a:pt x="10972800" y="719764"/>
                  </a:lnTo>
                  <a:lnTo>
                    <a:pt x="0" y="719764"/>
                  </a:lnTo>
                  <a:close/>
                </a:path>
              </a:pathLst>
            </a:custGeom>
            <a:blipFill>
              <a:blip r:embed="rId3">
                <a:alphaModFix amt="0"/>
              </a:blip>
              <a:stretch>
                <a:fillRect t="-237339" b="-256758"/>
              </a:stretch>
            </a:blipFill>
          </p:spPr>
        </p:sp>
        <p:sp>
          <p:nvSpPr>
            <p:cNvPr id="92" name="TextBox 92"/>
            <p:cNvSpPr txBox="1"/>
            <p:nvPr/>
          </p:nvSpPr>
          <p:spPr>
            <a:xfrm>
              <a:off x="0" y="0"/>
              <a:ext cx="1097280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Range: −1.9% to −1.7%</a:t>
              </a:r>
            </a:p>
          </p:txBody>
        </p:sp>
      </p:grpSp>
      <p:grpSp>
        <p:nvGrpSpPr>
          <p:cNvPr id="93" name="Group 93"/>
          <p:cNvGrpSpPr/>
          <p:nvPr/>
        </p:nvGrpSpPr>
        <p:grpSpPr>
          <a:xfrm>
            <a:off x="696278" y="9142231"/>
            <a:ext cx="3036570" cy="555775"/>
            <a:chOff x="0" y="0"/>
            <a:chExt cx="4048760" cy="741034"/>
          </a:xfrm>
        </p:grpSpPr>
        <p:sp>
          <p:nvSpPr>
            <p:cNvPr id="94" name="Freeform 94"/>
            <p:cNvSpPr/>
            <p:nvPr/>
          </p:nvSpPr>
          <p:spPr>
            <a:xfrm>
              <a:off x="0" y="0"/>
              <a:ext cx="4048760" cy="741033"/>
            </a:xfrm>
            <a:custGeom>
              <a:avLst/>
              <a:gdLst/>
              <a:ahLst/>
              <a:cxnLst/>
              <a:rect l="l" t="t" r="r" b="b"/>
              <a:pathLst>
                <a:path w="4048760" h="741033">
                  <a:moveTo>
                    <a:pt x="0" y="0"/>
                  </a:moveTo>
                  <a:lnTo>
                    <a:pt x="4048760" y="0"/>
                  </a:lnTo>
                  <a:lnTo>
                    <a:pt x="4048760" y="741033"/>
                  </a:lnTo>
                  <a:lnTo>
                    <a:pt x="0" y="741033"/>
                  </a:lnTo>
                  <a:close/>
                </a:path>
              </a:pathLst>
            </a:custGeom>
            <a:solidFill>
              <a:srgbClr val="EBF4FF"/>
            </a:solidFill>
            <a:ln w="19050" cap="sq">
              <a:solidFill>
                <a:srgbClr val="CBD5E0"/>
              </a:solidFill>
              <a:prstDash val="solid"/>
              <a:miter/>
            </a:ln>
          </p:spPr>
        </p:sp>
      </p:grpSp>
      <p:grpSp>
        <p:nvGrpSpPr>
          <p:cNvPr id="95" name="Group 95"/>
          <p:cNvGrpSpPr/>
          <p:nvPr/>
        </p:nvGrpSpPr>
        <p:grpSpPr>
          <a:xfrm>
            <a:off x="842962" y="9150207"/>
            <a:ext cx="2880360" cy="539823"/>
            <a:chOff x="0" y="0"/>
            <a:chExt cx="3840480" cy="719764"/>
          </a:xfrm>
        </p:grpSpPr>
        <p:sp>
          <p:nvSpPr>
            <p:cNvPr id="96" name="Freeform 96"/>
            <p:cNvSpPr/>
            <p:nvPr/>
          </p:nvSpPr>
          <p:spPr>
            <a:xfrm>
              <a:off x="0" y="0"/>
              <a:ext cx="3840480" cy="719764"/>
            </a:xfrm>
            <a:custGeom>
              <a:avLst/>
              <a:gdLst/>
              <a:ahLst/>
              <a:cxnLst/>
              <a:rect l="l" t="t" r="r" b="b"/>
              <a:pathLst>
                <a:path w="3840480" h="719764">
                  <a:moveTo>
                    <a:pt x="0" y="0"/>
                  </a:moveTo>
                  <a:lnTo>
                    <a:pt x="3840480" y="0"/>
                  </a:lnTo>
                  <a:lnTo>
                    <a:pt x="3840480" y="719764"/>
                  </a:lnTo>
                  <a:lnTo>
                    <a:pt x="0" y="719764"/>
                  </a:lnTo>
                  <a:close/>
                </a:path>
              </a:pathLst>
            </a:custGeom>
            <a:blipFill>
              <a:blip r:embed="rId3">
                <a:alphaModFix amt="0"/>
              </a:blip>
              <a:stretch>
                <a:fillRect t="-44257" b="-63676"/>
              </a:stretch>
            </a:blipFill>
          </p:spPr>
        </p:sp>
        <p:sp>
          <p:nvSpPr>
            <p:cNvPr id="97" name="TextBox 97"/>
            <p:cNvSpPr txBox="1"/>
            <p:nvPr/>
          </p:nvSpPr>
          <p:spPr>
            <a:xfrm>
              <a:off x="0" y="0"/>
              <a:ext cx="384048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Max DD</a:t>
              </a:r>
            </a:p>
          </p:txBody>
        </p:sp>
      </p:grpSp>
      <p:grpSp>
        <p:nvGrpSpPr>
          <p:cNvPr id="98" name="Group 98"/>
          <p:cNvGrpSpPr/>
          <p:nvPr/>
        </p:nvGrpSpPr>
        <p:grpSpPr>
          <a:xfrm>
            <a:off x="3713797" y="9142231"/>
            <a:ext cx="5505450" cy="555775"/>
            <a:chOff x="0" y="0"/>
            <a:chExt cx="7340600" cy="741034"/>
          </a:xfrm>
        </p:grpSpPr>
        <p:sp>
          <p:nvSpPr>
            <p:cNvPr id="99" name="Freeform 99"/>
            <p:cNvSpPr/>
            <p:nvPr/>
          </p:nvSpPr>
          <p:spPr>
            <a:xfrm>
              <a:off x="0" y="0"/>
              <a:ext cx="7340600" cy="741033"/>
            </a:xfrm>
            <a:custGeom>
              <a:avLst/>
              <a:gdLst/>
              <a:ahLst/>
              <a:cxnLst/>
              <a:rect l="l" t="t" r="r" b="b"/>
              <a:pathLst>
                <a:path w="7340600" h="741033">
                  <a:moveTo>
                    <a:pt x="0" y="0"/>
                  </a:moveTo>
                  <a:lnTo>
                    <a:pt x="7340600" y="0"/>
                  </a:lnTo>
                  <a:lnTo>
                    <a:pt x="7340600" y="741033"/>
                  </a:lnTo>
                  <a:lnTo>
                    <a:pt x="0" y="741033"/>
                  </a:lnTo>
                  <a:close/>
                </a:path>
              </a:pathLst>
            </a:custGeom>
            <a:solidFill>
              <a:srgbClr val="EBF4FF"/>
            </a:solidFill>
            <a:ln w="19050" cap="sq">
              <a:solidFill>
                <a:srgbClr val="CBD5E0"/>
              </a:solidFill>
              <a:prstDash val="solid"/>
              <a:miter/>
            </a:ln>
          </p:spPr>
        </p:sp>
      </p:grpSp>
      <p:grpSp>
        <p:nvGrpSpPr>
          <p:cNvPr id="100" name="Group 100"/>
          <p:cNvGrpSpPr/>
          <p:nvPr/>
        </p:nvGrpSpPr>
        <p:grpSpPr>
          <a:xfrm>
            <a:off x="3860483" y="9150207"/>
            <a:ext cx="5349240" cy="539823"/>
            <a:chOff x="0" y="0"/>
            <a:chExt cx="7132320" cy="719764"/>
          </a:xfrm>
        </p:grpSpPr>
        <p:sp>
          <p:nvSpPr>
            <p:cNvPr id="101" name="Freeform 101"/>
            <p:cNvSpPr/>
            <p:nvPr/>
          </p:nvSpPr>
          <p:spPr>
            <a:xfrm>
              <a:off x="0" y="0"/>
              <a:ext cx="7132320" cy="719764"/>
            </a:xfrm>
            <a:custGeom>
              <a:avLst/>
              <a:gdLst/>
              <a:ahLst/>
              <a:cxnLst/>
              <a:rect l="l" t="t" r="r" b="b"/>
              <a:pathLst>
                <a:path w="7132320" h="719764">
                  <a:moveTo>
                    <a:pt x="0" y="0"/>
                  </a:moveTo>
                  <a:lnTo>
                    <a:pt x="7132320" y="0"/>
                  </a:lnTo>
                  <a:lnTo>
                    <a:pt x="7132320" y="719764"/>
                  </a:lnTo>
                  <a:lnTo>
                    <a:pt x="0" y="719764"/>
                  </a:lnTo>
                  <a:close/>
                </a:path>
              </a:pathLst>
            </a:custGeom>
            <a:blipFill>
              <a:blip r:embed="rId3">
                <a:alphaModFix amt="0"/>
              </a:blip>
              <a:stretch>
                <a:fillRect t="-133372" b="-152791"/>
              </a:stretch>
            </a:blipFill>
          </p:spPr>
        </p:sp>
        <p:sp>
          <p:nvSpPr>
            <p:cNvPr id="102" name="TextBox 102"/>
            <p:cNvSpPr txBox="1"/>
            <p:nvPr/>
          </p:nvSpPr>
          <p:spPr>
            <a:xfrm>
              <a:off x="0" y="0"/>
              <a:ext cx="713232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min(NAV/cummax−1)</a:t>
              </a:r>
            </a:p>
          </p:txBody>
        </p:sp>
      </p:grpSp>
      <p:grpSp>
        <p:nvGrpSpPr>
          <p:cNvPr id="103" name="Group 103"/>
          <p:cNvGrpSpPr/>
          <p:nvPr/>
        </p:nvGrpSpPr>
        <p:grpSpPr>
          <a:xfrm>
            <a:off x="9200198" y="9142231"/>
            <a:ext cx="8385810" cy="555775"/>
            <a:chOff x="0" y="0"/>
            <a:chExt cx="11181080" cy="741034"/>
          </a:xfrm>
        </p:grpSpPr>
        <p:sp>
          <p:nvSpPr>
            <p:cNvPr id="104" name="Freeform 104"/>
            <p:cNvSpPr/>
            <p:nvPr/>
          </p:nvSpPr>
          <p:spPr>
            <a:xfrm>
              <a:off x="0" y="0"/>
              <a:ext cx="11181080" cy="741033"/>
            </a:xfrm>
            <a:custGeom>
              <a:avLst/>
              <a:gdLst/>
              <a:ahLst/>
              <a:cxnLst/>
              <a:rect l="l" t="t" r="r" b="b"/>
              <a:pathLst>
                <a:path w="11181080" h="741033">
                  <a:moveTo>
                    <a:pt x="0" y="0"/>
                  </a:moveTo>
                  <a:lnTo>
                    <a:pt x="11181080" y="0"/>
                  </a:lnTo>
                  <a:lnTo>
                    <a:pt x="11181080" y="741033"/>
                  </a:lnTo>
                  <a:lnTo>
                    <a:pt x="0" y="741033"/>
                  </a:lnTo>
                  <a:close/>
                </a:path>
              </a:pathLst>
            </a:custGeom>
            <a:solidFill>
              <a:srgbClr val="EBF4FF"/>
            </a:solidFill>
            <a:ln w="19050" cap="sq">
              <a:solidFill>
                <a:srgbClr val="CBD5E0"/>
              </a:solidFill>
              <a:prstDash val="solid"/>
              <a:miter/>
            </a:ln>
          </p:spPr>
        </p:sp>
      </p:grpSp>
      <p:grpSp>
        <p:nvGrpSpPr>
          <p:cNvPr id="105" name="Group 105"/>
          <p:cNvGrpSpPr/>
          <p:nvPr/>
        </p:nvGrpSpPr>
        <p:grpSpPr>
          <a:xfrm>
            <a:off x="9346882" y="9150207"/>
            <a:ext cx="8229600" cy="539823"/>
            <a:chOff x="0" y="0"/>
            <a:chExt cx="10972800" cy="719764"/>
          </a:xfrm>
        </p:grpSpPr>
        <p:sp>
          <p:nvSpPr>
            <p:cNvPr id="106" name="Freeform 106"/>
            <p:cNvSpPr/>
            <p:nvPr/>
          </p:nvSpPr>
          <p:spPr>
            <a:xfrm>
              <a:off x="0" y="0"/>
              <a:ext cx="10972800" cy="719764"/>
            </a:xfrm>
            <a:custGeom>
              <a:avLst/>
              <a:gdLst/>
              <a:ahLst/>
              <a:cxnLst/>
              <a:rect l="l" t="t" r="r" b="b"/>
              <a:pathLst>
                <a:path w="10972800" h="719764">
                  <a:moveTo>
                    <a:pt x="0" y="0"/>
                  </a:moveTo>
                  <a:lnTo>
                    <a:pt x="10972800" y="0"/>
                  </a:lnTo>
                  <a:lnTo>
                    <a:pt x="10972800" y="719764"/>
                  </a:lnTo>
                  <a:lnTo>
                    <a:pt x="0" y="719764"/>
                  </a:lnTo>
                  <a:close/>
                </a:path>
              </a:pathLst>
            </a:custGeom>
            <a:blipFill>
              <a:blip r:embed="rId3">
                <a:alphaModFix amt="0"/>
              </a:blip>
              <a:stretch>
                <a:fillRect t="-237339" b="-256758"/>
              </a:stretch>
            </a:blipFill>
          </p:spPr>
        </p:sp>
        <p:sp>
          <p:nvSpPr>
            <p:cNvPr id="107" name="TextBox 107"/>
            <p:cNvSpPr txBox="1"/>
            <p:nvPr/>
          </p:nvSpPr>
          <p:spPr>
            <a:xfrm>
              <a:off x="0" y="0"/>
              <a:ext cx="10972800" cy="719764"/>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Worst: −45% (small-cap)</a:t>
              </a:r>
            </a:p>
          </p:txBody>
        </p:sp>
      </p:grpSp>
      <p:grpSp>
        <p:nvGrpSpPr>
          <p:cNvPr id="108" name="Group 108"/>
          <p:cNvGrpSpPr/>
          <p:nvPr/>
        </p:nvGrpSpPr>
        <p:grpSpPr>
          <a:xfrm>
            <a:off x="-9525" y="9893427"/>
            <a:ext cx="18302478" cy="403098"/>
            <a:chOff x="0" y="0"/>
            <a:chExt cx="24403304" cy="537464"/>
          </a:xfrm>
        </p:grpSpPr>
        <p:sp>
          <p:nvSpPr>
            <p:cNvPr id="109" name="Freeform 109"/>
            <p:cNvSpPr/>
            <p:nvPr/>
          </p:nvSpPr>
          <p:spPr>
            <a:xfrm>
              <a:off x="0" y="0"/>
              <a:ext cx="24403304" cy="537464"/>
            </a:xfrm>
            <a:custGeom>
              <a:avLst/>
              <a:gdLst/>
              <a:ahLst/>
              <a:cxnLst/>
              <a:rect l="l" t="t" r="r" b="b"/>
              <a:pathLst>
                <a:path w="24403304" h="537464">
                  <a:moveTo>
                    <a:pt x="0" y="0"/>
                  </a:moveTo>
                  <a:lnTo>
                    <a:pt x="24403304" y="0"/>
                  </a:lnTo>
                  <a:lnTo>
                    <a:pt x="24403304" y="537464"/>
                  </a:lnTo>
                  <a:lnTo>
                    <a:pt x="0" y="537464"/>
                  </a:lnTo>
                  <a:close/>
                </a:path>
              </a:pathLst>
            </a:custGeom>
            <a:solidFill>
              <a:srgbClr val="132338"/>
            </a:solidFill>
            <a:ln w="19050" cap="sq">
              <a:solidFill>
                <a:srgbClr val="0D1B2A"/>
              </a:solidFill>
              <a:prstDash val="solid"/>
              <a:miter/>
            </a:ln>
          </p:spPr>
        </p:sp>
      </p:grpSp>
      <p:grpSp>
        <p:nvGrpSpPr>
          <p:cNvPr id="110" name="Group 110"/>
          <p:cNvGrpSpPr/>
          <p:nvPr/>
        </p:nvGrpSpPr>
        <p:grpSpPr>
          <a:xfrm>
            <a:off x="16911828" y="9930384"/>
            <a:ext cx="1097280" cy="329184"/>
            <a:chOff x="0" y="0"/>
            <a:chExt cx="1463040" cy="438912"/>
          </a:xfrm>
        </p:grpSpPr>
        <p:sp>
          <p:nvSpPr>
            <p:cNvPr id="111" name="Freeform 111"/>
            <p:cNvSpPr/>
            <p:nvPr/>
          </p:nvSpPr>
          <p:spPr>
            <a:xfrm>
              <a:off x="0" y="0"/>
              <a:ext cx="1463040" cy="438912"/>
            </a:xfrm>
            <a:custGeom>
              <a:avLst/>
              <a:gdLst/>
              <a:ahLst/>
              <a:cxnLst/>
              <a:rect l="l" t="t" r="r" b="b"/>
              <a:pathLst>
                <a:path w="1463040" h="438912">
                  <a:moveTo>
                    <a:pt x="0" y="0"/>
                  </a:moveTo>
                  <a:lnTo>
                    <a:pt x="1463040" y="0"/>
                  </a:lnTo>
                  <a:lnTo>
                    <a:pt x="1463040" y="438912"/>
                  </a:lnTo>
                  <a:lnTo>
                    <a:pt x="0" y="438912"/>
                  </a:lnTo>
                  <a:close/>
                </a:path>
              </a:pathLst>
            </a:custGeom>
            <a:blipFill>
              <a:blip r:embed="rId3">
                <a:alphaModFix amt="0"/>
              </a:blip>
              <a:stretch>
                <a:fillRect t="-14950" b="-14950"/>
              </a:stretch>
            </a:blipFill>
          </p:spPr>
        </p:sp>
        <p:sp>
          <p:nvSpPr>
            <p:cNvPr id="112" name="TextBox 112"/>
            <p:cNvSpPr txBox="1"/>
            <p:nvPr/>
          </p:nvSpPr>
          <p:spPr>
            <a:xfrm>
              <a:off x="0" y="-9525"/>
              <a:ext cx="1463040" cy="448437"/>
            </a:xfrm>
            <a:prstGeom prst="rect">
              <a:avLst/>
            </a:prstGeom>
          </p:spPr>
          <p:txBody>
            <a:bodyPr lIns="0" tIns="0" rIns="0" bIns="0" rtlCol="0" anchor="ctr"/>
            <a:lstStyle/>
            <a:p>
              <a:pPr algn="r">
                <a:lnSpc>
                  <a:spcPts val="1439"/>
                </a:lnSpc>
              </a:pPr>
              <a:r>
                <a:rPr lang="en-US" sz="1200">
                  <a:solidFill>
                    <a:srgbClr val="DCEDFA"/>
                  </a:solidFill>
                  <a:latin typeface="DM Sans"/>
                  <a:ea typeface="DM Sans"/>
                  <a:cs typeface="DM Sans"/>
                  <a:sym typeface="DM Sans"/>
                </a:rPr>
                <a:t>8 / 12</a:t>
              </a:r>
            </a:p>
          </p:txBody>
        </p:sp>
      </p:grpSp>
      <p:grpSp>
        <p:nvGrpSpPr>
          <p:cNvPr id="113" name="Group 113"/>
          <p:cNvGrpSpPr/>
          <p:nvPr/>
        </p:nvGrpSpPr>
        <p:grpSpPr>
          <a:xfrm>
            <a:off x="411480" y="9930384"/>
            <a:ext cx="16363188" cy="329184"/>
            <a:chOff x="0" y="0"/>
            <a:chExt cx="21817584" cy="438912"/>
          </a:xfrm>
        </p:grpSpPr>
        <p:sp>
          <p:nvSpPr>
            <p:cNvPr id="114" name="Freeform 114"/>
            <p:cNvSpPr/>
            <p:nvPr/>
          </p:nvSpPr>
          <p:spPr>
            <a:xfrm>
              <a:off x="0" y="0"/>
              <a:ext cx="21817585" cy="438912"/>
            </a:xfrm>
            <a:custGeom>
              <a:avLst/>
              <a:gdLst/>
              <a:ahLst/>
              <a:cxnLst/>
              <a:rect l="l" t="t" r="r" b="b"/>
              <a:pathLst>
                <a:path w="21817585" h="438912">
                  <a:moveTo>
                    <a:pt x="0" y="0"/>
                  </a:moveTo>
                  <a:lnTo>
                    <a:pt x="21817585" y="0"/>
                  </a:lnTo>
                  <a:lnTo>
                    <a:pt x="21817585" y="438912"/>
                  </a:lnTo>
                  <a:lnTo>
                    <a:pt x="0" y="438912"/>
                  </a:lnTo>
                  <a:close/>
                </a:path>
              </a:pathLst>
            </a:custGeom>
            <a:blipFill>
              <a:blip r:embed="rId3">
                <a:alphaModFix amt="0"/>
              </a:blip>
              <a:stretch>
                <a:fillRect t="-918568" b="-918568"/>
              </a:stretch>
            </a:blipFill>
          </p:spPr>
        </p:sp>
        <p:sp>
          <p:nvSpPr>
            <p:cNvPr id="115" name="TextBox 115"/>
            <p:cNvSpPr txBox="1"/>
            <p:nvPr/>
          </p:nvSpPr>
          <p:spPr>
            <a:xfrm>
              <a:off x="0" y="-9525"/>
              <a:ext cx="21817584" cy="448437"/>
            </a:xfrm>
            <a:prstGeom prst="rect">
              <a:avLst/>
            </a:prstGeom>
          </p:spPr>
          <p:txBody>
            <a:bodyPr lIns="0" tIns="0" rIns="0" bIns="0" rtlCol="0" anchor="ctr"/>
            <a:lstStyle/>
            <a:p>
              <a:pPr algn="l">
                <a:lnSpc>
                  <a:spcPts val="1439"/>
                </a:lnSpc>
              </a:pPr>
              <a:r>
                <a:rPr lang="en-US" sz="1200">
                  <a:solidFill>
                    <a:srgbClr val="DCEDFA"/>
                  </a:solidFill>
                  <a:latin typeface="DM Sans"/>
                  <a:ea typeface="DM Sans"/>
                  <a:cs typeface="DM Sans"/>
                  <a:sym typeface="DM Sans"/>
                </a:rPr>
                <a:t>Bluestock Fintech  |  Capstone Project I - Mutual Fund Analytics</a:t>
              </a:r>
            </a:p>
          </p:txBody>
        </p:sp>
      </p:grpSp>
      <p:sp>
        <p:nvSpPr>
          <p:cNvPr id="116" name="Freeform 116"/>
          <p:cNvSpPr/>
          <p:nvPr/>
        </p:nvSpPr>
        <p:spPr>
          <a:xfrm>
            <a:off x="411480" y="1591369"/>
            <a:ext cx="6948548" cy="4421014"/>
          </a:xfrm>
          <a:custGeom>
            <a:avLst/>
            <a:gdLst/>
            <a:ahLst/>
            <a:cxnLst/>
            <a:rect l="l" t="t" r="r" b="b"/>
            <a:pathLst>
              <a:path w="6948548" h="4421014">
                <a:moveTo>
                  <a:pt x="0" y="0"/>
                </a:moveTo>
                <a:lnTo>
                  <a:pt x="6948548" y="0"/>
                </a:lnTo>
                <a:lnTo>
                  <a:pt x="6948548" y="4421014"/>
                </a:lnTo>
                <a:lnTo>
                  <a:pt x="0" y="4421014"/>
                </a:lnTo>
                <a:lnTo>
                  <a:pt x="0" y="0"/>
                </a:lnTo>
                <a:close/>
              </a:path>
            </a:pathLst>
          </a:custGeom>
          <a:blipFill>
            <a:blip r:embed="rId4"/>
            <a:stretch>
              <a:fillRect/>
            </a:stretch>
          </a:blipFill>
        </p:spPr>
      </p:sp>
      <p:sp>
        <p:nvSpPr>
          <p:cNvPr id="117" name="Freeform 117"/>
          <p:cNvSpPr/>
          <p:nvPr/>
        </p:nvSpPr>
        <p:spPr>
          <a:xfrm>
            <a:off x="8915400" y="1573149"/>
            <a:ext cx="7951177" cy="4303575"/>
          </a:xfrm>
          <a:custGeom>
            <a:avLst/>
            <a:gdLst/>
            <a:ahLst/>
            <a:cxnLst/>
            <a:rect l="l" t="t" r="r" b="b"/>
            <a:pathLst>
              <a:path w="7951177" h="4303575">
                <a:moveTo>
                  <a:pt x="0" y="0"/>
                </a:moveTo>
                <a:lnTo>
                  <a:pt x="7951177" y="0"/>
                </a:lnTo>
                <a:lnTo>
                  <a:pt x="7951177" y="4303575"/>
                </a:lnTo>
                <a:lnTo>
                  <a:pt x="0" y="4303575"/>
                </a:lnTo>
                <a:lnTo>
                  <a:pt x="0" y="0"/>
                </a:lnTo>
                <a:close/>
              </a:path>
            </a:pathLst>
          </a:custGeom>
          <a:blipFill>
            <a:blip r:embed="rId5"/>
            <a:stretch>
              <a:fillRect/>
            </a:stretch>
          </a:blipFill>
        </p:spPr>
      </p:sp>
      <p:sp>
        <p:nvSpPr>
          <p:cNvPr id="118" name="TextBox 118"/>
          <p:cNvSpPr txBox="1"/>
          <p:nvPr/>
        </p:nvSpPr>
        <p:spPr>
          <a:xfrm>
            <a:off x="2366309" y="5981499"/>
            <a:ext cx="3038889" cy="20955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9: Alpha vs Beta scatter.</a:t>
            </a:r>
          </a:p>
        </p:txBody>
      </p:sp>
      <p:sp>
        <p:nvSpPr>
          <p:cNvPr id="119" name="TextBox 119"/>
          <p:cNvSpPr txBox="1"/>
          <p:nvPr/>
        </p:nvSpPr>
        <p:spPr>
          <a:xfrm>
            <a:off x="10011611" y="5876724"/>
            <a:ext cx="5758755" cy="20955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10: Top 5 funds vs Nifty 50 and Nifty 100 (3-year, base=100).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527810"/>
            <a:chOff x="0" y="0"/>
            <a:chExt cx="24403304" cy="2037080"/>
          </a:xfrm>
        </p:grpSpPr>
        <p:sp>
          <p:nvSpPr>
            <p:cNvPr id="3" name="Freeform 3"/>
            <p:cNvSpPr/>
            <p:nvPr/>
          </p:nvSpPr>
          <p:spPr>
            <a:xfrm>
              <a:off x="0" y="0"/>
              <a:ext cx="24403304" cy="2037080"/>
            </a:xfrm>
            <a:custGeom>
              <a:avLst/>
              <a:gdLst/>
              <a:ahLst/>
              <a:cxnLst/>
              <a:rect l="l" t="t" r="r" b="b"/>
              <a:pathLst>
                <a:path w="24403304" h="2037080">
                  <a:moveTo>
                    <a:pt x="0" y="0"/>
                  </a:moveTo>
                  <a:lnTo>
                    <a:pt x="24403304" y="0"/>
                  </a:lnTo>
                  <a:lnTo>
                    <a:pt x="24403304" y="2037080"/>
                  </a:lnTo>
                  <a:lnTo>
                    <a:pt x="0" y="2037080"/>
                  </a:lnTo>
                  <a:close/>
                </a:path>
              </a:pathLst>
            </a:custGeom>
            <a:solidFill>
              <a:srgbClr val="132338"/>
            </a:solidFill>
            <a:ln w="19050" cap="sq">
              <a:solidFill>
                <a:srgbClr val="0D1B2A"/>
              </a:solidFill>
              <a:prstDash val="solid"/>
              <a:miter/>
            </a:ln>
          </p:spPr>
        </p:sp>
      </p:grpSp>
      <p:grpSp>
        <p:nvGrpSpPr>
          <p:cNvPr id="4" name="Group 4"/>
          <p:cNvGrpSpPr/>
          <p:nvPr/>
        </p:nvGrpSpPr>
        <p:grpSpPr>
          <a:xfrm>
            <a:off x="548640" y="137160"/>
            <a:ext cx="16911828" cy="822960"/>
            <a:chOff x="0" y="0"/>
            <a:chExt cx="22549104" cy="1097280"/>
          </a:xfrm>
        </p:grpSpPr>
        <p:sp>
          <p:nvSpPr>
            <p:cNvPr id="5" name="Freeform 5"/>
            <p:cNvSpPr/>
            <p:nvPr/>
          </p:nvSpPr>
          <p:spPr>
            <a:xfrm>
              <a:off x="0" y="0"/>
              <a:ext cx="22549104" cy="1097280"/>
            </a:xfrm>
            <a:custGeom>
              <a:avLst/>
              <a:gdLst/>
              <a:ahLst/>
              <a:cxnLst/>
              <a:rect l="l" t="t" r="r" b="b"/>
              <a:pathLst>
                <a:path w="22549104" h="1097280">
                  <a:moveTo>
                    <a:pt x="0" y="0"/>
                  </a:moveTo>
                  <a:lnTo>
                    <a:pt x="22549104" y="0"/>
                  </a:lnTo>
                  <a:lnTo>
                    <a:pt x="22549104" y="1097280"/>
                  </a:lnTo>
                  <a:lnTo>
                    <a:pt x="0" y="1097280"/>
                  </a:lnTo>
                  <a:close/>
                </a:path>
              </a:pathLst>
            </a:custGeom>
            <a:blipFill>
              <a:blip r:embed="rId3">
                <a:alphaModFix amt="0"/>
              </a:blip>
              <a:stretch>
                <a:fillRect t="-350417" b="-350417"/>
              </a:stretch>
            </a:blipFill>
          </p:spPr>
        </p:sp>
        <p:sp>
          <p:nvSpPr>
            <p:cNvPr id="6" name="TextBox 6"/>
            <p:cNvSpPr txBox="1"/>
            <p:nvPr/>
          </p:nvSpPr>
          <p:spPr>
            <a:xfrm>
              <a:off x="0" y="0"/>
              <a:ext cx="22549104" cy="1097280"/>
            </a:xfrm>
            <a:prstGeom prst="rect">
              <a:avLst/>
            </a:prstGeom>
          </p:spPr>
          <p:txBody>
            <a:bodyPr lIns="0" tIns="0" rIns="0" bIns="0" rtlCol="0" anchor="ctr"/>
            <a:lstStyle/>
            <a:p>
              <a:pPr algn="l">
                <a:lnSpc>
                  <a:spcPts val="5040"/>
                </a:lnSpc>
              </a:pPr>
              <a:r>
                <a:rPr lang="en-US" sz="4200" b="1">
                  <a:solidFill>
                    <a:srgbClr val="FFFFFF"/>
                  </a:solidFill>
                  <a:latin typeface="DM Sans Bold"/>
                  <a:ea typeface="DM Sans Bold"/>
                  <a:cs typeface="DM Sans Bold"/>
                  <a:sym typeface="DM Sans Bold"/>
                </a:rPr>
                <a:t>Interactive Dashboard — Pages 1 &amp; 2</a:t>
              </a:r>
            </a:p>
          </p:txBody>
        </p:sp>
      </p:grpSp>
      <p:grpSp>
        <p:nvGrpSpPr>
          <p:cNvPr id="7" name="Group 7"/>
          <p:cNvGrpSpPr/>
          <p:nvPr/>
        </p:nvGrpSpPr>
        <p:grpSpPr>
          <a:xfrm>
            <a:off x="548640" y="891540"/>
            <a:ext cx="16911828" cy="521208"/>
            <a:chOff x="0" y="0"/>
            <a:chExt cx="22549104" cy="694944"/>
          </a:xfrm>
        </p:grpSpPr>
        <p:sp>
          <p:nvSpPr>
            <p:cNvPr id="8" name="Freeform 8"/>
            <p:cNvSpPr/>
            <p:nvPr/>
          </p:nvSpPr>
          <p:spPr>
            <a:xfrm>
              <a:off x="0" y="0"/>
              <a:ext cx="22549104" cy="694944"/>
            </a:xfrm>
            <a:custGeom>
              <a:avLst/>
              <a:gdLst/>
              <a:ahLst/>
              <a:cxnLst/>
              <a:rect l="l" t="t" r="r" b="b"/>
              <a:pathLst>
                <a:path w="22549104" h="694944">
                  <a:moveTo>
                    <a:pt x="0" y="0"/>
                  </a:moveTo>
                  <a:lnTo>
                    <a:pt x="22549104" y="0"/>
                  </a:lnTo>
                  <a:lnTo>
                    <a:pt x="22549104" y="694944"/>
                  </a:lnTo>
                  <a:lnTo>
                    <a:pt x="0" y="694944"/>
                  </a:lnTo>
                  <a:close/>
                </a:path>
              </a:pathLst>
            </a:custGeom>
            <a:blipFill>
              <a:blip r:embed="rId3">
                <a:alphaModFix amt="0"/>
              </a:blip>
              <a:stretch>
                <a:fillRect t="-582238" b="-582238"/>
              </a:stretch>
            </a:blipFill>
          </p:spPr>
        </p:sp>
        <p:sp>
          <p:nvSpPr>
            <p:cNvPr id="9" name="TextBox 9"/>
            <p:cNvSpPr txBox="1"/>
            <p:nvPr/>
          </p:nvSpPr>
          <p:spPr>
            <a:xfrm>
              <a:off x="0" y="9525"/>
              <a:ext cx="22549104" cy="685419"/>
            </a:xfrm>
            <a:prstGeom prst="rect">
              <a:avLst/>
            </a:prstGeom>
          </p:spPr>
          <p:txBody>
            <a:bodyPr lIns="0" tIns="0" rIns="0" bIns="0" rtlCol="0" anchor="ctr"/>
            <a:lstStyle/>
            <a:p>
              <a:pPr algn="l">
                <a:lnSpc>
                  <a:spcPts val="2340"/>
                </a:lnSpc>
              </a:pPr>
              <a:r>
                <a:rPr lang="en-US" sz="1950">
                  <a:solidFill>
                    <a:srgbClr val="DCEDFA"/>
                  </a:solidFill>
                  <a:latin typeface="DM Sans"/>
                  <a:ea typeface="DM Sans"/>
                  <a:cs typeface="DM Sans"/>
                  <a:sym typeface="DM Sans"/>
                </a:rPr>
                <a:t>Built with Streamlit + Plotly  |  streamlit run dashboard/dashboard.py</a:t>
              </a:r>
            </a:p>
          </p:txBody>
        </p:sp>
      </p:grpSp>
      <p:grpSp>
        <p:nvGrpSpPr>
          <p:cNvPr id="10" name="Group 10"/>
          <p:cNvGrpSpPr/>
          <p:nvPr/>
        </p:nvGrpSpPr>
        <p:grpSpPr>
          <a:xfrm>
            <a:off x="-9525" y="1499235"/>
            <a:ext cx="18302478" cy="73914"/>
            <a:chOff x="0" y="0"/>
            <a:chExt cx="24403304" cy="98552"/>
          </a:xfrm>
        </p:grpSpPr>
        <p:sp>
          <p:nvSpPr>
            <p:cNvPr id="11" name="Freeform 11"/>
            <p:cNvSpPr/>
            <p:nvPr/>
          </p:nvSpPr>
          <p:spPr>
            <a:xfrm>
              <a:off x="0" y="0"/>
              <a:ext cx="24403304" cy="98552"/>
            </a:xfrm>
            <a:custGeom>
              <a:avLst/>
              <a:gdLst/>
              <a:ahLst/>
              <a:cxnLst/>
              <a:rect l="l" t="t" r="r" b="b"/>
              <a:pathLst>
                <a:path w="24403304" h="98552">
                  <a:moveTo>
                    <a:pt x="0" y="0"/>
                  </a:moveTo>
                  <a:lnTo>
                    <a:pt x="24403304" y="0"/>
                  </a:lnTo>
                  <a:lnTo>
                    <a:pt x="24403304" y="98552"/>
                  </a:lnTo>
                  <a:lnTo>
                    <a:pt x="0" y="98552"/>
                  </a:lnTo>
                  <a:close/>
                </a:path>
              </a:pathLst>
            </a:custGeom>
            <a:solidFill>
              <a:srgbClr val="1565C0"/>
            </a:solidFill>
            <a:ln w="19050" cap="sq">
              <a:solidFill>
                <a:srgbClr val="1565C0"/>
              </a:solidFill>
              <a:prstDash val="solid"/>
              <a:miter/>
            </a:ln>
          </p:spPr>
        </p:sp>
      </p:grpSp>
      <p:grpSp>
        <p:nvGrpSpPr>
          <p:cNvPr id="12" name="Group 12"/>
          <p:cNvGrpSpPr/>
          <p:nvPr/>
        </p:nvGrpSpPr>
        <p:grpSpPr>
          <a:xfrm>
            <a:off x="-9525" y="9893427"/>
            <a:ext cx="18302478" cy="403098"/>
            <a:chOff x="0" y="0"/>
            <a:chExt cx="24403304" cy="537464"/>
          </a:xfrm>
        </p:grpSpPr>
        <p:sp>
          <p:nvSpPr>
            <p:cNvPr id="13" name="Freeform 13"/>
            <p:cNvSpPr/>
            <p:nvPr/>
          </p:nvSpPr>
          <p:spPr>
            <a:xfrm>
              <a:off x="0" y="0"/>
              <a:ext cx="24403304" cy="537464"/>
            </a:xfrm>
            <a:custGeom>
              <a:avLst/>
              <a:gdLst/>
              <a:ahLst/>
              <a:cxnLst/>
              <a:rect l="l" t="t" r="r" b="b"/>
              <a:pathLst>
                <a:path w="24403304" h="537464">
                  <a:moveTo>
                    <a:pt x="0" y="0"/>
                  </a:moveTo>
                  <a:lnTo>
                    <a:pt x="24403304" y="0"/>
                  </a:lnTo>
                  <a:lnTo>
                    <a:pt x="24403304" y="537464"/>
                  </a:lnTo>
                  <a:lnTo>
                    <a:pt x="0" y="537464"/>
                  </a:lnTo>
                  <a:close/>
                </a:path>
              </a:pathLst>
            </a:custGeom>
            <a:solidFill>
              <a:srgbClr val="132338"/>
            </a:solidFill>
            <a:ln w="19050" cap="sq">
              <a:solidFill>
                <a:srgbClr val="0D1B2A"/>
              </a:solidFill>
              <a:prstDash val="solid"/>
              <a:miter/>
            </a:ln>
          </p:spPr>
        </p:sp>
      </p:grpSp>
      <p:grpSp>
        <p:nvGrpSpPr>
          <p:cNvPr id="14" name="Group 14"/>
          <p:cNvGrpSpPr/>
          <p:nvPr/>
        </p:nvGrpSpPr>
        <p:grpSpPr>
          <a:xfrm>
            <a:off x="16911828" y="9930384"/>
            <a:ext cx="1097280" cy="329184"/>
            <a:chOff x="0" y="0"/>
            <a:chExt cx="1463040" cy="438912"/>
          </a:xfrm>
        </p:grpSpPr>
        <p:sp>
          <p:nvSpPr>
            <p:cNvPr id="15" name="Freeform 15"/>
            <p:cNvSpPr/>
            <p:nvPr/>
          </p:nvSpPr>
          <p:spPr>
            <a:xfrm>
              <a:off x="0" y="0"/>
              <a:ext cx="1463040" cy="438912"/>
            </a:xfrm>
            <a:custGeom>
              <a:avLst/>
              <a:gdLst/>
              <a:ahLst/>
              <a:cxnLst/>
              <a:rect l="l" t="t" r="r" b="b"/>
              <a:pathLst>
                <a:path w="1463040" h="438912">
                  <a:moveTo>
                    <a:pt x="0" y="0"/>
                  </a:moveTo>
                  <a:lnTo>
                    <a:pt x="1463040" y="0"/>
                  </a:lnTo>
                  <a:lnTo>
                    <a:pt x="1463040" y="438912"/>
                  </a:lnTo>
                  <a:lnTo>
                    <a:pt x="0" y="438912"/>
                  </a:lnTo>
                  <a:close/>
                </a:path>
              </a:pathLst>
            </a:custGeom>
            <a:blipFill>
              <a:blip r:embed="rId3">
                <a:alphaModFix amt="0"/>
              </a:blip>
              <a:stretch>
                <a:fillRect t="-14950" b="-14950"/>
              </a:stretch>
            </a:blipFill>
          </p:spPr>
        </p:sp>
        <p:sp>
          <p:nvSpPr>
            <p:cNvPr id="16" name="TextBox 16"/>
            <p:cNvSpPr txBox="1"/>
            <p:nvPr/>
          </p:nvSpPr>
          <p:spPr>
            <a:xfrm>
              <a:off x="0" y="-9525"/>
              <a:ext cx="1463040" cy="448437"/>
            </a:xfrm>
            <a:prstGeom prst="rect">
              <a:avLst/>
            </a:prstGeom>
          </p:spPr>
          <p:txBody>
            <a:bodyPr lIns="0" tIns="0" rIns="0" bIns="0" rtlCol="0" anchor="ctr"/>
            <a:lstStyle/>
            <a:p>
              <a:pPr algn="r">
                <a:lnSpc>
                  <a:spcPts val="1439"/>
                </a:lnSpc>
              </a:pPr>
              <a:r>
                <a:rPr lang="en-US" sz="1200">
                  <a:solidFill>
                    <a:srgbClr val="DCEDFA"/>
                  </a:solidFill>
                  <a:latin typeface="DM Sans"/>
                  <a:ea typeface="DM Sans"/>
                  <a:cs typeface="DM Sans"/>
                  <a:sym typeface="DM Sans"/>
                </a:rPr>
                <a:t>9 / 12</a:t>
              </a:r>
            </a:p>
          </p:txBody>
        </p:sp>
      </p:grpSp>
      <p:grpSp>
        <p:nvGrpSpPr>
          <p:cNvPr id="17" name="Group 17"/>
          <p:cNvGrpSpPr/>
          <p:nvPr/>
        </p:nvGrpSpPr>
        <p:grpSpPr>
          <a:xfrm>
            <a:off x="411480" y="9930384"/>
            <a:ext cx="16363188" cy="329184"/>
            <a:chOff x="0" y="0"/>
            <a:chExt cx="21817584" cy="438912"/>
          </a:xfrm>
        </p:grpSpPr>
        <p:sp>
          <p:nvSpPr>
            <p:cNvPr id="18" name="Freeform 18"/>
            <p:cNvSpPr/>
            <p:nvPr/>
          </p:nvSpPr>
          <p:spPr>
            <a:xfrm>
              <a:off x="0" y="0"/>
              <a:ext cx="21817585" cy="438912"/>
            </a:xfrm>
            <a:custGeom>
              <a:avLst/>
              <a:gdLst/>
              <a:ahLst/>
              <a:cxnLst/>
              <a:rect l="l" t="t" r="r" b="b"/>
              <a:pathLst>
                <a:path w="21817585" h="438912">
                  <a:moveTo>
                    <a:pt x="0" y="0"/>
                  </a:moveTo>
                  <a:lnTo>
                    <a:pt x="21817585" y="0"/>
                  </a:lnTo>
                  <a:lnTo>
                    <a:pt x="21817585" y="438912"/>
                  </a:lnTo>
                  <a:lnTo>
                    <a:pt x="0" y="438912"/>
                  </a:lnTo>
                  <a:close/>
                </a:path>
              </a:pathLst>
            </a:custGeom>
            <a:blipFill>
              <a:blip r:embed="rId3">
                <a:alphaModFix amt="0"/>
              </a:blip>
              <a:stretch>
                <a:fillRect t="-918568" b="-918568"/>
              </a:stretch>
            </a:blipFill>
          </p:spPr>
        </p:sp>
        <p:sp>
          <p:nvSpPr>
            <p:cNvPr id="19" name="TextBox 19"/>
            <p:cNvSpPr txBox="1"/>
            <p:nvPr/>
          </p:nvSpPr>
          <p:spPr>
            <a:xfrm>
              <a:off x="0" y="-9525"/>
              <a:ext cx="21817584" cy="448437"/>
            </a:xfrm>
            <a:prstGeom prst="rect">
              <a:avLst/>
            </a:prstGeom>
          </p:spPr>
          <p:txBody>
            <a:bodyPr lIns="0" tIns="0" rIns="0" bIns="0" rtlCol="0" anchor="ctr"/>
            <a:lstStyle/>
            <a:p>
              <a:pPr algn="l">
                <a:lnSpc>
                  <a:spcPts val="1439"/>
                </a:lnSpc>
              </a:pPr>
              <a:r>
                <a:rPr lang="en-US" sz="1200">
                  <a:solidFill>
                    <a:srgbClr val="DCEDFA"/>
                  </a:solidFill>
                  <a:latin typeface="DM Sans"/>
                  <a:ea typeface="DM Sans"/>
                  <a:cs typeface="DM Sans"/>
                  <a:sym typeface="DM Sans"/>
                </a:rPr>
                <a:t>Bluestock Fintech  |  Capstone Project I - Mutual Fund Analytics</a:t>
              </a:r>
            </a:p>
          </p:txBody>
        </p:sp>
      </p:grpSp>
      <p:sp>
        <p:nvSpPr>
          <p:cNvPr id="20" name="Freeform 20"/>
          <p:cNvSpPr/>
          <p:nvPr/>
        </p:nvSpPr>
        <p:spPr>
          <a:xfrm>
            <a:off x="63154" y="2262393"/>
            <a:ext cx="9014171" cy="5780337"/>
          </a:xfrm>
          <a:custGeom>
            <a:avLst/>
            <a:gdLst/>
            <a:ahLst/>
            <a:cxnLst/>
            <a:rect l="l" t="t" r="r" b="b"/>
            <a:pathLst>
              <a:path w="9014171" h="5780337">
                <a:moveTo>
                  <a:pt x="0" y="0"/>
                </a:moveTo>
                <a:lnTo>
                  <a:pt x="9014171" y="0"/>
                </a:lnTo>
                <a:lnTo>
                  <a:pt x="9014171" y="5780337"/>
                </a:lnTo>
                <a:lnTo>
                  <a:pt x="0" y="5780337"/>
                </a:lnTo>
                <a:lnTo>
                  <a:pt x="0" y="0"/>
                </a:lnTo>
                <a:close/>
              </a:path>
            </a:pathLst>
          </a:custGeom>
          <a:blipFill>
            <a:blip r:embed="rId4"/>
            <a:stretch>
              <a:fillRect/>
            </a:stretch>
          </a:blipFill>
        </p:spPr>
      </p:sp>
      <p:sp>
        <p:nvSpPr>
          <p:cNvPr id="21" name="Freeform 21"/>
          <p:cNvSpPr/>
          <p:nvPr/>
        </p:nvSpPr>
        <p:spPr>
          <a:xfrm>
            <a:off x="9317739" y="2244270"/>
            <a:ext cx="8903586" cy="5798460"/>
          </a:xfrm>
          <a:custGeom>
            <a:avLst/>
            <a:gdLst/>
            <a:ahLst/>
            <a:cxnLst/>
            <a:rect l="l" t="t" r="r" b="b"/>
            <a:pathLst>
              <a:path w="8903586" h="5798460">
                <a:moveTo>
                  <a:pt x="0" y="0"/>
                </a:moveTo>
                <a:lnTo>
                  <a:pt x="8903586" y="0"/>
                </a:lnTo>
                <a:lnTo>
                  <a:pt x="8903586" y="5798460"/>
                </a:lnTo>
                <a:lnTo>
                  <a:pt x="0" y="5798460"/>
                </a:lnTo>
                <a:lnTo>
                  <a:pt x="0" y="0"/>
                </a:lnTo>
                <a:close/>
              </a:path>
            </a:pathLst>
          </a:custGeom>
          <a:blipFill>
            <a:blip r:embed="rId5"/>
            <a:stretch>
              <a:fillRect/>
            </a:stretch>
          </a:blipFill>
        </p:spPr>
      </p:sp>
      <p:sp>
        <p:nvSpPr>
          <p:cNvPr id="22" name="TextBox 22"/>
          <p:cNvSpPr txBox="1"/>
          <p:nvPr/>
        </p:nvSpPr>
        <p:spPr>
          <a:xfrm>
            <a:off x="1773834" y="8338570"/>
            <a:ext cx="5592812" cy="20955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11: Page 1 — KPI cards, AUM trend, SIP bar chart, folio growth..</a:t>
            </a:r>
          </a:p>
        </p:txBody>
      </p:sp>
      <p:sp>
        <p:nvSpPr>
          <p:cNvPr id="23" name="TextBox 23"/>
          <p:cNvSpPr txBox="1"/>
          <p:nvPr/>
        </p:nvSpPr>
        <p:spPr>
          <a:xfrm>
            <a:off x="9419653" y="8233795"/>
            <a:ext cx="8801672" cy="41910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12: Page 2 — Risk-return scatter (bubble=AUM), sortable scorecard, NAV vs benchmark, alpha bar chart.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527810"/>
            <a:chOff x="0" y="0"/>
            <a:chExt cx="24403304" cy="2037080"/>
          </a:xfrm>
        </p:grpSpPr>
        <p:sp>
          <p:nvSpPr>
            <p:cNvPr id="3" name="Freeform 3"/>
            <p:cNvSpPr/>
            <p:nvPr/>
          </p:nvSpPr>
          <p:spPr>
            <a:xfrm>
              <a:off x="0" y="0"/>
              <a:ext cx="24403304" cy="2037080"/>
            </a:xfrm>
            <a:custGeom>
              <a:avLst/>
              <a:gdLst/>
              <a:ahLst/>
              <a:cxnLst/>
              <a:rect l="l" t="t" r="r" b="b"/>
              <a:pathLst>
                <a:path w="24403304" h="2037080">
                  <a:moveTo>
                    <a:pt x="0" y="0"/>
                  </a:moveTo>
                  <a:lnTo>
                    <a:pt x="24403304" y="0"/>
                  </a:lnTo>
                  <a:lnTo>
                    <a:pt x="24403304" y="2037080"/>
                  </a:lnTo>
                  <a:lnTo>
                    <a:pt x="0" y="2037080"/>
                  </a:lnTo>
                  <a:close/>
                </a:path>
              </a:pathLst>
            </a:custGeom>
            <a:solidFill>
              <a:srgbClr val="132338"/>
            </a:solidFill>
            <a:ln w="19050" cap="sq">
              <a:solidFill>
                <a:srgbClr val="0D1B2A"/>
              </a:solidFill>
              <a:prstDash val="solid"/>
              <a:miter/>
            </a:ln>
          </p:spPr>
        </p:sp>
      </p:grpSp>
      <p:grpSp>
        <p:nvGrpSpPr>
          <p:cNvPr id="4" name="Group 4"/>
          <p:cNvGrpSpPr/>
          <p:nvPr/>
        </p:nvGrpSpPr>
        <p:grpSpPr>
          <a:xfrm>
            <a:off x="548640" y="137160"/>
            <a:ext cx="16911828" cy="822960"/>
            <a:chOff x="0" y="0"/>
            <a:chExt cx="22549104" cy="1097280"/>
          </a:xfrm>
        </p:grpSpPr>
        <p:sp>
          <p:nvSpPr>
            <p:cNvPr id="5" name="Freeform 5"/>
            <p:cNvSpPr/>
            <p:nvPr/>
          </p:nvSpPr>
          <p:spPr>
            <a:xfrm>
              <a:off x="0" y="0"/>
              <a:ext cx="22549104" cy="1097280"/>
            </a:xfrm>
            <a:custGeom>
              <a:avLst/>
              <a:gdLst/>
              <a:ahLst/>
              <a:cxnLst/>
              <a:rect l="l" t="t" r="r" b="b"/>
              <a:pathLst>
                <a:path w="22549104" h="1097280">
                  <a:moveTo>
                    <a:pt x="0" y="0"/>
                  </a:moveTo>
                  <a:lnTo>
                    <a:pt x="22549104" y="0"/>
                  </a:lnTo>
                  <a:lnTo>
                    <a:pt x="22549104" y="1097280"/>
                  </a:lnTo>
                  <a:lnTo>
                    <a:pt x="0" y="1097280"/>
                  </a:lnTo>
                  <a:close/>
                </a:path>
              </a:pathLst>
            </a:custGeom>
            <a:blipFill>
              <a:blip r:embed="rId3">
                <a:alphaModFix amt="0"/>
              </a:blip>
              <a:stretch>
                <a:fillRect t="-350417" b="-350417"/>
              </a:stretch>
            </a:blipFill>
          </p:spPr>
        </p:sp>
        <p:sp>
          <p:nvSpPr>
            <p:cNvPr id="6" name="TextBox 6"/>
            <p:cNvSpPr txBox="1"/>
            <p:nvPr/>
          </p:nvSpPr>
          <p:spPr>
            <a:xfrm>
              <a:off x="0" y="0"/>
              <a:ext cx="22549104" cy="1097280"/>
            </a:xfrm>
            <a:prstGeom prst="rect">
              <a:avLst/>
            </a:prstGeom>
          </p:spPr>
          <p:txBody>
            <a:bodyPr lIns="0" tIns="0" rIns="0" bIns="0" rtlCol="0" anchor="ctr"/>
            <a:lstStyle/>
            <a:p>
              <a:pPr algn="l">
                <a:lnSpc>
                  <a:spcPts val="5040"/>
                </a:lnSpc>
              </a:pPr>
              <a:r>
                <a:rPr lang="en-US" sz="4200" b="1">
                  <a:solidFill>
                    <a:srgbClr val="FFFFFF"/>
                  </a:solidFill>
                  <a:latin typeface="DM Sans Bold"/>
                  <a:ea typeface="DM Sans Bold"/>
                  <a:cs typeface="DM Sans Bold"/>
                  <a:sym typeface="DM Sans Bold"/>
                </a:rPr>
                <a:t>Interactive Dashboard — Pages 3 &amp; 4</a:t>
              </a:r>
            </a:p>
          </p:txBody>
        </p:sp>
      </p:grpSp>
      <p:grpSp>
        <p:nvGrpSpPr>
          <p:cNvPr id="7" name="Group 7"/>
          <p:cNvGrpSpPr/>
          <p:nvPr/>
        </p:nvGrpSpPr>
        <p:grpSpPr>
          <a:xfrm>
            <a:off x="548640" y="891540"/>
            <a:ext cx="16911828" cy="521208"/>
            <a:chOff x="0" y="0"/>
            <a:chExt cx="22549104" cy="694944"/>
          </a:xfrm>
        </p:grpSpPr>
        <p:sp>
          <p:nvSpPr>
            <p:cNvPr id="8" name="Freeform 8"/>
            <p:cNvSpPr/>
            <p:nvPr/>
          </p:nvSpPr>
          <p:spPr>
            <a:xfrm>
              <a:off x="0" y="0"/>
              <a:ext cx="22549104" cy="694944"/>
            </a:xfrm>
            <a:custGeom>
              <a:avLst/>
              <a:gdLst/>
              <a:ahLst/>
              <a:cxnLst/>
              <a:rect l="l" t="t" r="r" b="b"/>
              <a:pathLst>
                <a:path w="22549104" h="694944">
                  <a:moveTo>
                    <a:pt x="0" y="0"/>
                  </a:moveTo>
                  <a:lnTo>
                    <a:pt x="22549104" y="0"/>
                  </a:lnTo>
                  <a:lnTo>
                    <a:pt x="22549104" y="694944"/>
                  </a:lnTo>
                  <a:lnTo>
                    <a:pt x="0" y="694944"/>
                  </a:lnTo>
                  <a:close/>
                </a:path>
              </a:pathLst>
            </a:custGeom>
            <a:blipFill>
              <a:blip r:embed="rId3">
                <a:alphaModFix amt="0"/>
              </a:blip>
              <a:stretch>
                <a:fillRect t="-582238" b="-582238"/>
              </a:stretch>
            </a:blipFill>
          </p:spPr>
        </p:sp>
        <p:sp>
          <p:nvSpPr>
            <p:cNvPr id="9" name="TextBox 9"/>
            <p:cNvSpPr txBox="1"/>
            <p:nvPr/>
          </p:nvSpPr>
          <p:spPr>
            <a:xfrm>
              <a:off x="0" y="9525"/>
              <a:ext cx="22549104" cy="685419"/>
            </a:xfrm>
            <a:prstGeom prst="rect">
              <a:avLst/>
            </a:prstGeom>
          </p:spPr>
          <p:txBody>
            <a:bodyPr lIns="0" tIns="0" rIns="0" bIns="0" rtlCol="0" anchor="ctr"/>
            <a:lstStyle/>
            <a:p>
              <a:pPr algn="l">
                <a:lnSpc>
                  <a:spcPts val="2340"/>
                </a:lnSpc>
              </a:pPr>
              <a:r>
                <a:rPr lang="en-US" sz="1950">
                  <a:solidFill>
                    <a:srgbClr val="DCEDFA"/>
                  </a:solidFill>
                  <a:latin typeface="DM Sans"/>
                  <a:ea typeface="DM Sans"/>
                  <a:cs typeface="DM Sans"/>
                  <a:sym typeface="DM Sans"/>
                </a:rPr>
                <a:t>Slicers: State | Age Group | City Tier | Year Range | Benchmark Index</a:t>
              </a:r>
            </a:p>
          </p:txBody>
        </p:sp>
      </p:grpSp>
      <p:grpSp>
        <p:nvGrpSpPr>
          <p:cNvPr id="10" name="Group 10"/>
          <p:cNvGrpSpPr/>
          <p:nvPr/>
        </p:nvGrpSpPr>
        <p:grpSpPr>
          <a:xfrm>
            <a:off x="-9525" y="1499235"/>
            <a:ext cx="18302478" cy="73914"/>
            <a:chOff x="0" y="0"/>
            <a:chExt cx="24403304" cy="98552"/>
          </a:xfrm>
        </p:grpSpPr>
        <p:sp>
          <p:nvSpPr>
            <p:cNvPr id="11" name="Freeform 11"/>
            <p:cNvSpPr/>
            <p:nvPr/>
          </p:nvSpPr>
          <p:spPr>
            <a:xfrm>
              <a:off x="0" y="0"/>
              <a:ext cx="24403304" cy="98552"/>
            </a:xfrm>
            <a:custGeom>
              <a:avLst/>
              <a:gdLst/>
              <a:ahLst/>
              <a:cxnLst/>
              <a:rect l="l" t="t" r="r" b="b"/>
              <a:pathLst>
                <a:path w="24403304" h="98552">
                  <a:moveTo>
                    <a:pt x="0" y="0"/>
                  </a:moveTo>
                  <a:lnTo>
                    <a:pt x="24403304" y="0"/>
                  </a:lnTo>
                  <a:lnTo>
                    <a:pt x="24403304" y="98552"/>
                  </a:lnTo>
                  <a:lnTo>
                    <a:pt x="0" y="98552"/>
                  </a:lnTo>
                  <a:close/>
                </a:path>
              </a:pathLst>
            </a:custGeom>
            <a:solidFill>
              <a:srgbClr val="1565C0"/>
            </a:solidFill>
            <a:ln w="19050" cap="sq">
              <a:solidFill>
                <a:srgbClr val="1565C0"/>
              </a:solidFill>
              <a:prstDash val="solid"/>
              <a:miter/>
            </a:ln>
          </p:spPr>
        </p:sp>
      </p:grpSp>
      <p:grpSp>
        <p:nvGrpSpPr>
          <p:cNvPr id="12" name="Group 12"/>
          <p:cNvGrpSpPr/>
          <p:nvPr/>
        </p:nvGrpSpPr>
        <p:grpSpPr>
          <a:xfrm>
            <a:off x="-9525" y="9893427"/>
            <a:ext cx="18302478" cy="403098"/>
            <a:chOff x="0" y="0"/>
            <a:chExt cx="24403304" cy="537464"/>
          </a:xfrm>
        </p:grpSpPr>
        <p:sp>
          <p:nvSpPr>
            <p:cNvPr id="13" name="Freeform 13"/>
            <p:cNvSpPr/>
            <p:nvPr/>
          </p:nvSpPr>
          <p:spPr>
            <a:xfrm>
              <a:off x="0" y="0"/>
              <a:ext cx="24403304" cy="537464"/>
            </a:xfrm>
            <a:custGeom>
              <a:avLst/>
              <a:gdLst/>
              <a:ahLst/>
              <a:cxnLst/>
              <a:rect l="l" t="t" r="r" b="b"/>
              <a:pathLst>
                <a:path w="24403304" h="537464">
                  <a:moveTo>
                    <a:pt x="0" y="0"/>
                  </a:moveTo>
                  <a:lnTo>
                    <a:pt x="24403304" y="0"/>
                  </a:lnTo>
                  <a:lnTo>
                    <a:pt x="24403304" y="537464"/>
                  </a:lnTo>
                  <a:lnTo>
                    <a:pt x="0" y="537464"/>
                  </a:lnTo>
                  <a:close/>
                </a:path>
              </a:pathLst>
            </a:custGeom>
            <a:solidFill>
              <a:srgbClr val="132338"/>
            </a:solidFill>
            <a:ln w="19050" cap="sq">
              <a:solidFill>
                <a:srgbClr val="0D1B2A"/>
              </a:solidFill>
              <a:prstDash val="solid"/>
              <a:miter/>
            </a:ln>
          </p:spPr>
        </p:sp>
      </p:grpSp>
      <p:grpSp>
        <p:nvGrpSpPr>
          <p:cNvPr id="14" name="Group 14"/>
          <p:cNvGrpSpPr/>
          <p:nvPr/>
        </p:nvGrpSpPr>
        <p:grpSpPr>
          <a:xfrm>
            <a:off x="16911828" y="9930384"/>
            <a:ext cx="1097280" cy="329184"/>
            <a:chOff x="0" y="0"/>
            <a:chExt cx="1463040" cy="438912"/>
          </a:xfrm>
        </p:grpSpPr>
        <p:sp>
          <p:nvSpPr>
            <p:cNvPr id="15" name="Freeform 15"/>
            <p:cNvSpPr/>
            <p:nvPr/>
          </p:nvSpPr>
          <p:spPr>
            <a:xfrm>
              <a:off x="0" y="0"/>
              <a:ext cx="1463040" cy="438912"/>
            </a:xfrm>
            <a:custGeom>
              <a:avLst/>
              <a:gdLst/>
              <a:ahLst/>
              <a:cxnLst/>
              <a:rect l="l" t="t" r="r" b="b"/>
              <a:pathLst>
                <a:path w="1463040" h="438912">
                  <a:moveTo>
                    <a:pt x="0" y="0"/>
                  </a:moveTo>
                  <a:lnTo>
                    <a:pt x="1463040" y="0"/>
                  </a:lnTo>
                  <a:lnTo>
                    <a:pt x="1463040" y="438912"/>
                  </a:lnTo>
                  <a:lnTo>
                    <a:pt x="0" y="438912"/>
                  </a:lnTo>
                  <a:close/>
                </a:path>
              </a:pathLst>
            </a:custGeom>
            <a:blipFill>
              <a:blip r:embed="rId3">
                <a:alphaModFix amt="0"/>
              </a:blip>
              <a:stretch>
                <a:fillRect t="-14950" b="-14950"/>
              </a:stretch>
            </a:blipFill>
          </p:spPr>
        </p:sp>
        <p:sp>
          <p:nvSpPr>
            <p:cNvPr id="16" name="TextBox 16"/>
            <p:cNvSpPr txBox="1"/>
            <p:nvPr/>
          </p:nvSpPr>
          <p:spPr>
            <a:xfrm>
              <a:off x="0" y="-9525"/>
              <a:ext cx="1463040" cy="448437"/>
            </a:xfrm>
            <a:prstGeom prst="rect">
              <a:avLst/>
            </a:prstGeom>
          </p:spPr>
          <p:txBody>
            <a:bodyPr lIns="0" tIns="0" rIns="0" bIns="0" rtlCol="0" anchor="ctr"/>
            <a:lstStyle/>
            <a:p>
              <a:pPr algn="r">
                <a:lnSpc>
                  <a:spcPts val="1439"/>
                </a:lnSpc>
              </a:pPr>
              <a:r>
                <a:rPr lang="en-US" sz="1200">
                  <a:solidFill>
                    <a:srgbClr val="DCEDFA"/>
                  </a:solidFill>
                  <a:latin typeface="DM Sans"/>
                  <a:ea typeface="DM Sans"/>
                  <a:cs typeface="DM Sans"/>
                  <a:sym typeface="DM Sans"/>
                </a:rPr>
                <a:t>10 / 12</a:t>
              </a:r>
            </a:p>
          </p:txBody>
        </p:sp>
      </p:grpSp>
      <p:grpSp>
        <p:nvGrpSpPr>
          <p:cNvPr id="17" name="Group 17"/>
          <p:cNvGrpSpPr/>
          <p:nvPr/>
        </p:nvGrpSpPr>
        <p:grpSpPr>
          <a:xfrm>
            <a:off x="411480" y="9930384"/>
            <a:ext cx="16363188" cy="329184"/>
            <a:chOff x="0" y="0"/>
            <a:chExt cx="21817584" cy="438912"/>
          </a:xfrm>
        </p:grpSpPr>
        <p:sp>
          <p:nvSpPr>
            <p:cNvPr id="18" name="Freeform 18"/>
            <p:cNvSpPr/>
            <p:nvPr/>
          </p:nvSpPr>
          <p:spPr>
            <a:xfrm>
              <a:off x="0" y="0"/>
              <a:ext cx="21817585" cy="438912"/>
            </a:xfrm>
            <a:custGeom>
              <a:avLst/>
              <a:gdLst/>
              <a:ahLst/>
              <a:cxnLst/>
              <a:rect l="l" t="t" r="r" b="b"/>
              <a:pathLst>
                <a:path w="21817585" h="438912">
                  <a:moveTo>
                    <a:pt x="0" y="0"/>
                  </a:moveTo>
                  <a:lnTo>
                    <a:pt x="21817585" y="0"/>
                  </a:lnTo>
                  <a:lnTo>
                    <a:pt x="21817585" y="438912"/>
                  </a:lnTo>
                  <a:lnTo>
                    <a:pt x="0" y="438912"/>
                  </a:lnTo>
                  <a:close/>
                </a:path>
              </a:pathLst>
            </a:custGeom>
            <a:blipFill>
              <a:blip r:embed="rId3">
                <a:alphaModFix amt="0"/>
              </a:blip>
              <a:stretch>
                <a:fillRect t="-918568" b="-918568"/>
              </a:stretch>
            </a:blipFill>
          </p:spPr>
        </p:sp>
        <p:sp>
          <p:nvSpPr>
            <p:cNvPr id="19" name="TextBox 19"/>
            <p:cNvSpPr txBox="1"/>
            <p:nvPr/>
          </p:nvSpPr>
          <p:spPr>
            <a:xfrm>
              <a:off x="0" y="-9525"/>
              <a:ext cx="21817584" cy="448437"/>
            </a:xfrm>
            <a:prstGeom prst="rect">
              <a:avLst/>
            </a:prstGeom>
          </p:spPr>
          <p:txBody>
            <a:bodyPr lIns="0" tIns="0" rIns="0" bIns="0" rtlCol="0" anchor="ctr"/>
            <a:lstStyle/>
            <a:p>
              <a:pPr algn="l">
                <a:lnSpc>
                  <a:spcPts val="1439"/>
                </a:lnSpc>
              </a:pPr>
              <a:r>
                <a:rPr lang="en-US" sz="1200">
                  <a:solidFill>
                    <a:srgbClr val="DCEDFA"/>
                  </a:solidFill>
                  <a:latin typeface="DM Sans"/>
                  <a:ea typeface="DM Sans"/>
                  <a:cs typeface="DM Sans"/>
                  <a:sym typeface="DM Sans"/>
                </a:rPr>
                <a:t>Bluestock Fintech  |  Capstone Project I - Mutual Fund Analytics</a:t>
              </a:r>
            </a:p>
          </p:txBody>
        </p:sp>
      </p:grpSp>
      <p:sp>
        <p:nvSpPr>
          <p:cNvPr id="20" name="Freeform 20"/>
          <p:cNvSpPr/>
          <p:nvPr/>
        </p:nvSpPr>
        <p:spPr>
          <a:xfrm>
            <a:off x="0" y="2260171"/>
            <a:ext cx="9099265" cy="5766659"/>
          </a:xfrm>
          <a:custGeom>
            <a:avLst/>
            <a:gdLst/>
            <a:ahLst/>
            <a:cxnLst/>
            <a:rect l="l" t="t" r="r" b="b"/>
            <a:pathLst>
              <a:path w="9099265" h="5766659">
                <a:moveTo>
                  <a:pt x="0" y="0"/>
                </a:moveTo>
                <a:lnTo>
                  <a:pt x="9099265" y="0"/>
                </a:lnTo>
                <a:lnTo>
                  <a:pt x="9099265" y="5766658"/>
                </a:lnTo>
                <a:lnTo>
                  <a:pt x="0" y="5766658"/>
                </a:lnTo>
                <a:lnTo>
                  <a:pt x="0" y="0"/>
                </a:lnTo>
                <a:close/>
              </a:path>
            </a:pathLst>
          </a:custGeom>
          <a:blipFill>
            <a:blip r:embed="rId4"/>
            <a:stretch>
              <a:fillRect/>
            </a:stretch>
          </a:blipFill>
        </p:spPr>
      </p:sp>
      <p:sp>
        <p:nvSpPr>
          <p:cNvPr id="21" name="Freeform 21"/>
          <p:cNvSpPr/>
          <p:nvPr/>
        </p:nvSpPr>
        <p:spPr>
          <a:xfrm>
            <a:off x="8959819" y="2260171"/>
            <a:ext cx="9215722" cy="5748307"/>
          </a:xfrm>
          <a:custGeom>
            <a:avLst/>
            <a:gdLst/>
            <a:ahLst/>
            <a:cxnLst/>
            <a:rect l="l" t="t" r="r" b="b"/>
            <a:pathLst>
              <a:path w="9215722" h="5748307">
                <a:moveTo>
                  <a:pt x="0" y="0"/>
                </a:moveTo>
                <a:lnTo>
                  <a:pt x="9215722" y="0"/>
                </a:lnTo>
                <a:lnTo>
                  <a:pt x="9215722" y="5748306"/>
                </a:lnTo>
                <a:lnTo>
                  <a:pt x="0" y="5748306"/>
                </a:lnTo>
                <a:lnTo>
                  <a:pt x="0" y="0"/>
                </a:lnTo>
                <a:close/>
              </a:path>
            </a:pathLst>
          </a:custGeom>
          <a:blipFill>
            <a:blip r:embed="rId5"/>
            <a:stretch>
              <a:fillRect/>
            </a:stretch>
          </a:blipFill>
        </p:spPr>
      </p:sp>
      <p:sp>
        <p:nvSpPr>
          <p:cNvPr id="22" name="TextBox 22"/>
          <p:cNvSpPr txBox="1"/>
          <p:nvPr/>
        </p:nvSpPr>
        <p:spPr>
          <a:xfrm>
            <a:off x="0" y="8338570"/>
            <a:ext cx="9140479" cy="41910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13: Page 3 — SIP by state, transaction type donut, age group bar, gender pie, T30 vs B30, monthly volume</a:t>
            </a:r>
          </a:p>
        </p:txBody>
      </p:sp>
      <p:sp>
        <p:nvSpPr>
          <p:cNvPr id="23" name="TextBox 23"/>
          <p:cNvSpPr txBox="1"/>
          <p:nvPr/>
        </p:nvSpPr>
        <p:spPr>
          <a:xfrm>
            <a:off x="9419653" y="8233795"/>
            <a:ext cx="8801672" cy="209550"/>
          </a:xfrm>
          <a:prstGeom prst="rect">
            <a:avLst/>
          </a:prstGeom>
        </p:spPr>
        <p:txBody>
          <a:bodyPr lIns="0" tIns="0" rIns="0" bIns="0" rtlCol="0" anchor="t">
            <a:spAutoFit/>
          </a:bodyPr>
          <a:lstStyle/>
          <a:p>
            <a:pPr algn="ctr">
              <a:lnSpc>
                <a:spcPts val="1709"/>
              </a:lnSpc>
              <a:spcBef>
                <a:spcPct val="0"/>
              </a:spcBef>
            </a:pPr>
            <a:r>
              <a:rPr lang="en-US" sz="1425" i="1">
                <a:solidFill>
                  <a:srgbClr val="4A5568"/>
                </a:solidFill>
                <a:latin typeface="DM Sans Italics"/>
                <a:ea typeface="DM Sans Italics"/>
                <a:cs typeface="DM Sans Italics"/>
                <a:sym typeface="DM Sans Italics"/>
              </a:rPr>
              <a:t>Figure 14: Page 4 — Dual-axis SIP+Nifty50, category heatmap, top categories bar, folio growth.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18302478" cy="10306050"/>
            <a:chOff x="0" y="0"/>
            <a:chExt cx="24403304" cy="13741400"/>
          </a:xfrm>
        </p:grpSpPr>
        <p:sp>
          <p:nvSpPr>
            <p:cNvPr id="3" name="Freeform 3"/>
            <p:cNvSpPr/>
            <p:nvPr/>
          </p:nvSpPr>
          <p:spPr>
            <a:xfrm>
              <a:off x="0" y="0"/>
              <a:ext cx="24403304" cy="13741400"/>
            </a:xfrm>
            <a:custGeom>
              <a:avLst/>
              <a:gdLst/>
              <a:ahLst/>
              <a:cxnLst/>
              <a:rect l="l" t="t" r="r" b="b"/>
              <a:pathLst>
                <a:path w="24403304" h="13741400">
                  <a:moveTo>
                    <a:pt x="0" y="0"/>
                  </a:moveTo>
                  <a:lnTo>
                    <a:pt x="24403304" y="0"/>
                  </a:lnTo>
                  <a:lnTo>
                    <a:pt x="24403304" y="13741400"/>
                  </a:lnTo>
                  <a:lnTo>
                    <a:pt x="0" y="13741400"/>
                  </a:lnTo>
                  <a:close/>
                </a:path>
              </a:pathLst>
            </a:custGeom>
            <a:solidFill>
              <a:srgbClr val="F8FAFC"/>
            </a:solidFill>
            <a:ln w="19050" cap="sq">
              <a:solidFill>
                <a:srgbClr val="F8FAFC"/>
              </a:solidFill>
              <a:prstDash val="solid"/>
              <a:miter/>
            </a:ln>
          </p:spPr>
        </p:sp>
      </p:grpSp>
      <p:grpSp>
        <p:nvGrpSpPr>
          <p:cNvPr id="4" name="Group 4"/>
          <p:cNvGrpSpPr/>
          <p:nvPr/>
        </p:nvGrpSpPr>
        <p:grpSpPr>
          <a:xfrm>
            <a:off x="-9525" y="-9525"/>
            <a:ext cx="18302478" cy="1527810"/>
            <a:chOff x="0" y="0"/>
            <a:chExt cx="24403304" cy="2037080"/>
          </a:xfrm>
        </p:grpSpPr>
        <p:sp>
          <p:nvSpPr>
            <p:cNvPr id="5" name="Freeform 5"/>
            <p:cNvSpPr/>
            <p:nvPr/>
          </p:nvSpPr>
          <p:spPr>
            <a:xfrm>
              <a:off x="0" y="0"/>
              <a:ext cx="24403304" cy="2037080"/>
            </a:xfrm>
            <a:custGeom>
              <a:avLst/>
              <a:gdLst/>
              <a:ahLst/>
              <a:cxnLst/>
              <a:rect l="l" t="t" r="r" b="b"/>
              <a:pathLst>
                <a:path w="24403304" h="2037080">
                  <a:moveTo>
                    <a:pt x="0" y="0"/>
                  </a:moveTo>
                  <a:lnTo>
                    <a:pt x="24403304" y="0"/>
                  </a:lnTo>
                  <a:lnTo>
                    <a:pt x="24403304" y="2037080"/>
                  </a:lnTo>
                  <a:lnTo>
                    <a:pt x="0" y="2037080"/>
                  </a:lnTo>
                  <a:close/>
                </a:path>
              </a:pathLst>
            </a:custGeom>
            <a:solidFill>
              <a:srgbClr val="132338"/>
            </a:solidFill>
            <a:ln w="19050" cap="sq">
              <a:solidFill>
                <a:srgbClr val="0D1B2A"/>
              </a:solidFill>
              <a:prstDash val="solid"/>
              <a:miter/>
            </a:ln>
          </p:spPr>
        </p:sp>
      </p:grpSp>
      <p:grpSp>
        <p:nvGrpSpPr>
          <p:cNvPr id="6" name="Group 6"/>
          <p:cNvGrpSpPr/>
          <p:nvPr/>
        </p:nvGrpSpPr>
        <p:grpSpPr>
          <a:xfrm>
            <a:off x="548640" y="137160"/>
            <a:ext cx="16911828" cy="822960"/>
            <a:chOff x="0" y="0"/>
            <a:chExt cx="22549104" cy="1097280"/>
          </a:xfrm>
        </p:grpSpPr>
        <p:sp>
          <p:nvSpPr>
            <p:cNvPr id="7" name="Freeform 7"/>
            <p:cNvSpPr/>
            <p:nvPr/>
          </p:nvSpPr>
          <p:spPr>
            <a:xfrm>
              <a:off x="0" y="0"/>
              <a:ext cx="22549104" cy="1097280"/>
            </a:xfrm>
            <a:custGeom>
              <a:avLst/>
              <a:gdLst/>
              <a:ahLst/>
              <a:cxnLst/>
              <a:rect l="l" t="t" r="r" b="b"/>
              <a:pathLst>
                <a:path w="22549104" h="1097280">
                  <a:moveTo>
                    <a:pt x="0" y="0"/>
                  </a:moveTo>
                  <a:lnTo>
                    <a:pt x="22549104" y="0"/>
                  </a:lnTo>
                  <a:lnTo>
                    <a:pt x="22549104" y="1097280"/>
                  </a:lnTo>
                  <a:lnTo>
                    <a:pt x="0" y="1097280"/>
                  </a:lnTo>
                  <a:close/>
                </a:path>
              </a:pathLst>
            </a:custGeom>
            <a:blipFill>
              <a:blip r:embed="rId3">
                <a:alphaModFix amt="0"/>
              </a:blip>
              <a:stretch>
                <a:fillRect t="-350417" b="-350417"/>
              </a:stretch>
            </a:blipFill>
          </p:spPr>
        </p:sp>
        <p:sp>
          <p:nvSpPr>
            <p:cNvPr id="8" name="TextBox 8"/>
            <p:cNvSpPr txBox="1"/>
            <p:nvPr/>
          </p:nvSpPr>
          <p:spPr>
            <a:xfrm>
              <a:off x="0" y="0"/>
              <a:ext cx="22549104" cy="1097280"/>
            </a:xfrm>
            <a:prstGeom prst="rect">
              <a:avLst/>
            </a:prstGeom>
          </p:spPr>
          <p:txBody>
            <a:bodyPr lIns="0" tIns="0" rIns="0" bIns="0" rtlCol="0" anchor="ctr"/>
            <a:lstStyle/>
            <a:p>
              <a:pPr algn="l">
                <a:lnSpc>
                  <a:spcPts val="5040"/>
                </a:lnSpc>
              </a:pPr>
              <a:r>
                <a:rPr lang="en-US" sz="4200" b="1">
                  <a:solidFill>
                    <a:srgbClr val="FFFFFF"/>
                  </a:solidFill>
                  <a:latin typeface="DM Sans Bold"/>
                  <a:ea typeface="DM Sans Bold"/>
                  <a:cs typeface="DM Sans Bold"/>
                  <a:sym typeface="DM Sans Bold"/>
                </a:rPr>
                <a:t>Key Findings &amp; Recommendations</a:t>
              </a:r>
            </a:p>
          </p:txBody>
        </p:sp>
      </p:grpSp>
      <p:grpSp>
        <p:nvGrpSpPr>
          <p:cNvPr id="9" name="Group 9"/>
          <p:cNvGrpSpPr/>
          <p:nvPr/>
        </p:nvGrpSpPr>
        <p:grpSpPr>
          <a:xfrm>
            <a:off x="548640" y="891540"/>
            <a:ext cx="16911828" cy="521208"/>
            <a:chOff x="0" y="0"/>
            <a:chExt cx="22549104" cy="694944"/>
          </a:xfrm>
        </p:grpSpPr>
        <p:sp>
          <p:nvSpPr>
            <p:cNvPr id="10" name="Freeform 10"/>
            <p:cNvSpPr/>
            <p:nvPr/>
          </p:nvSpPr>
          <p:spPr>
            <a:xfrm>
              <a:off x="0" y="0"/>
              <a:ext cx="22549104" cy="694944"/>
            </a:xfrm>
            <a:custGeom>
              <a:avLst/>
              <a:gdLst/>
              <a:ahLst/>
              <a:cxnLst/>
              <a:rect l="l" t="t" r="r" b="b"/>
              <a:pathLst>
                <a:path w="22549104" h="694944">
                  <a:moveTo>
                    <a:pt x="0" y="0"/>
                  </a:moveTo>
                  <a:lnTo>
                    <a:pt x="22549104" y="0"/>
                  </a:lnTo>
                  <a:lnTo>
                    <a:pt x="22549104" y="694944"/>
                  </a:lnTo>
                  <a:lnTo>
                    <a:pt x="0" y="694944"/>
                  </a:lnTo>
                  <a:close/>
                </a:path>
              </a:pathLst>
            </a:custGeom>
            <a:blipFill>
              <a:blip r:embed="rId3">
                <a:alphaModFix amt="0"/>
              </a:blip>
              <a:stretch>
                <a:fillRect t="-582238" b="-582238"/>
              </a:stretch>
            </a:blipFill>
          </p:spPr>
        </p:sp>
        <p:sp>
          <p:nvSpPr>
            <p:cNvPr id="11" name="TextBox 11"/>
            <p:cNvSpPr txBox="1"/>
            <p:nvPr/>
          </p:nvSpPr>
          <p:spPr>
            <a:xfrm>
              <a:off x="0" y="9525"/>
              <a:ext cx="22549104" cy="685419"/>
            </a:xfrm>
            <a:prstGeom prst="rect">
              <a:avLst/>
            </a:prstGeom>
          </p:spPr>
          <p:txBody>
            <a:bodyPr lIns="0" tIns="0" rIns="0" bIns="0" rtlCol="0" anchor="ctr"/>
            <a:lstStyle/>
            <a:p>
              <a:pPr algn="l">
                <a:lnSpc>
                  <a:spcPts val="2340"/>
                </a:lnSpc>
              </a:pPr>
              <a:r>
                <a:rPr lang="en-US" sz="1950">
                  <a:solidFill>
                    <a:srgbClr val="DCEDFA"/>
                  </a:solidFill>
                  <a:latin typeface="DM Sans"/>
                  <a:ea typeface="DM Sans"/>
                  <a:cs typeface="DM Sans"/>
                  <a:sym typeface="DM Sans"/>
                </a:rPr>
                <a:t>Data-driven insights for investors, managers and regulators</a:t>
              </a:r>
            </a:p>
          </p:txBody>
        </p:sp>
      </p:grpSp>
      <p:grpSp>
        <p:nvGrpSpPr>
          <p:cNvPr id="12" name="Group 12"/>
          <p:cNvGrpSpPr/>
          <p:nvPr/>
        </p:nvGrpSpPr>
        <p:grpSpPr>
          <a:xfrm>
            <a:off x="-9525" y="1499235"/>
            <a:ext cx="18302478" cy="73914"/>
            <a:chOff x="0" y="0"/>
            <a:chExt cx="24403304" cy="98552"/>
          </a:xfrm>
        </p:grpSpPr>
        <p:sp>
          <p:nvSpPr>
            <p:cNvPr id="13" name="Freeform 13"/>
            <p:cNvSpPr/>
            <p:nvPr/>
          </p:nvSpPr>
          <p:spPr>
            <a:xfrm>
              <a:off x="0" y="0"/>
              <a:ext cx="24403304" cy="98552"/>
            </a:xfrm>
            <a:custGeom>
              <a:avLst/>
              <a:gdLst/>
              <a:ahLst/>
              <a:cxnLst/>
              <a:rect l="l" t="t" r="r" b="b"/>
              <a:pathLst>
                <a:path w="24403304" h="98552">
                  <a:moveTo>
                    <a:pt x="0" y="0"/>
                  </a:moveTo>
                  <a:lnTo>
                    <a:pt x="24403304" y="0"/>
                  </a:lnTo>
                  <a:lnTo>
                    <a:pt x="24403304" y="98552"/>
                  </a:lnTo>
                  <a:lnTo>
                    <a:pt x="0" y="98552"/>
                  </a:lnTo>
                  <a:close/>
                </a:path>
              </a:pathLst>
            </a:custGeom>
            <a:solidFill>
              <a:srgbClr val="1565C0"/>
            </a:solidFill>
            <a:ln w="19050" cap="sq">
              <a:solidFill>
                <a:srgbClr val="1565C0"/>
              </a:solidFill>
              <a:prstDash val="solid"/>
              <a:miter/>
            </a:ln>
          </p:spPr>
        </p:sp>
      </p:grpSp>
      <p:grpSp>
        <p:nvGrpSpPr>
          <p:cNvPr id="14" name="Group 14"/>
          <p:cNvGrpSpPr/>
          <p:nvPr/>
        </p:nvGrpSpPr>
        <p:grpSpPr>
          <a:xfrm>
            <a:off x="392430" y="1906905"/>
            <a:ext cx="5711190" cy="3653790"/>
            <a:chOff x="0" y="0"/>
            <a:chExt cx="7614920" cy="4871720"/>
          </a:xfrm>
        </p:grpSpPr>
        <p:sp>
          <p:nvSpPr>
            <p:cNvPr id="15" name="Freeform 15"/>
            <p:cNvSpPr/>
            <p:nvPr/>
          </p:nvSpPr>
          <p:spPr>
            <a:xfrm>
              <a:off x="0" y="0"/>
              <a:ext cx="7614920" cy="4871720"/>
            </a:xfrm>
            <a:custGeom>
              <a:avLst/>
              <a:gdLst/>
              <a:ahLst/>
              <a:cxnLst/>
              <a:rect l="l" t="t" r="r" b="b"/>
              <a:pathLst>
                <a:path w="7614920" h="4871720">
                  <a:moveTo>
                    <a:pt x="0" y="147066"/>
                  </a:moveTo>
                  <a:cubicBezTo>
                    <a:pt x="0" y="65786"/>
                    <a:pt x="65786" y="0"/>
                    <a:pt x="147066" y="0"/>
                  </a:cubicBezTo>
                  <a:lnTo>
                    <a:pt x="7467854" y="0"/>
                  </a:lnTo>
                  <a:cubicBezTo>
                    <a:pt x="7549135" y="0"/>
                    <a:pt x="7614920" y="65786"/>
                    <a:pt x="7614920" y="147066"/>
                  </a:cubicBezTo>
                  <a:lnTo>
                    <a:pt x="7614920" y="4724654"/>
                  </a:lnTo>
                  <a:cubicBezTo>
                    <a:pt x="7614920" y="4805934"/>
                    <a:pt x="7549135" y="4871720"/>
                    <a:pt x="7467854" y="4871720"/>
                  </a:cubicBezTo>
                  <a:lnTo>
                    <a:pt x="147066" y="4871720"/>
                  </a:lnTo>
                  <a:cubicBezTo>
                    <a:pt x="65786" y="4871720"/>
                    <a:pt x="0" y="4805934"/>
                    <a:pt x="0" y="4724654"/>
                  </a:cubicBezTo>
                  <a:close/>
                </a:path>
              </a:pathLst>
            </a:custGeom>
            <a:solidFill>
              <a:srgbClr val="EBF4FF"/>
            </a:solidFill>
            <a:ln w="19050" cap="sq">
              <a:solidFill>
                <a:srgbClr val="BEE3F8"/>
              </a:solidFill>
              <a:prstDash val="solid"/>
              <a:miter/>
            </a:ln>
          </p:spPr>
        </p:sp>
      </p:grpSp>
      <p:grpSp>
        <p:nvGrpSpPr>
          <p:cNvPr id="16" name="Group 16"/>
          <p:cNvGrpSpPr/>
          <p:nvPr/>
        </p:nvGrpSpPr>
        <p:grpSpPr>
          <a:xfrm>
            <a:off x="392430" y="1906905"/>
            <a:ext cx="567690" cy="3653790"/>
            <a:chOff x="0" y="0"/>
            <a:chExt cx="756920" cy="4871720"/>
          </a:xfrm>
        </p:grpSpPr>
        <p:sp>
          <p:nvSpPr>
            <p:cNvPr id="17" name="Freeform 17"/>
            <p:cNvSpPr/>
            <p:nvPr/>
          </p:nvSpPr>
          <p:spPr>
            <a:xfrm>
              <a:off x="0" y="0"/>
              <a:ext cx="756920" cy="4871720"/>
            </a:xfrm>
            <a:custGeom>
              <a:avLst/>
              <a:gdLst/>
              <a:ahLst/>
              <a:cxnLst/>
              <a:rect l="l" t="t" r="r" b="b"/>
              <a:pathLst>
                <a:path w="756920" h="4871720">
                  <a:moveTo>
                    <a:pt x="0" y="0"/>
                  </a:moveTo>
                  <a:lnTo>
                    <a:pt x="756920" y="0"/>
                  </a:lnTo>
                  <a:lnTo>
                    <a:pt x="756920" y="4871720"/>
                  </a:lnTo>
                  <a:lnTo>
                    <a:pt x="0" y="4871720"/>
                  </a:lnTo>
                  <a:close/>
                </a:path>
              </a:pathLst>
            </a:custGeom>
            <a:solidFill>
              <a:srgbClr val="1565C0"/>
            </a:solidFill>
            <a:ln w="19050" cap="sq">
              <a:solidFill>
                <a:srgbClr val="1565C0"/>
              </a:solidFill>
              <a:prstDash val="solid"/>
              <a:miter/>
            </a:ln>
          </p:spPr>
        </p:sp>
      </p:grpSp>
      <p:grpSp>
        <p:nvGrpSpPr>
          <p:cNvPr id="18" name="Group 18"/>
          <p:cNvGrpSpPr/>
          <p:nvPr/>
        </p:nvGrpSpPr>
        <p:grpSpPr>
          <a:xfrm>
            <a:off x="1186434" y="2721864"/>
            <a:ext cx="4663440" cy="2150154"/>
            <a:chOff x="0" y="0"/>
            <a:chExt cx="6217920" cy="2866873"/>
          </a:xfrm>
        </p:grpSpPr>
        <p:sp>
          <p:nvSpPr>
            <p:cNvPr id="19" name="Freeform 19"/>
            <p:cNvSpPr/>
            <p:nvPr/>
          </p:nvSpPr>
          <p:spPr>
            <a:xfrm>
              <a:off x="0" y="0"/>
              <a:ext cx="6217920" cy="2866873"/>
            </a:xfrm>
            <a:custGeom>
              <a:avLst/>
              <a:gdLst/>
              <a:ahLst/>
              <a:cxnLst/>
              <a:rect l="l" t="t" r="r" b="b"/>
              <a:pathLst>
                <a:path w="6217920" h="2866873">
                  <a:moveTo>
                    <a:pt x="0" y="0"/>
                  </a:moveTo>
                  <a:lnTo>
                    <a:pt x="6217920" y="0"/>
                  </a:lnTo>
                  <a:lnTo>
                    <a:pt x="6217920" y="2866873"/>
                  </a:lnTo>
                  <a:lnTo>
                    <a:pt x="0" y="2866873"/>
                  </a:lnTo>
                  <a:close/>
                </a:path>
              </a:pathLst>
            </a:custGeom>
            <a:blipFill>
              <a:blip r:embed="rId3">
                <a:alphaModFix amt="0"/>
              </a:blip>
              <a:stretch>
                <a:fillRect l="-2830" r="-2830" b="10692"/>
              </a:stretch>
            </a:blipFill>
          </p:spPr>
        </p:sp>
        <p:sp>
          <p:nvSpPr>
            <p:cNvPr id="20" name="TextBox 20"/>
            <p:cNvSpPr txBox="1"/>
            <p:nvPr/>
          </p:nvSpPr>
          <p:spPr>
            <a:xfrm>
              <a:off x="0" y="0"/>
              <a:ext cx="6217920" cy="2866873"/>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Monthly SIP inflows reached ₹31,002 Cr (Dec 2025), up 2.2× from ₹13,856 Cr in Jan 2023, highlighting strong retail participation and confidence in systematic investing.</a:t>
              </a:r>
            </a:p>
            <a:p>
              <a:pPr algn="l">
                <a:lnSpc>
                  <a:spcPts val="1709"/>
                </a:lnSpc>
              </a:pPr>
              <a:endParaRPr lang="en-US" sz="1425">
                <a:solidFill>
                  <a:srgbClr val="4A5568"/>
                </a:solidFill>
                <a:latin typeface="DM Sans"/>
                <a:ea typeface="DM Sans"/>
                <a:cs typeface="DM Sans"/>
                <a:sym typeface="DM Sans"/>
              </a:endParaRPr>
            </a:p>
            <a:p>
              <a:pPr algn="l">
                <a:lnSpc>
                  <a:spcPts val="1709"/>
                </a:lnSpc>
              </a:pPr>
              <a:r>
                <a:rPr lang="en-US" sz="1425" b="1">
                  <a:solidFill>
                    <a:srgbClr val="4A5568"/>
                  </a:solidFill>
                  <a:latin typeface="DM Sans Bold"/>
                  <a:ea typeface="DM Sans Bold"/>
                  <a:cs typeface="DM Sans Bold"/>
                  <a:sym typeface="DM Sans Bold"/>
                </a:rPr>
                <a:t>Recommendation:</a:t>
              </a:r>
            </a:p>
            <a:p>
              <a:pPr algn="l">
                <a:lnSpc>
                  <a:spcPts val="1709"/>
                </a:lnSpc>
              </a:pPr>
              <a:r>
                <a:rPr lang="en-US" sz="1425">
                  <a:solidFill>
                    <a:srgbClr val="4A5568"/>
                  </a:solidFill>
                  <a:latin typeface="DM Sans"/>
                  <a:ea typeface="DM Sans"/>
                  <a:cs typeface="DM Sans"/>
                  <a:sym typeface="DM Sans"/>
                </a:rPr>
                <a:t>AMCs should continue expanding digital SIP onboarding, financial literacy campaigns, and goal-based investing tools to sustain growth momentum.</a:t>
              </a:r>
            </a:p>
            <a:p>
              <a:pPr algn="l">
                <a:lnSpc>
                  <a:spcPts val="1709"/>
                </a:lnSpc>
              </a:pPr>
              <a:endParaRPr lang="en-US" sz="1425">
                <a:solidFill>
                  <a:srgbClr val="4A5568"/>
                </a:solidFill>
                <a:latin typeface="DM Sans"/>
                <a:ea typeface="DM Sans"/>
                <a:cs typeface="DM Sans"/>
                <a:sym typeface="DM Sans"/>
              </a:endParaRPr>
            </a:p>
          </p:txBody>
        </p:sp>
      </p:grpSp>
      <p:grpSp>
        <p:nvGrpSpPr>
          <p:cNvPr id="21" name="Group 21"/>
          <p:cNvGrpSpPr/>
          <p:nvPr/>
        </p:nvGrpSpPr>
        <p:grpSpPr>
          <a:xfrm>
            <a:off x="6345174" y="1906905"/>
            <a:ext cx="5711190" cy="3653790"/>
            <a:chOff x="0" y="0"/>
            <a:chExt cx="7614920" cy="4871720"/>
          </a:xfrm>
        </p:grpSpPr>
        <p:sp>
          <p:nvSpPr>
            <p:cNvPr id="22" name="Freeform 22"/>
            <p:cNvSpPr/>
            <p:nvPr/>
          </p:nvSpPr>
          <p:spPr>
            <a:xfrm>
              <a:off x="0" y="0"/>
              <a:ext cx="7614920" cy="4871720"/>
            </a:xfrm>
            <a:custGeom>
              <a:avLst/>
              <a:gdLst/>
              <a:ahLst/>
              <a:cxnLst/>
              <a:rect l="l" t="t" r="r" b="b"/>
              <a:pathLst>
                <a:path w="7614920" h="4871720">
                  <a:moveTo>
                    <a:pt x="0" y="147066"/>
                  </a:moveTo>
                  <a:cubicBezTo>
                    <a:pt x="0" y="65786"/>
                    <a:pt x="65786" y="0"/>
                    <a:pt x="147066" y="0"/>
                  </a:cubicBezTo>
                  <a:lnTo>
                    <a:pt x="7467854" y="0"/>
                  </a:lnTo>
                  <a:cubicBezTo>
                    <a:pt x="7549135" y="0"/>
                    <a:pt x="7614920" y="65786"/>
                    <a:pt x="7614920" y="147066"/>
                  </a:cubicBezTo>
                  <a:lnTo>
                    <a:pt x="7614920" y="4724654"/>
                  </a:lnTo>
                  <a:cubicBezTo>
                    <a:pt x="7614920" y="4805934"/>
                    <a:pt x="7549135" y="4871720"/>
                    <a:pt x="7467854" y="4871720"/>
                  </a:cubicBezTo>
                  <a:lnTo>
                    <a:pt x="147066" y="4871720"/>
                  </a:lnTo>
                  <a:cubicBezTo>
                    <a:pt x="65786" y="4871720"/>
                    <a:pt x="0" y="4805934"/>
                    <a:pt x="0" y="4724654"/>
                  </a:cubicBezTo>
                  <a:close/>
                </a:path>
              </a:pathLst>
            </a:custGeom>
            <a:solidFill>
              <a:srgbClr val="EBF4FF"/>
            </a:solidFill>
            <a:ln w="19050" cap="sq">
              <a:solidFill>
                <a:srgbClr val="BEE3F8"/>
              </a:solidFill>
              <a:prstDash val="solid"/>
              <a:miter/>
            </a:ln>
          </p:spPr>
        </p:sp>
      </p:grpSp>
      <p:grpSp>
        <p:nvGrpSpPr>
          <p:cNvPr id="23" name="Group 23"/>
          <p:cNvGrpSpPr/>
          <p:nvPr/>
        </p:nvGrpSpPr>
        <p:grpSpPr>
          <a:xfrm>
            <a:off x="6345174" y="1906905"/>
            <a:ext cx="567690" cy="3653790"/>
            <a:chOff x="0" y="0"/>
            <a:chExt cx="756920" cy="4871720"/>
          </a:xfrm>
        </p:grpSpPr>
        <p:sp>
          <p:nvSpPr>
            <p:cNvPr id="24" name="Freeform 24"/>
            <p:cNvSpPr/>
            <p:nvPr/>
          </p:nvSpPr>
          <p:spPr>
            <a:xfrm>
              <a:off x="0" y="0"/>
              <a:ext cx="756920" cy="4871720"/>
            </a:xfrm>
            <a:custGeom>
              <a:avLst/>
              <a:gdLst/>
              <a:ahLst/>
              <a:cxnLst/>
              <a:rect l="l" t="t" r="r" b="b"/>
              <a:pathLst>
                <a:path w="756920" h="4871720">
                  <a:moveTo>
                    <a:pt x="0" y="0"/>
                  </a:moveTo>
                  <a:lnTo>
                    <a:pt x="756920" y="0"/>
                  </a:lnTo>
                  <a:lnTo>
                    <a:pt x="756920" y="4871720"/>
                  </a:lnTo>
                  <a:lnTo>
                    <a:pt x="0" y="4871720"/>
                  </a:lnTo>
                  <a:close/>
                </a:path>
              </a:pathLst>
            </a:custGeom>
            <a:solidFill>
              <a:srgbClr val="2E7D32"/>
            </a:solidFill>
            <a:ln w="19050" cap="sq">
              <a:solidFill>
                <a:srgbClr val="2E7D32"/>
              </a:solidFill>
              <a:prstDash val="solid"/>
              <a:miter/>
            </a:ln>
          </p:spPr>
        </p:sp>
      </p:grpSp>
      <p:grpSp>
        <p:nvGrpSpPr>
          <p:cNvPr id="25" name="Group 25"/>
          <p:cNvGrpSpPr/>
          <p:nvPr/>
        </p:nvGrpSpPr>
        <p:grpSpPr>
          <a:xfrm>
            <a:off x="7135749" y="2721864"/>
            <a:ext cx="4663440" cy="1940604"/>
            <a:chOff x="0" y="0"/>
            <a:chExt cx="6217920" cy="2587473"/>
          </a:xfrm>
        </p:grpSpPr>
        <p:sp>
          <p:nvSpPr>
            <p:cNvPr id="26" name="Freeform 26"/>
            <p:cNvSpPr/>
            <p:nvPr/>
          </p:nvSpPr>
          <p:spPr>
            <a:xfrm>
              <a:off x="0" y="0"/>
              <a:ext cx="6217920" cy="2587473"/>
            </a:xfrm>
            <a:custGeom>
              <a:avLst/>
              <a:gdLst/>
              <a:ahLst/>
              <a:cxnLst/>
              <a:rect l="l" t="t" r="r" b="b"/>
              <a:pathLst>
                <a:path w="6217920" h="2587473">
                  <a:moveTo>
                    <a:pt x="0" y="0"/>
                  </a:moveTo>
                  <a:lnTo>
                    <a:pt x="6217920" y="0"/>
                  </a:lnTo>
                  <a:lnTo>
                    <a:pt x="6217920" y="2587473"/>
                  </a:lnTo>
                  <a:lnTo>
                    <a:pt x="0" y="2587473"/>
                  </a:lnTo>
                  <a:close/>
                </a:path>
              </a:pathLst>
            </a:custGeom>
            <a:blipFill>
              <a:blip r:embed="rId3">
                <a:alphaModFix amt="0"/>
              </a:blip>
              <a:stretch>
                <a:fillRect l="-2830" r="-2830" b="1049"/>
              </a:stretch>
            </a:blipFill>
          </p:spPr>
        </p:sp>
        <p:sp>
          <p:nvSpPr>
            <p:cNvPr id="27" name="TextBox 27"/>
            <p:cNvSpPr txBox="1"/>
            <p:nvPr/>
          </p:nvSpPr>
          <p:spPr>
            <a:xfrm>
              <a:off x="0" y="0"/>
              <a:ext cx="6217920" cy="2587473"/>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Industry AUM reached ₹62.74 Lakh Cr, while folios doubled from 13.26 Cr to 26.12 Cr (18% CAGR), indicating broadening mutual fund adoption.</a:t>
              </a:r>
            </a:p>
            <a:p>
              <a:pPr algn="l">
                <a:lnSpc>
                  <a:spcPts val="1709"/>
                </a:lnSpc>
              </a:pPr>
              <a:endParaRPr lang="en-US" sz="1425">
                <a:solidFill>
                  <a:srgbClr val="4A5568"/>
                </a:solidFill>
                <a:latin typeface="DM Sans"/>
                <a:ea typeface="DM Sans"/>
                <a:cs typeface="DM Sans"/>
                <a:sym typeface="DM Sans"/>
              </a:endParaRPr>
            </a:p>
            <a:p>
              <a:pPr algn="l">
                <a:lnSpc>
                  <a:spcPts val="1709"/>
                </a:lnSpc>
              </a:pPr>
              <a:r>
                <a:rPr lang="en-US" sz="1425" b="1">
                  <a:solidFill>
                    <a:srgbClr val="4A5568"/>
                  </a:solidFill>
                  <a:latin typeface="DM Sans Bold"/>
                  <a:ea typeface="DM Sans Bold"/>
                  <a:cs typeface="DM Sans Bold"/>
                  <a:sym typeface="DM Sans Bold"/>
                </a:rPr>
                <a:t>Recommendation:</a:t>
              </a:r>
            </a:p>
            <a:p>
              <a:pPr algn="l">
                <a:lnSpc>
                  <a:spcPts val="1709"/>
                </a:lnSpc>
              </a:pPr>
              <a:r>
                <a:rPr lang="en-US" sz="1425">
                  <a:solidFill>
                    <a:srgbClr val="4A5568"/>
                  </a:solidFill>
                  <a:latin typeface="DM Sans"/>
                  <a:ea typeface="DM Sans"/>
                  <a:cs typeface="DM Sans"/>
                  <a:sym typeface="DM Sans"/>
                </a:rPr>
                <a:t>Fund houses should focus on investor retention and personalized engagement strategies to convert first-time investors into long-term wealth creators.</a:t>
              </a:r>
            </a:p>
            <a:p>
              <a:pPr algn="l">
                <a:lnSpc>
                  <a:spcPts val="1709"/>
                </a:lnSpc>
              </a:pPr>
              <a:endParaRPr lang="en-US" sz="1425">
                <a:solidFill>
                  <a:srgbClr val="4A5568"/>
                </a:solidFill>
                <a:latin typeface="DM Sans"/>
                <a:ea typeface="DM Sans"/>
                <a:cs typeface="DM Sans"/>
                <a:sym typeface="DM Sans"/>
              </a:endParaRPr>
            </a:p>
          </p:txBody>
        </p:sp>
      </p:grpSp>
      <p:grpSp>
        <p:nvGrpSpPr>
          <p:cNvPr id="28" name="Group 28"/>
          <p:cNvGrpSpPr/>
          <p:nvPr/>
        </p:nvGrpSpPr>
        <p:grpSpPr>
          <a:xfrm>
            <a:off x="12297918" y="1906905"/>
            <a:ext cx="5711190" cy="3653790"/>
            <a:chOff x="0" y="0"/>
            <a:chExt cx="7614920" cy="4871720"/>
          </a:xfrm>
        </p:grpSpPr>
        <p:sp>
          <p:nvSpPr>
            <p:cNvPr id="29" name="Freeform 29"/>
            <p:cNvSpPr/>
            <p:nvPr/>
          </p:nvSpPr>
          <p:spPr>
            <a:xfrm>
              <a:off x="0" y="0"/>
              <a:ext cx="7614920" cy="4871720"/>
            </a:xfrm>
            <a:custGeom>
              <a:avLst/>
              <a:gdLst/>
              <a:ahLst/>
              <a:cxnLst/>
              <a:rect l="l" t="t" r="r" b="b"/>
              <a:pathLst>
                <a:path w="7614920" h="4871720">
                  <a:moveTo>
                    <a:pt x="0" y="147066"/>
                  </a:moveTo>
                  <a:cubicBezTo>
                    <a:pt x="0" y="65786"/>
                    <a:pt x="65786" y="0"/>
                    <a:pt x="147066" y="0"/>
                  </a:cubicBezTo>
                  <a:lnTo>
                    <a:pt x="7467854" y="0"/>
                  </a:lnTo>
                  <a:cubicBezTo>
                    <a:pt x="7549135" y="0"/>
                    <a:pt x="7614920" y="65786"/>
                    <a:pt x="7614920" y="147066"/>
                  </a:cubicBezTo>
                  <a:lnTo>
                    <a:pt x="7614920" y="4724654"/>
                  </a:lnTo>
                  <a:cubicBezTo>
                    <a:pt x="7614920" y="4805934"/>
                    <a:pt x="7549135" y="4871720"/>
                    <a:pt x="7467854" y="4871720"/>
                  </a:cubicBezTo>
                  <a:lnTo>
                    <a:pt x="147066" y="4871720"/>
                  </a:lnTo>
                  <a:cubicBezTo>
                    <a:pt x="65786" y="4871720"/>
                    <a:pt x="0" y="4805934"/>
                    <a:pt x="0" y="4724654"/>
                  </a:cubicBezTo>
                  <a:close/>
                </a:path>
              </a:pathLst>
            </a:custGeom>
            <a:solidFill>
              <a:srgbClr val="EBF4FF"/>
            </a:solidFill>
            <a:ln w="19050" cap="sq">
              <a:solidFill>
                <a:srgbClr val="BEE3F8"/>
              </a:solidFill>
              <a:prstDash val="solid"/>
              <a:miter/>
            </a:ln>
          </p:spPr>
        </p:sp>
      </p:grpSp>
      <p:grpSp>
        <p:nvGrpSpPr>
          <p:cNvPr id="30" name="Group 30"/>
          <p:cNvGrpSpPr/>
          <p:nvPr/>
        </p:nvGrpSpPr>
        <p:grpSpPr>
          <a:xfrm>
            <a:off x="12297918" y="1906905"/>
            <a:ext cx="567690" cy="3653790"/>
            <a:chOff x="0" y="0"/>
            <a:chExt cx="756920" cy="4871720"/>
          </a:xfrm>
        </p:grpSpPr>
        <p:sp>
          <p:nvSpPr>
            <p:cNvPr id="31" name="Freeform 31"/>
            <p:cNvSpPr/>
            <p:nvPr/>
          </p:nvSpPr>
          <p:spPr>
            <a:xfrm>
              <a:off x="0" y="0"/>
              <a:ext cx="756920" cy="4871720"/>
            </a:xfrm>
            <a:custGeom>
              <a:avLst/>
              <a:gdLst/>
              <a:ahLst/>
              <a:cxnLst/>
              <a:rect l="l" t="t" r="r" b="b"/>
              <a:pathLst>
                <a:path w="756920" h="4871720">
                  <a:moveTo>
                    <a:pt x="0" y="0"/>
                  </a:moveTo>
                  <a:lnTo>
                    <a:pt x="756920" y="0"/>
                  </a:lnTo>
                  <a:lnTo>
                    <a:pt x="756920" y="4871720"/>
                  </a:lnTo>
                  <a:lnTo>
                    <a:pt x="0" y="4871720"/>
                  </a:lnTo>
                  <a:close/>
                </a:path>
              </a:pathLst>
            </a:custGeom>
            <a:solidFill>
              <a:srgbClr val="E65100"/>
            </a:solidFill>
            <a:ln w="19050" cap="sq">
              <a:solidFill>
                <a:srgbClr val="E65100"/>
              </a:solidFill>
              <a:prstDash val="solid"/>
              <a:miter/>
            </a:ln>
          </p:spPr>
        </p:sp>
      </p:grpSp>
      <p:grpSp>
        <p:nvGrpSpPr>
          <p:cNvPr id="32" name="Group 32"/>
          <p:cNvGrpSpPr/>
          <p:nvPr/>
        </p:nvGrpSpPr>
        <p:grpSpPr>
          <a:xfrm>
            <a:off x="1186434" y="1983702"/>
            <a:ext cx="4663440" cy="617220"/>
            <a:chOff x="0" y="0"/>
            <a:chExt cx="6217920" cy="822960"/>
          </a:xfrm>
        </p:grpSpPr>
        <p:sp>
          <p:nvSpPr>
            <p:cNvPr id="33" name="Freeform 33"/>
            <p:cNvSpPr/>
            <p:nvPr/>
          </p:nvSpPr>
          <p:spPr>
            <a:xfrm>
              <a:off x="0" y="0"/>
              <a:ext cx="6217920" cy="822960"/>
            </a:xfrm>
            <a:custGeom>
              <a:avLst/>
              <a:gdLst/>
              <a:ahLst/>
              <a:cxnLst/>
              <a:rect l="l" t="t" r="r" b="b"/>
              <a:pathLst>
                <a:path w="6217920" h="822960">
                  <a:moveTo>
                    <a:pt x="0" y="0"/>
                  </a:moveTo>
                  <a:lnTo>
                    <a:pt x="6217920" y="0"/>
                  </a:lnTo>
                  <a:lnTo>
                    <a:pt x="6217920" y="822960"/>
                  </a:lnTo>
                  <a:lnTo>
                    <a:pt x="0" y="822960"/>
                  </a:lnTo>
                  <a:close/>
                </a:path>
              </a:pathLst>
            </a:custGeom>
            <a:blipFill>
              <a:blip r:embed="rId3">
                <a:alphaModFix amt="0"/>
              </a:blip>
              <a:stretch>
                <a:fillRect t="-97220" b="-97220"/>
              </a:stretch>
            </a:blipFill>
          </p:spPr>
        </p:sp>
        <p:sp>
          <p:nvSpPr>
            <p:cNvPr id="34" name="TextBox 34"/>
            <p:cNvSpPr txBox="1"/>
            <p:nvPr/>
          </p:nvSpPr>
          <p:spPr>
            <a:xfrm>
              <a:off x="0" y="0"/>
              <a:ext cx="6217920" cy="822960"/>
            </a:xfrm>
            <a:prstGeom prst="rect">
              <a:avLst/>
            </a:prstGeom>
          </p:spPr>
          <p:txBody>
            <a:bodyPr lIns="0" tIns="0" rIns="0" bIns="0" rtlCol="0" anchor="ctr"/>
            <a:lstStyle/>
            <a:p>
              <a:pPr algn="l">
                <a:lnSpc>
                  <a:spcPts val="2399"/>
                </a:lnSpc>
              </a:pPr>
              <a:r>
                <a:rPr lang="en-US" sz="1999" b="1">
                  <a:solidFill>
                    <a:srgbClr val="1565C0"/>
                  </a:solidFill>
                  <a:latin typeface="DM Sans Bold"/>
                  <a:ea typeface="DM Sans Bold"/>
                  <a:cs typeface="DM Sans Bold"/>
                  <a:sym typeface="DM Sans Bold"/>
                </a:rPr>
                <a:t>SIP Growth</a:t>
              </a:r>
            </a:p>
          </p:txBody>
        </p:sp>
      </p:grpSp>
      <p:grpSp>
        <p:nvGrpSpPr>
          <p:cNvPr id="35" name="Group 35"/>
          <p:cNvGrpSpPr/>
          <p:nvPr/>
        </p:nvGrpSpPr>
        <p:grpSpPr>
          <a:xfrm>
            <a:off x="7135749" y="1811045"/>
            <a:ext cx="4663440" cy="962533"/>
            <a:chOff x="0" y="0"/>
            <a:chExt cx="6217920" cy="1283377"/>
          </a:xfrm>
        </p:grpSpPr>
        <p:sp>
          <p:nvSpPr>
            <p:cNvPr id="36" name="Freeform 36"/>
            <p:cNvSpPr/>
            <p:nvPr/>
          </p:nvSpPr>
          <p:spPr>
            <a:xfrm>
              <a:off x="0" y="0"/>
              <a:ext cx="6217920" cy="1283377"/>
            </a:xfrm>
            <a:custGeom>
              <a:avLst/>
              <a:gdLst/>
              <a:ahLst/>
              <a:cxnLst/>
              <a:rect l="l" t="t" r="r" b="b"/>
              <a:pathLst>
                <a:path w="6217920" h="1283377">
                  <a:moveTo>
                    <a:pt x="0" y="0"/>
                  </a:moveTo>
                  <a:lnTo>
                    <a:pt x="6217920" y="0"/>
                  </a:lnTo>
                  <a:lnTo>
                    <a:pt x="6217920" y="1283377"/>
                  </a:lnTo>
                  <a:lnTo>
                    <a:pt x="0" y="1283377"/>
                  </a:lnTo>
                  <a:close/>
                </a:path>
              </a:pathLst>
            </a:custGeom>
            <a:blipFill>
              <a:blip r:embed="rId3">
                <a:alphaModFix amt="0"/>
              </a:blip>
              <a:stretch>
                <a:fillRect t="-62342" b="-26466"/>
              </a:stretch>
            </a:blipFill>
          </p:spPr>
        </p:sp>
        <p:sp>
          <p:nvSpPr>
            <p:cNvPr id="37" name="TextBox 37"/>
            <p:cNvSpPr txBox="1"/>
            <p:nvPr/>
          </p:nvSpPr>
          <p:spPr>
            <a:xfrm>
              <a:off x="0" y="0"/>
              <a:ext cx="6217920" cy="1283377"/>
            </a:xfrm>
            <a:prstGeom prst="rect">
              <a:avLst/>
            </a:prstGeom>
          </p:spPr>
          <p:txBody>
            <a:bodyPr lIns="0" tIns="0" rIns="0" bIns="0" rtlCol="0" anchor="ctr"/>
            <a:lstStyle/>
            <a:p>
              <a:pPr algn="l">
                <a:lnSpc>
                  <a:spcPts val="2399"/>
                </a:lnSpc>
              </a:pPr>
              <a:r>
                <a:rPr lang="en-US" sz="1999" b="1">
                  <a:solidFill>
                    <a:srgbClr val="2E7D32"/>
                  </a:solidFill>
                  <a:latin typeface="DM Sans Bold"/>
                  <a:ea typeface="DM Sans Bold"/>
                  <a:cs typeface="DM Sans Bold"/>
                  <a:sym typeface="DM Sans Bold"/>
                </a:rPr>
                <a:t>Industry Expansion</a:t>
              </a:r>
            </a:p>
          </p:txBody>
        </p:sp>
      </p:grpSp>
      <p:grpSp>
        <p:nvGrpSpPr>
          <p:cNvPr id="38" name="Group 38"/>
          <p:cNvGrpSpPr/>
          <p:nvPr/>
        </p:nvGrpSpPr>
        <p:grpSpPr>
          <a:xfrm>
            <a:off x="13088493" y="1811045"/>
            <a:ext cx="4663440" cy="962533"/>
            <a:chOff x="0" y="0"/>
            <a:chExt cx="6217920" cy="1283377"/>
          </a:xfrm>
        </p:grpSpPr>
        <p:sp>
          <p:nvSpPr>
            <p:cNvPr id="39" name="Freeform 39"/>
            <p:cNvSpPr/>
            <p:nvPr/>
          </p:nvSpPr>
          <p:spPr>
            <a:xfrm>
              <a:off x="0" y="0"/>
              <a:ext cx="6217920" cy="1283377"/>
            </a:xfrm>
            <a:custGeom>
              <a:avLst/>
              <a:gdLst/>
              <a:ahLst/>
              <a:cxnLst/>
              <a:rect l="l" t="t" r="r" b="b"/>
              <a:pathLst>
                <a:path w="6217920" h="1283377">
                  <a:moveTo>
                    <a:pt x="0" y="0"/>
                  </a:moveTo>
                  <a:lnTo>
                    <a:pt x="6217920" y="0"/>
                  </a:lnTo>
                  <a:lnTo>
                    <a:pt x="6217920" y="1283377"/>
                  </a:lnTo>
                  <a:lnTo>
                    <a:pt x="0" y="1283377"/>
                  </a:lnTo>
                  <a:close/>
                </a:path>
              </a:pathLst>
            </a:custGeom>
            <a:blipFill>
              <a:blip r:embed="rId3">
                <a:alphaModFix amt="0"/>
              </a:blip>
              <a:stretch>
                <a:fillRect t="-62342" b="-26466"/>
              </a:stretch>
            </a:blipFill>
          </p:spPr>
        </p:sp>
        <p:sp>
          <p:nvSpPr>
            <p:cNvPr id="40" name="TextBox 40"/>
            <p:cNvSpPr txBox="1"/>
            <p:nvPr/>
          </p:nvSpPr>
          <p:spPr>
            <a:xfrm>
              <a:off x="0" y="0"/>
              <a:ext cx="6217920" cy="1283377"/>
            </a:xfrm>
            <a:prstGeom prst="rect">
              <a:avLst/>
            </a:prstGeom>
          </p:spPr>
          <p:txBody>
            <a:bodyPr lIns="0" tIns="0" rIns="0" bIns="0" rtlCol="0" anchor="ctr"/>
            <a:lstStyle/>
            <a:p>
              <a:pPr algn="l">
                <a:lnSpc>
                  <a:spcPts val="2399"/>
                </a:lnSpc>
              </a:pPr>
              <a:endParaRPr/>
            </a:p>
            <a:p>
              <a:pPr algn="l">
                <a:lnSpc>
                  <a:spcPts val="2399"/>
                </a:lnSpc>
              </a:pPr>
              <a:r>
                <a:rPr lang="en-US" sz="1999" b="1">
                  <a:solidFill>
                    <a:srgbClr val="E65100"/>
                  </a:solidFill>
                  <a:latin typeface="DM Sans Bold"/>
                  <a:ea typeface="DM Sans Bold"/>
                  <a:cs typeface="DM Sans Bold"/>
                  <a:sym typeface="DM Sans Bold"/>
                </a:rPr>
                <a:t>Top Performer</a:t>
              </a:r>
            </a:p>
            <a:p>
              <a:pPr algn="l">
                <a:lnSpc>
                  <a:spcPts val="2399"/>
                </a:lnSpc>
              </a:pPr>
              <a:endParaRPr lang="en-US" sz="1999" b="1">
                <a:solidFill>
                  <a:srgbClr val="E65100"/>
                </a:solidFill>
                <a:latin typeface="DM Sans Bold"/>
                <a:ea typeface="DM Sans Bold"/>
                <a:cs typeface="DM Sans Bold"/>
                <a:sym typeface="DM Sans Bold"/>
              </a:endParaRPr>
            </a:p>
          </p:txBody>
        </p:sp>
      </p:grpSp>
      <p:grpSp>
        <p:nvGrpSpPr>
          <p:cNvPr id="41" name="Group 41"/>
          <p:cNvGrpSpPr/>
          <p:nvPr/>
        </p:nvGrpSpPr>
        <p:grpSpPr>
          <a:xfrm>
            <a:off x="13088493" y="2721864"/>
            <a:ext cx="4663440" cy="2359704"/>
            <a:chOff x="0" y="0"/>
            <a:chExt cx="6217920" cy="3146273"/>
          </a:xfrm>
        </p:grpSpPr>
        <p:sp>
          <p:nvSpPr>
            <p:cNvPr id="42" name="Freeform 42"/>
            <p:cNvSpPr/>
            <p:nvPr/>
          </p:nvSpPr>
          <p:spPr>
            <a:xfrm>
              <a:off x="0" y="0"/>
              <a:ext cx="6217920" cy="3146273"/>
            </a:xfrm>
            <a:custGeom>
              <a:avLst/>
              <a:gdLst/>
              <a:ahLst/>
              <a:cxnLst/>
              <a:rect l="l" t="t" r="r" b="b"/>
              <a:pathLst>
                <a:path w="6217920" h="3146273">
                  <a:moveTo>
                    <a:pt x="0" y="0"/>
                  </a:moveTo>
                  <a:lnTo>
                    <a:pt x="6217920" y="0"/>
                  </a:lnTo>
                  <a:lnTo>
                    <a:pt x="6217920" y="3146273"/>
                  </a:lnTo>
                  <a:lnTo>
                    <a:pt x="0" y="3146273"/>
                  </a:lnTo>
                  <a:close/>
                </a:path>
              </a:pathLst>
            </a:custGeom>
            <a:blipFill>
              <a:blip r:embed="rId3">
                <a:alphaModFix amt="0"/>
              </a:blip>
              <a:stretch>
                <a:fillRect l="-2830" r="-2830" b="18623"/>
              </a:stretch>
            </a:blipFill>
          </p:spPr>
        </p:sp>
        <p:sp>
          <p:nvSpPr>
            <p:cNvPr id="43" name="TextBox 43"/>
            <p:cNvSpPr txBox="1"/>
            <p:nvPr/>
          </p:nvSpPr>
          <p:spPr>
            <a:xfrm>
              <a:off x="0" y="0"/>
              <a:ext cx="6217920" cy="3146273"/>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Axis Midcap Fund delivered the highest 3-year CAGR (33.6%), while Mirae Asset Large Cap Fund achieved the best Sharpe Ratio (1.73), demonstrating that superior returns can be achieved without excessive risk.</a:t>
              </a:r>
            </a:p>
            <a:p>
              <a:pPr algn="l">
                <a:lnSpc>
                  <a:spcPts val="1709"/>
                </a:lnSpc>
              </a:pPr>
              <a:endParaRPr lang="en-US" sz="1425">
                <a:solidFill>
                  <a:srgbClr val="4A5568"/>
                </a:solidFill>
                <a:latin typeface="DM Sans"/>
                <a:ea typeface="DM Sans"/>
                <a:cs typeface="DM Sans"/>
                <a:sym typeface="DM Sans"/>
              </a:endParaRPr>
            </a:p>
            <a:p>
              <a:pPr algn="l">
                <a:lnSpc>
                  <a:spcPts val="1709"/>
                </a:lnSpc>
              </a:pPr>
              <a:r>
                <a:rPr lang="en-US" sz="1425" b="1">
                  <a:solidFill>
                    <a:srgbClr val="4A5568"/>
                  </a:solidFill>
                  <a:latin typeface="DM Sans Bold"/>
                  <a:ea typeface="DM Sans Bold"/>
                  <a:cs typeface="DM Sans Bold"/>
                  <a:sym typeface="DM Sans Bold"/>
                </a:rPr>
                <a:t>Recommendation:</a:t>
              </a:r>
            </a:p>
            <a:p>
              <a:pPr algn="l">
                <a:lnSpc>
                  <a:spcPts val="1709"/>
                </a:lnSpc>
              </a:pPr>
              <a:r>
                <a:rPr lang="en-US" sz="1425">
                  <a:solidFill>
                    <a:srgbClr val="4A5568"/>
                  </a:solidFill>
                  <a:latin typeface="DM Sans"/>
                  <a:ea typeface="DM Sans"/>
                  <a:cs typeface="DM Sans"/>
                  <a:sym typeface="DM Sans"/>
                </a:rPr>
                <a:t>Investors should evaluate both return and risk-adjusted performance metrics rather than relying solely on historical returns.</a:t>
              </a:r>
            </a:p>
            <a:p>
              <a:pPr algn="l">
                <a:lnSpc>
                  <a:spcPts val="1709"/>
                </a:lnSpc>
              </a:pPr>
              <a:endParaRPr lang="en-US" sz="1425">
                <a:solidFill>
                  <a:srgbClr val="4A5568"/>
                </a:solidFill>
                <a:latin typeface="DM Sans"/>
                <a:ea typeface="DM Sans"/>
                <a:cs typeface="DM Sans"/>
                <a:sym typeface="DM Sans"/>
              </a:endParaRPr>
            </a:p>
          </p:txBody>
        </p:sp>
      </p:grpSp>
      <p:grpSp>
        <p:nvGrpSpPr>
          <p:cNvPr id="44" name="Group 44"/>
          <p:cNvGrpSpPr/>
          <p:nvPr/>
        </p:nvGrpSpPr>
        <p:grpSpPr>
          <a:xfrm>
            <a:off x="392430" y="5815965"/>
            <a:ext cx="5711190" cy="3653790"/>
            <a:chOff x="0" y="0"/>
            <a:chExt cx="7614920" cy="4871720"/>
          </a:xfrm>
        </p:grpSpPr>
        <p:sp>
          <p:nvSpPr>
            <p:cNvPr id="45" name="Freeform 45"/>
            <p:cNvSpPr/>
            <p:nvPr/>
          </p:nvSpPr>
          <p:spPr>
            <a:xfrm>
              <a:off x="0" y="0"/>
              <a:ext cx="7614920" cy="4871720"/>
            </a:xfrm>
            <a:custGeom>
              <a:avLst/>
              <a:gdLst/>
              <a:ahLst/>
              <a:cxnLst/>
              <a:rect l="l" t="t" r="r" b="b"/>
              <a:pathLst>
                <a:path w="7614920" h="4871720">
                  <a:moveTo>
                    <a:pt x="0" y="147066"/>
                  </a:moveTo>
                  <a:cubicBezTo>
                    <a:pt x="0" y="65786"/>
                    <a:pt x="65786" y="0"/>
                    <a:pt x="147066" y="0"/>
                  </a:cubicBezTo>
                  <a:lnTo>
                    <a:pt x="7467854" y="0"/>
                  </a:lnTo>
                  <a:cubicBezTo>
                    <a:pt x="7549135" y="0"/>
                    <a:pt x="7614920" y="65786"/>
                    <a:pt x="7614920" y="147066"/>
                  </a:cubicBezTo>
                  <a:lnTo>
                    <a:pt x="7614920" y="4724654"/>
                  </a:lnTo>
                  <a:cubicBezTo>
                    <a:pt x="7614920" y="4805934"/>
                    <a:pt x="7549135" y="4871720"/>
                    <a:pt x="7467854" y="4871720"/>
                  </a:cubicBezTo>
                  <a:lnTo>
                    <a:pt x="147066" y="4871720"/>
                  </a:lnTo>
                  <a:cubicBezTo>
                    <a:pt x="65786" y="4871720"/>
                    <a:pt x="0" y="4805934"/>
                    <a:pt x="0" y="4724654"/>
                  </a:cubicBezTo>
                  <a:close/>
                </a:path>
              </a:pathLst>
            </a:custGeom>
            <a:solidFill>
              <a:srgbClr val="EBF4FF"/>
            </a:solidFill>
            <a:ln w="19050" cap="sq">
              <a:solidFill>
                <a:srgbClr val="BEE3F8"/>
              </a:solidFill>
              <a:prstDash val="solid"/>
              <a:miter/>
            </a:ln>
          </p:spPr>
        </p:sp>
      </p:grpSp>
      <p:grpSp>
        <p:nvGrpSpPr>
          <p:cNvPr id="46" name="Group 46"/>
          <p:cNvGrpSpPr/>
          <p:nvPr/>
        </p:nvGrpSpPr>
        <p:grpSpPr>
          <a:xfrm>
            <a:off x="392430" y="5815965"/>
            <a:ext cx="567690" cy="3653790"/>
            <a:chOff x="0" y="0"/>
            <a:chExt cx="756920" cy="4871720"/>
          </a:xfrm>
        </p:grpSpPr>
        <p:sp>
          <p:nvSpPr>
            <p:cNvPr id="47" name="Freeform 47"/>
            <p:cNvSpPr/>
            <p:nvPr/>
          </p:nvSpPr>
          <p:spPr>
            <a:xfrm>
              <a:off x="0" y="0"/>
              <a:ext cx="756920" cy="4871720"/>
            </a:xfrm>
            <a:custGeom>
              <a:avLst/>
              <a:gdLst/>
              <a:ahLst/>
              <a:cxnLst/>
              <a:rect l="l" t="t" r="r" b="b"/>
              <a:pathLst>
                <a:path w="756920" h="4871720">
                  <a:moveTo>
                    <a:pt x="0" y="0"/>
                  </a:moveTo>
                  <a:lnTo>
                    <a:pt x="756920" y="0"/>
                  </a:lnTo>
                  <a:lnTo>
                    <a:pt x="756920" y="4871720"/>
                  </a:lnTo>
                  <a:lnTo>
                    <a:pt x="0" y="4871720"/>
                  </a:lnTo>
                  <a:close/>
                </a:path>
              </a:pathLst>
            </a:custGeom>
            <a:solidFill>
              <a:srgbClr val="7B1FA2"/>
            </a:solidFill>
            <a:ln w="19050" cap="sq">
              <a:solidFill>
                <a:srgbClr val="7B1FA2"/>
              </a:solidFill>
              <a:prstDash val="solid"/>
              <a:miter/>
            </a:ln>
          </p:spPr>
        </p:sp>
      </p:grpSp>
      <p:grpSp>
        <p:nvGrpSpPr>
          <p:cNvPr id="48" name="Group 48"/>
          <p:cNvGrpSpPr/>
          <p:nvPr/>
        </p:nvGrpSpPr>
        <p:grpSpPr>
          <a:xfrm>
            <a:off x="1183005" y="5941924"/>
            <a:ext cx="4663440" cy="617220"/>
            <a:chOff x="0" y="0"/>
            <a:chExt cx="6217920" cy="822960"/>
          </a:xfrm>
        </p:grpSpPr>
        <p:sp>
          <p:nvSpPr>
            <p:cNvPr id="49" name="Freeform 49"/>
            <p:cNvSpPr/>
            <p:nvPr/>
          </p:nvSpPr>
          <p:spPr>
            <a:xfrm>
              <a:off x="0" y="0"/>
              <a:ext cx="6217920" cy="822960"/>
            </a:xfrm>
            <a:custGeom>
              <a:avLst/>
              <a:gdLst/>
              <a:ahLst/>
              <a:cxnLst/>
              <a:rect l="l" t="t" r="r" b="b"/>
              <a:pathLst>
                <a:path w="6217920" h="822960">
                  <a:moveTo>
                    <a:pt x="0" y="0"/>
                  </a:moveTo>
                  <a:lnTo>
                    <a:pt x="6217920" y="0"/>
                  </a:lnTo>
                  <a:lnTo>
                    <a:pt x="6217920" y="822960"/>
                  </a:lnTo>
                  <a:lnTo>
                    <a:pt x="0" y="822960"/>
                  </a:lnTo>
                  <a:close/>
                </a:path>
              </a:pathLst>
            </a:custGeom>
            <a:blipFill>
              <a:blip r:embed="rId3">
                <a:alphaModFix amt="0"/>
              </a:blip>
              <a:stretch>
                <a:fillRect t="-97220" b="-97220"/>
              </a:stretch>
            </a:blipFill>
          </p:spPr>
        </p:sp>
        <p:sp>
          <p:nvSpPr>
            <p:cNvPr id="50" name="TextBox 50"/>
            <p:cNvSpPr txBox="1"/>
            <p:nvPr/>
          </p:nvSpPr>
          <p:spPr>
            <a:xfrm>
              <a:off x="0" y="0"/>
              <a:ext cx="6217920" cy="822960"/>
            </a:xfrm>
            <a:prstGeom prst="rect">
              <a:avLst/>
            </a:prstGeom>
          </p:spPr>
          <p:txBody>
            <a:bodyPr lIns="0" tIns="0" rIns="0" bIns="0" rtlCol="0" anchor="ctr"/>
            <a:lstStyle/>
            <a:p>
              <a:pPr algn="l">
                <a:lnSpc>
                  <a:spcPts val="2160"/>
                </a:lnSpc>
              </a:pPr>
              <a:r>
                <a:rPr lang="en-US" sz="1800" b="1">
                  <a:solidFill>
                    <a:srgbClr val="7B1FA2"/>
                  </a:solidFill>
                  <a:latin typeface="DM Sans Bold"/>
                  <a:ea typeface="DM Sans Bold"/>
                  <a:cs typeface="DM Sans Bold"/>
                  <a:sym typeface="DM Sans Bold"/>
                </a:rPr>
                <a:t>Monte Carlo Outlook</a:t>
              </a:r>
            </a:p>
          </p:txBody>
        </p:sp>
      </p:grpSp>
      <p:grpSp>
        <p:nvGrpSpPr>
          <p:cNvPr id="51" name="Group 51"/>
          <p:cNvGrpSpPr/>
          <p:nvPr/>
        </p:nvGrpSpPr>
        <p:grpSpPr>
          <a:xfrm>
            <a:off x="1183005" y="6644869"/>
            <a:ext cx="4663440" cy="2359704"/>
            <a:chOff x="0" y="0"/>
            <a:chExt cx="6217920" cy="3146273"/>
          </a:xfrm>
        </p:grpSpPr>
        <p:sp>
          <p:nvSpPr>
            <p:cNvPr id="52" name="Freeform 52"/>
            <p:cNvSpPr/>
            <p:nvPr/>
          </p:nvSpPr>
          <p:spPr>
            <a:xfrm>
              <a:off x="0" y="0"/>
              <a:ext cx="6217920" cy="3146273"/>
            </a:xfrm>
            <a:custGeom>
              <a:avLst/>
              <a:gdLst/>
              <a:ahLst/>
              <a:cxnLst/>
              <a:rect l="l" t="t" r="r" b="b"/>
              <a:pathLst>
                <a:path w="6217920" h="3146273">
                  <a:moveTo>
                    <a:pt x="0" y="0"/>
                  </a:moveTo>
                  <a:lnTo>
                    <a:pt x="6217920" y="0"/>
                  </a:lnTo>
                  <a:lnTo>
                    <a:pt x="6217920" y="3146273"/>
                  </a:lnTo>
                  <a:lnTo>
                    <a:pt x="0" y="3146273"/>
                  </a:lnTo>
                  <a:close/>
                </a:path>
              </a:pathLst>
            </a:custGeom>
            <a:blipFill>
              <a:blip r:embed="rId3">
                <a:alphaModFix amt="0"/>
              </a:blip>
              <a:stretch>
                <a:fillRect l="-2830" r="-2830" b="18623"/>
              </a:stretch>
            </a:blipFill>
          </p:spPr>
        </p:sp>
        <p:sp>
          <p:nvSpPr>
            <p:cNvPr id="53" name="TextBox 53"/>
            <p:cNvSpPr txBox="1"/>
            <p:nvPr/>
          </p:nvSpPr>
          <p:spPr>
            <a:xfrm>
              <a:off x="0" y="0"/>
              <a:ext cx="6217920" cy="3146273"/>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Monte Carlo simulations project 25–32% median 5-year CAGR for leading equity funds, with ICICI Pru Midcap, SBI Small Cap, and DSP Small Cap leading projections.</a:t>
              </a:r>
            </a:p>
            <a:p>
              <a:pPr algn="l">
                <a:lnSpc>
                  <a:spcPts val="1709"/>
                </a:lnSpc>
              </a:pPr>
              <a:endParaRPr lang="en-US" sz="1425">
                <a:solidFill>
                  <a:srgbClr val="4A5568"/>
                </a:solidFill>
                <a:latin typeface="DM Sans"/>
                <a:ea typeface="DM Sans"/>
                <a:cs typeface="DM Sans"/>
                <a:sym typeface="DM Sans"/>
              </a:endParaRPr>
            </a:p>
            <a:p>
              <a:pPr algn="l">
                <a:lnSpc>
                  <a:spcPts val="1709"/>
                </a:lnSpc>
              </a:pPr>
              <a:r>
                <a:rPr lang="en-US" sz="1425" b="1">
                  <a:solidFill>
                    <a:srgbClr val="4A5568"/>
                  </a:solidFill>
                  <a:latin typeface="DM Sans Bold"/>
                  <a:ea typeface="DM Sans Bold"/>
                  <a:cs typeface="DM Sans Bold"/>
                  <a:sym typeface="DM Sans Bold"/>
                </a:rPr>
                <a:t>Recommendation:</a:t>
              </a:r>
            </a:p>
            <a:p>
              <a:pPr algn="l">
                <a:lnSpc>
                  <a:spcPts val="1709"/>
                </a:lnSpc>
              </a:pPr>
              <a:r>
                <a:rPr lang="en-US" sz="1425">
                  <a:solidFill>
                    <a:srgbClr val="4A5568"/>
                  </a:solidFill>
                  <a:latin typeface="DM Sans"/>
                  <a:ea typeface="DM Sans"/>
                  <a:cs typeface="DM Sans"/>
                  <a:sym typeface="DM Sans"/>
                </a:rPr>
                <a:t>Long-term investors should maintain disciplined SIPs in diversified equity portfolios to benefit from compounding and future market growth.</a:t>
              </a:r>
            </a:p>
            <a:p>
              <a:pPr algn="l">
                <a:lnSpc>
                  <a:spcPts val="1709"/>
                </a:lnSpc>
              </a:pPr>
              <a:endParaRPr lang="en-US" sz="1425">
                <a:solidFill>
                  <a:srgbClr val="4A5568"/>
                </a:solidFill>
                <a:latin typeface="DM Sans"/>
                <a:ea typeface="DM Sans"/>
                <a:cs typeface="DM Sans"/>
                <a:sym typeface="DM Sans"/>
              </a:endParaRPr>
            </a:p>
            <a:p>
              <a:pPr algn="l">
                <a:lnSpc>
                  <a:spcPts val="1709"/>
                </a:lnSpc>
              </a:pPr>
              <a:endParaRPr lang="en-US" sz="1425">
                <a:solidFill>
                  <a:srgbClr val="4A5568"/>
                </a:solidFill>
                <a:latin typeface="DM Sans"/>
                <a:ea typeface="DM Sans"/>
                <a:cs typeface="DM Sans"/>
                <a:sym typeface="DM Sans"/>
              </a:endParaRPr>
            </a:p>
          </p:txBody>
        </p:sp>
      </p:grpSp>
      <p:grpSp>
        <p:nvGrpSpPr>
          <p:cNvPr id="54" name="Group 54"/>
          <p:cNvGrpSpPr/>
          <p:nvPr/>
        </p:nvGrpSpPr>
        <p:grpSpPr>
          <a:xfrm>
            <a:off x="6345174" y="5815965"/>
            <a:ext cx="5711190" cy="3653790"/>
            <a:chOff x="0" y="0"/>
            <a:chExt cx="7614920" cy="4871720"/>
          </a:xfrm>
        </p:grpSpPr>
        <p:sp>
          <p:nvSpPr>
            <p:cNvPr id="55" name="Freeform 55"/>
            <p:cNvSpPr/>
            <p:nvPr/>
          </p:nvSpPr>
          <p:spPr>
            <a:xfrm>
              <a:off x="0" y="0"/>
              <a:ext cx="7614920" cy="4871720"/>
            </a:xfrm>
            <a:custGeom>
              <a:avLst/>
              <a:gdLst/>
              <a:ahLst/>
              <a:cxnLst/>
              <a:rect l="l" t="t" r="r" b="b"/>
              <a:pathLst>
                <a:path w="7614920" h="4871720">
                  <a:moveTo>
                    <a:pt x="0" y="147066"/>
                  </a:moveTo>
                  <a:cubicBezTo>
                    <a:pt x="0" y="65786"/>
                    <a:pt x="65786" y="0"/>
                    <a:pt x="147066" y="0"/>
                  </a:cubicBezTo>
                  <a:lnTo>
                    <a:pt x="7467854" y="0"/>
                  </a:lnTo>
                  <a:cubicBezTo>
                    <a:pt x="7549135" y="0"/>
                    <a:pt x="7614920" y="65786"/>
                    <a:pt x="7614920" y="147066"/>
                  </a:cubicBezTo>
                  <a:lnTo>
                    <a:pt x="7614920" y="4724654"/>
                  </a:lnTo>
                  <a:cubicBezTo>
                    <a:pt x="7614920" y="4805934"/>
                    <a:pt x="7549135" y="4871720"/>
                    <a:pt x="7467854" y="4871720"/>
                  </a:cubicBezTo>
                  <a:lnTo>
                    <a:pt x="147066" y="4871720"/>
                  </a:lnTo>
                  <a:cubicBezTo>
                    <a:pt x="65786" y="4871720"/>
                    <a:pt x="0" y="4805934"/>
                    <a:pt x="0" y="4724654"/>
                  </a:cubicBezTo>
                  <a:close/>
                </a:path>
              </a:pathLst>
            </a:custGeom>
            <a:solidFill>
              <a:srgbClr val="EBF4FF"/>
            </a:solidFill>
            <a:ln w="19050" cap="sq">
              <a:solidFill>
                <a:srgbClr val="BEE3F8"/>
              </a:solidFill>
              <a:prstDash val="solid"/>
              <a:miter/>
            </a:ln>
          </p:spPr>
        </p:sp>
      </p:grpSp>
      <p:grpSp>
        <p:nvGrpSpPr>
          <p:cNvPr id="56" name="Group 56"/>
          <p:cNvGrpSpPr/>
          <p:nvPr/>
        </p:nvGrpSpPr>
        <p:grpSpPr>
          <a:xfrm>
            <a:off x="6345174" y="5815965"/>
            <a:ext cx="567690" cy="3653790"/>
            <a:chOff x="0" y="0"/>
            <a:chExt cx="756920" cy="4871720"/>
          </a:xfrm>
        </p:grpSpPr>
        <p:sp>
          <p:nvSpPr>
            <p:cNvPr id="57" name="Freeform 57"/>
            <p:cNvSpPr/>
            <p:nvPr/>
          </p:nvSpPr>
          <p:spPr>
            <a:xfrm>
              <a:off x="0" y="0"/>
              <a:ext cx="756920" cy="4871720"/>
            </a:xfrm>
            <a:custGeom>
              <a:avLst/>
              <a:gdLst/>
              <a:ahLst/>
              <a:cxnLst/>
              <a:rect l="l" t="t" r="r" b="b"/>
              <a:pathLst>
                <a:path w="756920" h="4871720">
                  <a:moveTo>
                    <a:pt x="0" y="0"/>
                  </a:moveTo>
                  <a:lnTo>
                    <a:pt x="756920" y="0"/>
                  </a:lnTo>
                  <a:lnTo>
                    <a:pt x="756920" y="4871720"/>
                  </a:lnTo>
                  <a:lnTo>
                    <a:pt x="0" y="4871720"/>
                  </a:lnTo>
                  <a:close/>
                </a:path>
              </a:pathLst>
            </a:custGeom>
            <a:solidFill>
              <a:srgbClr val="145A32"/>
            </a:solidFill>
            <a:ln w="19050" cap="sq">
              <a:solidFill>
                <a:srgbClr val="145A32"/>
              </a:solidFill>
              <a:prstDash val="solid"/>
              <a:miter/>
            </a:ln>
          </p:spPr>
        </p:sp>
      </p:grpSp>
      <p:grpSp>
        <p:nvGrpSpPr>
          <p:cNvPr id="58" name="Group 58"/>
          <p:cNvGrpSpPr/>
          <p:nvPr/>
        </p:nvGrpSpPr>
        <p:grpSpPr>
          <a:xfrm>
            <a:off x="7135749" y="5815965"/>
            <a:ext cx="4663440" cy="869137"/>
            <a:chOff x="0" y="0"/>
            <a:chExt cx="6217920" cy="1158850"/>
          </a:xfrm>
        </p:grpSpPr>
        <p:sp>
          <p:nvSpPr>
            <p:cNvPr id="59" name="Freeform 59"/>
            <p:cNvSpPr/>
            <p:nvPr/>
          </p:nvSpPr>
          <p:spPr>
            <a:xfrm>
              <a:off x="0" y="0"/>
              <a:ext cx="6217920" cy="1158850"/>
            </a:xfrm>
            <a:custGeom>
              <a:avLst/>
              <a:gdLst/>
              <a:ahLst/>
              <a:cxnLst/>
              <a:rect l="l" t="t" r="r" b="b"/>
              <a:pathLst>
                <a:path w="6217920" h="1158850">
                  <a:moveTo>
                    <a:pt x="0" y="0"/>
                  </a:moveTo>
                  <a:lnTo>
                    <a:pt x="6217920" y="0"/>
                  </a:lnTo>
                  <a:lnTo>
                    <a:pt x="6217920" y="1158850"/>
                  </a:lnTo>
                  <a:lnTo>
                    <a:pt x="0" y="1158850"/>
                  </a:lnTo>
                  <a:close/>
                </a:path>
              </a:pathLst>
            </a:custGeom>
            <a:blipFill>
              <a:blip r:embed="rId3">
                <a:alphaModFix amt="0"/>
              </a:blip>
              <a:stretch>
                <a:fillRect t="-69041" b="-40056"/>
              </a:stretch>
            </a:blipFill>
          </p:spPr>
        </p:sp>
        <p:sp>
          <p:nvSpPr>
            <p:cNvPr id="60" name="TextBox 60"/>
            <p:cNvSpPr txBox="1"/>
            <p:nvPr/>
          </p:nvSpPr>
          <p:spPr>
            <a:xfrm>
              <a:off x="0" y="0"/>
              <a:ext cx="6217920" cy="1158850"/>
            </a:xfrm>
            <a:prstGeom prst="rect">
              <a:avLst/>
            </a:prstGeom>
          </p:spPr>
          <p:txBody>
            <a:bodyPr lIns="0" tIns="0" rIns="0" bIns="0" rtlCol="0" anchor="ctr"/>
            <a:lstStyle/>
            <a:p>
              <a:pPr algn="l">
                <a:lnSpc>
                  <a:spcPts val="2160"/>
                </a:lnSpc>
              </a:pPr>
              <a:endParaRPr/>
            </a:p>
            <a:p>
              <a:pPr algn="l">
                <a:lnSpc>
                  <a:spcPts val="2160"/>
                </a:lnSpc>
              </a:pPr>
              <a:r>
                <a:rPr lang="en-US" sz="1800" b="1">
                  <a:solidFill>
                    <a:srgbClr val="145A32"/>
                  </a:solidFill>
                  <a:latin typeface="DM Sans Bold"/>
                  <a:ea typeface="DM Sans Bold"/>
                  <a:cs typeface="DM Sans Bold"/>
                  <a:sym typeface="DM Sans Bold"/>
                </a:rPr>
                <a:t>At-Risk SIPs</a:t>
              </a:r>
            </a:p>
            <a:p>
              <a:pPr algn="l">
                <a:lnSpc>
                  <a:spcPts val="2160"/>
                </a:lnSpc>
              </a:pPr>
              <a:endParaRPr lang="en-US" sz="1800" b="1">
                <a:solidFill>
                  <a:srgbClr val="145A32"/>
                </a:solidFill>
                <a:latin typeface="DM Sans Bold"/>
                <a:ea typeface="DM Sans Bold"/>
                <a:cs typeface="DM Sans Bold"/>
                <a:sym typeface="DM Sans Bold"/>
              </a:endParaRPr>
            </a:p>
          </p:txBody>
        </p:sp>
      </p:grpSp>
      <p:grpSp>
        <p:nvGrpSpPr>
          <p:cNvPr id="61" name="Group 61"/>
          <p:cNvGrpSpPr/>
          <p:nvPr/>
        </p:nvGrpSpPr>
        <p:grpSpPr>
          <a:xfrm>
            <a:off x="7135749" y="6644869"/>
            <a:ext cx="4663440" cy="2150154"/>
            <a:chOff x="0" y="0"/>
            <a:chExt cx="6217920" cy="2866873"/>
          </a:xfrm>
        </p:grpSpPr>
        <p:sp>
          <p:nvSpPr>
            <p:cNvPr id="62" name="Freeform 62"/>
            <p:cNvSpPr/>
            <p:nvPr/>
          </p:nvSpPr>
          <p:spPr>
            <a:xfrm>
              <a:off x="0" y="0"/>
              <a:ext cx="6217920" cy="2866873"/>
            </a:xfrm>
            <a:custGeom>
              <a:avLst/>
              <a:gdLst/>
              <a:ahLst/>
              <a:cxnLst/>
              <a:rect l="l" t="t" r="r" b="b"/>
              <a:pathLst>
                <a:path w="6217920" h="2866873">
                  <a:moveTo>
                    <a:pt x="0" y="0"/>
                  </a:moveTo>
                  <a:lnTo>
                    <a:pt x="6217920" y="0"/>
                  </a:lnTo>
                  <a:lnTo>
                    <a:pt x="6217920" y="2866873"/>
                  </a:lnTo>
                  <a:lnTo>
                    <a:pt x="0" y="2866873"/>
                  </a:lnTo>
                  <a:close/>
                </a:path>
              </a:pathLst>
            </a:custGeom>
            <a:blipFill>
              <a:blip r:embed="rId3">
                <a:alphaModFix amt="0"/>
              </a:blip>
              <a:stretch>
                <a:fillRect l="-2830" r="-2830" b="10692"/>
              </a:stretch>
            </a:blipFill>
          </p:spPr>
        </p:sp>
        <p:sp>
          <p:nvSpPr>
            <p:cNvPr id="63" name="TextBox 63"/>
            <p:cNvSpPr txBox="1"/>
            <p:nvPr/>
          </p:nvSpPr>
          <p:spPr>
            <a:xfrm>
              <a:off x="0" y="0"/>
              <a:ext cx="6217920" cy="2866873"/>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Approximately 90% of investors with multiple SIPs exhibit gaps exceeding 90 days, indicating weak SIP continuity and a high probability of churn.</a:t>
              </a:r>
            </a:p>
            <a:p>
              <a:pPr algn="l">
                <a:lnSpc>
                  <a:spcPts val="1709"/>
                </a:lnSpc>
              </a:pPr>
              <a:endParaRPr lang="en-US" sz="1425">
                <a:solidFill>
                  <a:srgbClr val="4A5568"/>
                </a:solidFill>
                <a:latin typeface="DM Sans"/>
                <a:ea typeface="DM Sans"/>
                <a:cs typeface="DM Sans"/>
                <a:sym typeface="DM Sans"/>
              </a:endParaRPr>
            </a:p>
            <a:p>
              <a:pPr algn="l">
                <a:lnSpc>
                  <a:spcPts val="1709"/>
                </a:lnSpc>
              </a:pPr>
              <a:r>
                <a:rPr lang="en-US" sz="1425" b="1">
                  <a:solidFill>
                    <a:srgbClr val="4A5568"/>
                  </a:solidFill>
                  <a:latin typeface="DM Sans Bold"/>
                  <a:ea typeface="DM Sans Bold"/>
                  <a:cs typeface="DM Sans Bold"/>
                  <a:sym typeface="DM Sans Bold"/>
                </a:rPr>
                <a:t>Recommendation:</a:t>
              </a:r>
            </a:p>
            <a:p>
              <a:pPr algn="l">
                <a:lnSpc>
                  <a:spcPts val="1709"/>
                </a:lnSpc>
              </a:pPr>
              <a:r>
                <a:rPr lang="en-US" sz="1425">
                  <a:solidFill>
                    <a:srgbClr val="4A5568"/>
                  </a:solidFill>
                  <a:latin typeface="DM Sans"/>
                  <a:ea typeface="DM Sans"/>
                  <a:cs typeface="DM Sans"/>
                  <a:sym typeface="DM Sans"/>
                </a:rPr>
                <a:t>AMCs should implement automated SIP reminder nudges, missed-payment alerts, and retention campaigns before debit dates.</a:t>
              </a:r>
            </a:p>
            <a:p>
              <a:pPr algn="l">
                <a:lnSpc>
                  <a:spcPts val="1709"/>
                </a:lnSpc>
              </a:pPr>
              <a:endParaRPr lang="en-US" sz="1425">
                <a:solidFill>
                  <a:srgbClr val="4A5568"/>
                </a:solidFill>
                <a:latin typeface="DM Sans"/>
                <a:ea typeface="DM Sans"/>
                <a:cs typeface="DM Sans"/>
                <a:sym typeface="DM Sans"/>
              </a:endParaRPr>
            </a:p>
            <a:p>
              <a:pPr algn="l">
                <a:lnSpc>
                  <a:spcPts val="1709"/>
                </a:lnSpc>
              </a:pPr>
              <a:endParaRPr lang="en-US" sz="1425">
                <a:solidFill>
                  <a:srgbClr val="4A5568"/>
                </a:solidFill>
                <a:latin typeface="DM Sans"/>
                <a:ea typeface="DM Sans"/>
                <a:cs typeface="DM Sans"/>
                <a:sym typeface="DM Sans"/>
              </a:endParaRPr>
            </a:p>
          </p:txBody>
        </p:sp>
      </p:grpSp>
      <p:grpSp>
        <p:nvGrpSpPr>
          <p:cNvPr id="64" name="Group 64"/>
          <p:cNvGrpSpPr/>
          <p:nvPr/>
        </p:nvGrpSpPr>
        <p:grpSpPr>
          <a:xfrm>
            <a:off x="12297918" y="5815965"/>
            <a:ext cx="5711190" cy="3653790"/>
            <a:chOff x="0" y="0"/>
            <a:chExt cx="7614920" cy="4871720"/>
          </a:xfrm>
        </p:grpSpPr>
        <p:sp>
          <p:nvSpPr>
            <p:cNvPr id="65" name="Freeform 65"/>
            <p:cNvSpPr/>
            <p:nvPr/>
          </p:nvSpPr>
          <p:spPr>
            <a:xfrm>
              <a:off x="0" y="0"/>
              <a:ext cx="7614920" cy="4871720"/>
            </a:xfrm>
            <a:custGeom>
              <a:avLst/>
              <a:gdLst/>
              <a:ahLst/>
              <a:cxnLst/>
              <a:rect l="l" t="t" r="r" b="b"/>
              <a:pathLst>
                <a:path w="7614920" h="4871720">
                  <a:moveTo>
                    <a:pt x="0" y="147066"/>
                  </a:moveTo>
                  <a:cubicBezTo>
                    <a:pt x="0" y="65786"/>
                    <a:pt x="65786" y="0"/>
                    <a:pt x="147066" y="0"/>
                  </a:cubicBezTo>
                  <a:lnTo>
                    <a:pt x="7467854" y="0"/>
                  </a:lnTo>
                  <a:cubicBezTo>
                    <a:pt x="7549135" y="0"/>
                    <a:pt x="7614920" y="65786"/>
                    <a:pt x="7614920" y="147066"/>
                  </a:cubicBezTo>
                  <a:lnTo>
                    <a:pt x="7614920" y="4724654"/>
                  </a:lnTo>
                  <a:cubicBezTo>
                    <a:pt x="7614920" y="4805934"/>
                    <a:pt x="7549135" y="4871720"/>
                    <a:pt x="7467854" y="4871720"/>
                  </a:cubicBezTo>
                  <a:lnTo>
                    <a:pt x="147066" y="4871720"/>
                  </a:lnTo>
                  <a:cubicBezTo>
                    <a:pt x="65786" y="4871720"/>
                    <a:pt x="0" y="4805934"/>
                    <a:pt x="0" y="4724654"/>
                  </a:cubicBezTo>
                  <a:close/>
                </a:path>
              </a:pathLst>
            </a:custGeom>
            <a:solidFill>
              <a:srgbClr val="EBF4FF"/>
            </a:solidFill>
            <a:ln w="19050" cap="sq">
              <a:solidFill>
                <a:srgbClr val="BEE3F8"/>
              </a:solidFill>
              <a:prstDash val="solid"/>
              <a:miter/>
            </a:ln>
          </p:spPr>
        </p:sp>
      </p:grpSp>
      <p:grpSp>
        <p:nvGrpSpPr>
          <p:cNvPr id="66" name="Group 66"/>
          <p:cNvGrpSpPr/>
          <p:nvPr/>
        </p:nvGrpSpPr>
        <p:grpSpPr>
          <a:xfrm>
            <a:off x="12297918" y="5815965"/>
            <a:ext cx="567690" cy="3653790"/>
            <a:chOff x="0" y="0"/>
            <a:chExt cx="756920" cy="4871720"/>
          </a:xfrm>
        </p:grpSpPr>
        <p:sp>
          <p:nvSpPr>
            <p:cNvPr id="67" name="Freeform 67"/>
            <p:cNvSpPr/>
            <p:nvPr/>
          </p:nvSpPr>
          <p:spPr>
            <a:xfrm>
              <a:off x="0" y="0"/>
              <a:ext cx="756920" cy="4871720"/>
            </a:xfrm>
            <a:custGeom>
              <a:avLst/>
              <a:gdLst/>
              <a:ahLst/>
              <a:cxnLst/>
              <a:rect l="l" t="t" r="r" b="b"/>
              <a:pathLst>
                <a:path w="756920" h="4871720">
                  <a:moveTo>
                    <a:pt x="0" y="0"/>
                  </a:moveTo>
                  <a:lnTo>
                    <a:pt x="756920" y="0"/>
                  </a:lnTo>
                  <a:lnTo>
                    <a:pt x="756920" y="4871720"/>
                  </a:lnTo>
                  <a:lnTo>
                    <a:pt x="0" y="4871720"/>
                  </a:lnTo>
                  <a:close/>
                </a:path>
              </a:pathLst>
            </a:custGeom>
            <a:solidFill>
              <a:srgbClr val="B71C1C"/>
            </a:solidFill>
            <a:ln w="19050" cap="sq">
              <a:solidFill>
                <a:srgbClr val="B71C1C"/>
              </a:solidFill>
              <a:prstDash val="solid"/>
              <a:miter/>
            </a:ln>
          </p:spPr>
        </p:sp>
      </p:grpSp>
      <p:grpSp>
        <p:nvGrpSpPr>
          <p:cNvPr id="68" name="Group 68"/>
          <p:cNvGrpSpPr/>
          <p:nvPr/>
        </p:nvGrpSpPr>
        <p:grpSpPr>
          <a:xfrm>
            <a:off x="13088493" y="5941924"/>
            <a:ext cx="4663440" cy="617220"/>
            <a:chOff x="0" y="0"/>
            <a:chExt cx="6217920" cy="822960"/>
          </a:xfrm>
        </p:grpSpPr>
        <p:sp>
          <p:nvSpPr>
            <p:cNvPr id="69" name="Freeform 69"/>
            <p:cNvSpPr/>
            <p:nvPr/>
          </p:nvSpPr>
          <p:spPr>
            <a:xfrm>
              <a:off x="0" y="0"/>
              <a:ext cx="6217920" cy="822960"/>
            </a:xfrm>
            <a:custGeom>
              <a:avLst/>
              <a:gdLst/>
              <a:ahLst/>
              <a:cxnLst/>
              <a:rect l="l" t="t" r="r" b="b"/>
              <a:pathLst>
                <a:path w="6217920" h="822960">
                  <a:moveTo>
                    <a:pt x="0" y="0"/>
                  </a:moveTo>
                  <a:lnTo>
                    <a:pt x="6217920" y="0"/>
                  </a:lnTo>
                  <a:lnTo>
                    <a:pt x="6217920" y="822960"/>
                  </a:lnTo>
                  <a:lnTo>
                    <a:pt x="0" y="822960"/>
                  </a:lnTo>
                  <a:close/>
                </a:path>
              </a:pathLst>
            </a:custGeom>
            <a:blipFill>
              <a:blip r:embed="rId3">
                <a:alphaModFix amt="0"/>
              </a:blip>
              <a:stretch>
                <a:fillRect t="-97220" b="-97220"/>
              </a:stretch>
            </a:blipFill>
          </p:spPr>
        </p:sp>
        <p:sp>
          <p:nvSpPr>
            <p:cNvPr id="70" name="TextBox 70"/>
            <p:cNvSpPr txBox="1"/>
            <p:nvPr/>
          </p:nvSpPr>
          <p:spPr>
            <a:xfrm>
              <a:off x="0" y="0"/>
              <a:ext cx="6217920" cy="822960"/>
            </a:xfrm>
            <a:prstGeom prst="rect">
              <a:avLst/>
            </a:prstGeom>
          </p:spPr>
          <p:txBody>
            <a:bodyPr lIns="0" tIns="0" rIns="0" bIns="0" rtlCol="0" anchor="ctr"/>
            <a:lstStyle/>
            <a:p>
              <a:pPr algn="l">
                <a:lnSpc>
                  <a:spcPts val="2160"/>
                </a:lnSpc>
              </a:pPr>
              <a:r>
                <a:rPr lang="en-US" sz="1800" b="1">
                  <a:solidFill>
                    <a:srgbClr val="B71C1C"/>
                  </a:solidFill>
                  <a:latin typeface="DM Sans Bold"/>
                  <a:ea typeface="DM Sans Bold"/>
                  <a:cs typeface="DM Sans Bold"/>
                  <a:sym typeface="DM Sans Bold"/>
                </a:rPr>
                <a:t>Diversification Gap</a:t>
              </a:r>
            </a:p>
          </p:txBody>
        </p:sp>
      </p:grpSp>
      <p:grpSp>
        <p:nvGrpSpPr>
          <p:cNvPr id="71" name="Group 71"/>
          <p:cNvGrpSpPr/>
          <p:nvPr/>
        </p:nvGrpSpPr>
        <p:grpSpPr>
          <a:xfrm>
            <a:off x="13088493" y="6644869"/>
            <a:ext cx="4663440" cy="2150154"/>
            <a:chOff x="0" y="0"/>
            <a:chExt cx="6217920" cy="2866873"/>
          </a:xfrm>
        </p:grpSpPr>
        <p:sp>
          <p:nvSpPr>
            <p:cNvPr id="72" name="Freeform 72"/>
            <p:cNvSpPr/>
            <p:nvPr/>
          </p:nvSpPr>
          <p:spPr>
            <a:xfrm>
              <a:off x="0" y="0"/>
              <a:ext cx="6217920" cy="2866873"/>
            </a:xfrm>
            <a:custGeom>
              <a:avLst/>
              <a:gdLst/>
              <a:ahLst/>
              <a:cxnLst/>
              <a:rect l="l" t="t" r="r" b="b"/>
              <a:pathLst>
                <a:path w="6217920" h="2866873">
                  <a:moveTo>
                    <a:pt x="0" y="0"/>
                  </a:moveTo>
                  <a:lnTo>
                    <a:pt x="6217920" y="0"/>
                  </a:lnTo>
                  <a:lnTo>
                    <a:pt x="6217920" y="2866873"/>
                  </a:lnTo>
                  <a:lnTo>
                    <a:pt x="0" y="2866873"/>
                  </a:lnTo>
                  <a:close/>
                </a:path>
              </a:pathLst>
            </a:custGeom>
            <a:blipFill>
              <a:blip r:embed="rId3">
                <a:alphaModFix amt="0"/>
              </a:blip>
              <a:stretch>
                <a:fillRect l="-2830" r="-2830" b="10692"/>
              </a:stretch>
            </a:blipFill>
          </p:spPr>
        </p:sp>
        <p:sp>
          <p:nvSpPr>
            <p:cNvPr id="73" name="TextBox 73"/>
            <p:cNvSpPr txBox="1"/>
            <p:nvPr/>
          </p:nvSpPr>
          <p:spPr>
            <a:xfrm>
              <a:off x="0" y="0"/>
              <a:ext cx="6217920" cy="2866873"/>
            </a:xfrm>
            <a:prstGeom prst="rect">
              <a:avLst/>
            </a:prstGeom>
          </p:spPr>
          <p:txBody>
            <a:bodyPr lIns="0" tIns="0" rIns="0" bIns="0" rtlCol="0" anchor="ctr"/>
            <a:lstStyle/>
            <a:p>
              <a:pPr algn="l">
                <a:lnSpc>
                  <a:spcPts val="1709"/>
                </a:lnSpc>
              </a:pPr>
              <a:r>
                <a:rPr lang="en-US" sz="1425">
                  <a:solidFill>
                    <a:srgbClr val="4A5568"/>
                  </a:solidFill>
                  <a:latin typeface="DM Sans"/>
                  <a:ea typeface="DM Sans"/>
                  <a:cs typeface="DM Sans"/>
                  <a:sym typeface="DM Sans"/>
                </a:rPr>
                <a:t>All analyzed equity funds show HHI &gt; 0.25, reflecting significant sector concentration driven by large-cap and NIFTY 50 exposure.</a:t>
              </a:r>
            </a:p>
            <a:p>
              <a:pPr algn="l">
                <a:lnSpc>
                  <a:spcPts val="1709"/>
                </a:lnSpc>
              </a:pPr>
              <a:endParaRPr lang="en-US" sz="1425">
                <a:solidFill>
                  <a:srgbClr val="4A5568"/>
                </a:solidFill>
                <a:latin typeface="DM Sans"/>
                <a:ea typeface="DM Sans"/>
                <a:cs typeface="DM Sans"/>
                <a:sym typeface="DM Sans"/>
              </a:endParaRPr>
            </a:p>
            <a:p>
              <a:pPr algn="l">
                <a:lnSpc>
                  <a:spcPts val="1709"/>
                </a:lnSpc>
              </a:pPr>
              <a:r>
                <a:rPr lang="en-US" sz="1425" b="1">
                  <a:solidFill>
                    <a:srgbClr val="4A5568"/>
                  </a:solidFill>
                  <a:latin typeface="DM Sans Bold"/>
                  <a:ea typeface="DM Sans Bold"/>
                  <a:cs typeface="DM Sans Bold"/>
                  <a:sym typeface="DM Sans Bold"/>
                </a:rPr>
                <a:t>Recommendation:</a:t>
              </a:r>
            </a:p>
            <a:p>
              <a:pPr algn="l">
                <a:lnSpc>
                  <a:spcPts val="1709"/>
                </a:lnSpc>
              </a:pPr>
              <a:r>
                <a:rPr lang="en-US" sz="1425">
                  <a:solidFill>
                    <a:srgbClr val="4A5568"/>
                  </a:solidFill>
                  <a:latin typeface="DM Sans"/>
                  <a:ea typeface="DM Sans"/>
                  <a:cs typeface="DM Sans"/>
                  <a:sym typeface="DM Sans"/>
                </a:rPr>
                <a:t>Investors should diversify across market capitalizations, sectors, and asset classes instead of relying on a single equity category.</a:t>
              </a:r>
            </a:p>
            <a:p>
              <a:pPr algn="l">
                <a:lnSpc>
                  <a:spcPts val="1709"/>
                </a:lnSpc>
              </a:pPr>
              <a:endParaRPr lang="en-US" sz="1425">
                <a:solidFill>
                  <a:srgbClr val="4A5568"/>
                </a:solidFill>
                <a:latin typeface="DM Sans"/>
                <a:ea typeface="DM Sans"/>
                <a:cs typeface="DM Sans"/>
                <a:sym typeface="DM Sans"/>
              </a:endParaRPr>
            </a:p>
            <a:p>
              <a:pPr algn="l">
                <a:lnSpc>
                  <a:spcPts val="1709"/>
                </a:lnSpc>
              </a:pPr>
              <a:endParaRPr lang="en-US" sz="1425">
                <a:solidFill>
                  <a:srgbClr val="4A5568"/>
                </a:solidFill>
                <a:latin typeface="DM Sans"/>
                <a:ea typeface="DM Sans"/>
                <a:cs typeface="DM Sans"/>
                <a:sym typeface="DM Sans"/>
              </a:endParaRPr>
            </a:p>
          </p:txBody>
        </p:sp>
      </p:grpSp>
      <p:grpSp>
        <p:nvGrpSpPr>
          <p:cNvPr id="74" name="Group 74"/>
          <p:cNvGrpSpPr/>
          <p:nvPr/>
        </p:nvGrpSpPr>
        <p:grpSpPr>
          <a:xfrm>
            <a:off x="-9525" y="9893427"/>
            <a:ext cx="18302478" cy="403098"/>
            <a:chOff x="0" y="0"/>
            <a:chExt cx="24403304" cy="537464"/>
          </a:xfrm>
        </p:grpSpPr>
        <p:sp>
          <p:nvSpPr>
            <p:cNvPr id="75" name="Freeform 75"/>
            <p:cNvSpPr/>
            <p:nvPr/>
          </p:nvSpPr>
          <p:spPr>
            <a:xfrm>
              <a:off x="0" y="0"/>
              <a:ext cx="24403304" cy="537464"/>
            </a:xfrm>
            <a:custGeom>
              <a:avLst/>
              <a:gdLst/>
              <a:ahLst/>
              <a:cxnLst/>
              <a:rect l="l" t="t" r="r" b="b"/>
              <a:pathLst>
                <a:path w="24403304" h="537464">
                  <a:moveTo>
                    <a:pt x="0" y="0"/>
                  </a:moveTo>
                  <a:lnTo>
                    <a:pt x="24403304" y="0"/>
                  </a:lnTo>
                  <a:lnTo>
                    <a:pt x="24403304" y="537464"/>
                  </a:lnTo>
                  <a:lnTo>
                    <a:pt x="0" y="537464"/>
                  </a:lnTo>
                  <a:close/>
                </a:path>
              </a:pathLst>
            </a:custGeom>
            <a:solidFill>
              <a:srgbClr val="132338"/>
            </a:solidFill>
            <a:ln w="19050" cap="sq">
              <a:solidFill>
                <a:srgbClr val="0D1B2A"/>
              </a:solidFill>
              <a:prstDash val="solid"/>
              <a:miter/>
            </a:ln>
          </p:spPr>
        </p:sp>
      </p:grpSp>
      <p:grpSp>
        <p:nvGrpSpPr>
          <p:cNvPr id="76" name="Group 76"/>
          <p:cNvGrpSpPr/>
          <p:nvPr/>
        </p:nvGrpSpPr>
        <p:grpSpPr>
          <a:xfrm>
            <a:off x="16911828" y="9930384"/>
            <a:ext cx="1097280" cy="329184"/>
            <a:chOff x="0" y="0"/>
            <a:chExt cx="1463040" cy="438912"/>
          </a:xfrm>
        </p:grpSpPr>
        <p:sp>
          <p:nvSpPr>
            <p:cNvPr id="77" name="Freeform 77"/>
            <p:cNvSpPr/>
            <p:nvPr/>
          </p:nvSpPr>
          <p:spPr>
            <a:xfrm>
              <a:off x="0" y="0"/>
              <a:ext cx="1463040" cy="438912"/>
            </a:xfrm>
            <a:custGeom>
              <a:avLst/>
              <a:gdLst/>
              <a:ahLst/>
              <a:cxnLst/>
              <a:rect l="l" t="t" r="r" b="b"/>
              <a:pathLst>
                <a:path w="1463040" h="438912">
                  <a:moveTo>
                    <a:pt x="0" y="0"/>
                  </a:moveTo>
                  <a:lnTo>
                    <a:pt x="1463040" y="0"/>
                  </a:lnTo>
                  <a:lnTo>
                    <a:pt x="1463040" y="438912"/>
                  </a:lnTo>
                  <a:lnTo>
                    <a:pt x="0" y="438912"/>
                  </a:lnTo>
                  <a:close/>
                </a:path>
              </a:pathLst>
            </a:custGeom>
            <a:blipFill>
              <a:blip r:embed="rId3">
                <a:alphaModFix amt="0"/>
              </a:blip>
              <a:stretch>
                <a:fillRect t="-14950" b="-14950"/>
              </a:stretch>
            </a:blipFill>
          </p:spPr>
        </p:sp>
        <p:sp>
          <p:nvSpPr>
            <p:cNvPr id="78" name="TextBox 78"/>
            <p:cNvSpPr txBox="1"/>
            <p:nvPr/>
          </p:nvSpPr>
          <p:spPr>
            <a:xfrm>
              <a:off x="0" y="-9525"/>
              <a:ext cx="1463040" cy="448437"/>
            </a:xfrm>
            <a:prstGeom prst="rect">
              <a:avLst/>
            </a:prstGeom>
          </p:spPr>
          <p:txBody>
            <a:bodyPr lIns="0" tIns="0" rIns="0" bIns="0" rtlCol="0" anchor="ctr"/>
            <a:lstStyle/>
            <a:p>
              <a:pPr algn="r">
                <a:lnSpc>
                  <a:spcPts val="1439"/>
                </a:lnSpc>
              </a:pPr>
              <a:r>
                <a:rPr lang="en-US" sz="1200">
                  <a:solidFill>
                    <a:srgbClr val="DCEDFA"/>
                  </a:solidFill>
                  <a:latin typeface="DM Sans"/>
                  <a:ea typeface="DM Sans"/>
                  <a:cs typeface="DM Sans"/>
                  <a:sym typeface="DM Sans"/>
                </a:rPr>
                <a:t>11 / 12</a:t>
              </a:r>
            </a:p>
          </p:txBody>
        </p:sp>
      </p:grpSp>
      <p:grpSp>
        <p:nvGrpSpPr>
          <p:cNvPr id="79" name="Group 79"/>
          <p:cNvGrpSpPr/>
          <p:nvPr/>
        </p:nvGrpSpPr>
        <p:grpSpPr>
          <a:xfrm>
            <a:off x="411480" y="9930384"/>
            <a:ext cx="16363188" cy="329184"/>
            <a:chOff x="0" y="0"/>
            <a:chExt cx="21817584" cy="438912"/>
          </a:xfrm>
        </p:grpSpPr>
        <p:sp>
          <p:nvSpPr>
            <p:cNvPr id="80" name="Freeform 80"/>
            <p:cNvSpPr/>
            <p:nvPr/>
          </p:nvSpPr>
          <p:spPr>
            <a:xfrm>
              <a:off x="0" y="0"/>
              <a:ext cx="21817585" cy="438912"/>
            </a:xfrm>
            <a:custGeom>
              <a:avLst/>
              <a:gdLst/>
              <a:ahLst/>
              <a:cxnLst/>
              <a:rect l="l" t="t" r="r" b="b"/>
              <a:pathLst>
                <a:path w="21817585" h="438912">
                  <a:moveTo>
                    <a:pt x="0" y="0"/>
                  </a:moveTo>
                  <a:lnTo>
                    <a:pt x="21817585" y="0"/>
                  </a:lnTo>
                  <a:lnTo>
                    <a:pt x="21817585" y="438912"/>
                  </a:lnTo>
                  <a:lnTo>
                    <a:pt x="0" y="438912"/>
                  </a:lnTo>
                  <a:close/>
                </a:path>
              </a:pathLst>
            </a:custGeom>
            <a:blipFill>
              <a:blip r:embed="rId3">
                <a:alphaModFix amt="0"/>
              </a:blip>
              <a:stretch>
                <a:fillRect t="-918568" b="-918568"/>
              </a:stretch>
            </a:blipFill>
          </p:spPr>
        </p:sp>
        <p:sp>
          <p:nvSpPr>
            <p:cNvPr id="81" name="TextBox 81"/>
            <p:cNvSpPr txBox="1"/>
            <p:nvPr/>
          </p:nvSpPr>
          <p:spPr>
            <a:xfrm>
              <a:off x="0" y="-9525"/>
              <a:ext cx="21817584" cy="448437"/>
            </a:xfrm>
            <a:prstGeom prst="rect">
              <a:avLst/>
            </a:prstGeom>
          </p:spPr>
          <p:txBody>
            <a:bodyPr lIns="0" tIns="0" rIns="0" bIns="0" rtlCol="0" anchor="ctr"/>
            <a:lstStyle/>
            <a:p>
              <a:pPr algn="l">
                <a:lnSpc>
                  <a:spcPts val="1439"/>
                </a:lnSpc>
              </a:pPr>
              <a:r>
                <a:rPr lang="en-US" sz="1200">
                  <a:solidFill>
                    <a:srgbClr val="DCEDFA"/>
                  </a:solidFill>
                  <a:latin typeface="DM Sans"/>
                  <a:ea typeface="DM Sans"/>
                  <a:cs typeface="DM Sans"/>
                  <a:sym typeface="DM Sans"/>
                </a:rPr>
                <a:t>Bluestock Fintech  |  Capstone Project I - Mutual Fund Analytics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397008" cy="10287000"/>
            <a:chOff x="0" y="0"/>
            <a:chExt cx="3265056" cy="2834765"/>
          </a:xfrm>
        </p:grpSpPr>
        <p:sp>
          <p:nvSpPr>
            <p:cNvPr id="3" name="Freeform 3"/>
            <p:cNvSpPr/>
            <p:nvPr/>
          </p:nvSpPr>
          <p:spPr>
            <a:xfrm>
              <a:off x="0" y="0"/>
              <a:ext cx="3265056" cy="2834765"/>
            </a:xfrm>
            <a:custGeom>
              <a:avLst/>
              <a:gdLst/>
              <a:ahLst/>
              <a:cxnLst/>
              <a:rect l="l" t="t" r="r" b="b"/>
              <a:pathLst>
                <a:path w="3265056" h="2834765">
                  <a:moveTo>
                    <a:pt x="0" y="0"/>
                  </a:moveTo>
                  <a:lnTo>
                    <a:pt x="3265056" y="0"/>
                  </a:lnTo>
                  <a:lnTo>
                    <a:pt x="3265056" y="2834765"/>
                  </a:lnTo>
                  <a:lnTo>
                    <a:pt x="0" y="2834765"/>
                  </a:lnTo>
                  <a:close/>
                </a:path>
              </a:pathLst>
            </a:custGeom>
            <a:solidFill>
              <a:srgbClr val="132338"/>
            </a:solidFill>
          </p:spPr>
        </p:sp>
        <p:sp>
          <p:nvSpPr>
            <p:cNvPr id="4" name="TextBox 4"/>
            <p:cNvSpPr txBox="1"/>
            <p:nvPr/>
          </p:nvSpPr>
          <p:spPr>
            <a:xfrm>
              <a:off x="0" y="0"/>
              <a:ext cx="3265056" cy="2834765"/>
            </a:xfrm>
            <a:prstGeom prst="rect">
              <a:avLst/>
            </a:prstGeom>
          </p:spPr>
          <p:txBody>
            <a:bodyPr lIns="50800" tIns="50800" rIns="50800" bIns="50800" rtlCol="0" anchor="ctr"/>
            <a:lstStyle/>
            <a:p>
              <a:pPr algn="ctr">
                <a:lnSpc>
                  <a:spcPts val="1709"/>
                </a:lnSpc>
              </a:pPr>
              <a:endParaRPr/>
            </a:p>
          </p:txBody>
        </p:sp>
      </p:grpSp>
      <p:grpSp>
        <p:nvGrpSpPr>
          <p:cNvPr id="5" name="Group 5"/>
          <p:cNvGrpSpPr/>
          <p:nvPr/>
        </p:nvGrpSpPr>
        <p:grpSpPr>
          <a:xfrm>
            <a:off x="-1423255" y="5113769"/>
            <a:ext cx="15403854" cy="873414"/>
            <a:chOff x="0" y="0"/>
            <a:chExt cx="17739360" cy="1005840"/>
          </a:xfrm>
        </p:grpSpPr>
        <p:sp>
          <p:nvSpPr>
            <p:cNvPr id="6" name="Freeform 6"/>
            <p:cNvSpPr/>
            <p:nvPr/>
          </p:nvSpPr>
          <p:spPr>
            <a:xfrm>
              <a:off x="0" y="0"/>
              <a:ext cx="17739361" cy="1005840"/>
            </a:xfrm>
            <a:custGeom>
              <a:avLst/>
              <a:gdLst/>
              <a:ahLst/>
              <a:cxnLst/>
              <a:rect l="l" t="t" r="r" b="b"/>
              <a:pathLst>
                <a:path w="17739361" h="1005840">
                  <a:moveTo>
                    <a:pt x="0" y="0"/>
                  </a:moveTo>
                  <a:lnTo>
                    <a:pt x="17739361" y="0"/>
                  </a:lnTo>
                  <a:lnTo>
                    <a:pt x="17739361" y="1005840"/>
                  </a:lnTo>
                  <a:lnTo>
                    <a:pt x="0" y="1005840"/>
                  </a:lnTo>
                  <a:close/>
                </a:path>
              </a:pathLst>
            </a:custGeom>
            <a:blipFill>
              <a:blip r:embed="rId3">
                <a:alphaModFix amt="0"/>
              </a:blip>
              <a:stretch>
                <a:fillRect t="-293645" b="-293645"/>
              </a:stretch>
            </a:blipFill>
          </p:spPr>
        </p:sp>
        <p:sp>
          <p:nvSpPr>
            <p:cNvPr id="7" name="TextBox 7"/>
            <p:cNvSpPr txBox="1"/>
            <p:nvPr/>
          </p:nvSpPr>
          <p:spPr>
            <a:xfrm>
              <a:off x="0" y="0"/>
              <a:ext cx="17739360" cy="1005840"/>
            </a:xfrm>
            <a:prstGeom prst="rect">
              <a:avLst/>
            </a:prstGeom>
          </p:spPr>
          <p:txBody>
            <a:bodyPr lIns="0" tIns="0" rIns="0" bIns="0" rtlCol="0" anchor="ctr"/>
            <a:lstStyle/>
            <a:p>
              <a:pPr algn="ctr">
                <a:lnSpc>
                  <a:spcPts val="2939"/>
                </a:lnSpc>
              </a:pPr>
              <a:r>
                <a:rPr lang="en-US" sz="2449">
                  <a:solidFill>
                    <a:srgbClr val="A6B3CB"/>
                  </a:solidFill>
                  <a:latin typeface="DM Sans"/>
                  <a:ea typeface="DM Sans"/>
                  <a:cs typeface="DM Sans"/>
                  <a:sym typeface="DM Sans"/>
                </a:rPr>
                <a:t>Bluestock Fintech — Mutual Fund Analytics Capstone Project I</a:t>
              </a:r>
            </a:p>
          </p:txBody>
        </p:sp>
      </p:grpSp>
      <p:grpSp>
        <p:nvGrpSpPr>
          <p:cNvPr id="8" name="Group 8"/>
          <p:cNvGrpSpPr/>
          <p:nvPr/>
        </p:nvGrpSpPr>
        <p:grpSpPr>
          <a:xfrm>
            <a:off x="-1583591" y="3803648"/>
            <a:ext cx="15403854" cy="1746829"/>
            <a:chOff x="0" y="0"/>
            <a:chExt cx="17739360" cy="2011680"/>
          </a:xfrm>
        </p:grpSpPr>
        <p:sp>
          <p:nvSpPr>
            <p:cNvPr id="9" name="Freeform 9"/>
            <p:cNvSpPr/>
            <p:nvPr/>
          </p:nvSpPr>
          <p:spPr>
            <a:xfrm>
              <a:off x="0" y="0"/>
              <a:ext cx="17739361" cy="2011680"/>
            </a:xfrm>
            <a:custGeom>
              <a:avLst/>
              <a:gdLst/>
              <a:ahLst/>
              <a:cxnLst/>
              <a:rect l="l" t="t" r="r" b="b"/>
              <a:pathLst>
                <a:path w="17739361" h="2011680">
                  <a:moveTo>
                    <a:pt x="0" y="0"/>
                  </a:moveTo>
                  <a:lnTo>
                    <a:pt x="17739361" y="0"/>
                  </a:lnTo>
                  <a:lnTo>
                    <a:pt x="17739361" y="2011680"/>
                  </a:lnTo>
                  <a:lnTo>
                    <a:pt x="0" y="2011680"/>
                  </a:lnTo>
                  <a:close/>
                </a:path>
              </a:pathLst>
            </a:custGeom>
            <a:blipFill>
              <a:blip r:embed="rId3">
                <a:alphaModFix amt="0"/>
              </a:blip>
              <a:stretch>
                <a:fillRect t="-121822" b="-121822"/>
              </a:stretch>
            </a:blipFill>
          </p:spPr>
        </p:sp>
        <p:sp>
          <p:nvSpPr>
            <p:cNvPr id="10" name="TextBox 10"/>
            <p:cNvSpPr txBox="1"/>
            <p:nvPr/>
          </p:nvSpPr>
          <p:spPr>
            <a:xfrm>
              <a:off x="0" y="0"/>
              <a:ext cx="17739360" cy="2011680"/>
            </a:xfrm>
            <a:prstGeom prst="rect">
              <a:avLst/>
            </a:prstGeom>
          </p:spPr>
          <p:txBody>
            <a:bodyPr lIns="0" tIns="0" rIns="0" bIns="0" rtlCol="0" anchor="ctr"/>
            <a:lstStyle/>
            <a:p>
              <a:pPr algn="ctr">
                <a:lnSpc>
                  <a:spcPts val="9479"/>
                </a:lnSpc>
              </a:pPr>
              <a:r>
                <a:rPr lang="en-US" sz="7899" b="1">
                  <a:solidFill>
                    <a:srgbClr val="FFFFFF"/>
                  </a:solidFill>
                  <a:latin typeface="DM Sans Bold"/>
                  <a:ea typeface="DM Sans Bold"/>
                  <a:cs typeface="DM Sans Bold"/>
                  <a:sym typeface="DM Sans Bold"/>
                </a:rPr>
                <a:t>THANK </a:t>
              </a:r>
              <a:r>
                <a:rPr lang="en-US" sz="7899" b="1">
                  <a:solidFill>
                    <a:srgbClr val="FFAB32"/>
                  </a:solidFill>
                  <a:latin typeface="DM Sans Bold"/>
                  <a:ea typeface="DM Sans Bold"/>
                  <a:cs typeface="DM Sans Bold"/>
                  <a:sym typeface="DM Sans Bold"/>
                </a:rPr>
                <a:t>YOU</a:t>
              </a:r>
            </a:p>
          </p:txBody>
        </p:sp>
      </p:grpSp>
      <p:grpSp>
        <p:nvGrpSpPr>
          <p:cNvPr id="11" name="Group 11"/>
          <p:cNvGrpSpPr/>
          <p:nvPr/>
        </p:nvGrpSpPr>
        <p:grpSpPr>
          <a:xfrm rot="8100000">
            <a:off x="15194863" y="660425"/>
            <a:ext cx="1710236" cy="1710236"/>
            <a:chOff x="0" y="0"/>
            <a:chExt cx="812800" cy="812800"/>
          </a:xfrm>
        </p:grpSpPr>
        <p:sp>
          <p:nvSpPr>
            <p:cNvPr id="12" name="Freeform 12"/>
            <p:cNvSpPr/>
            <p:nvPr/>
          </p:nvSpPr>
          <p:spPr>
            <a:xfrm>
              <a:off x="0" y="0"/>
              <a:ext cx="812800" cy="812800"/>
            </a:xfrm>
            <a:custGeom>
              <a:avLst/>
              <a:gdLst/>
              <a:ahLst/>
              <a:cxnLst/>
              <a:rect l="l" t="t" r="r" b="b"/>
              <a:pathLst>
                <a:path w="812800" h="812800">
                  <a:moveTo>
                    <a:pt x="95063" y="0"/>
                  </a:moveTo>
                  <a:lnTo>
                    <a:pt x="717737" y="0"/>
                  </a:lnTo>
                  <a:cubicBezTo>
                    <a:pt x="742949" y="0"/>
                    <a:pt x="767129" y="10016"/>
                    <a:pt x="784957" y="27843"/>
                  </a:cubicBezTo>
                  <a:cubicBezTo>
                    <a:pt x="802784" y="45671"/>
                    <a:pt x="812800" y="69851"/>
                    <a:pt x="812800" y="95063"/>
                  </a:cubicBezTo>
                  <a:lnTo>
                    <a:pt x="812800" y="717737"/>
                  </a:lnTo>
                  <a:cubicBezTo>
                    <a:pt x="812800" y="742949"/>
                    <a:pt x="802784" y="767129"/>
                    <a:pt x="784957" y="784957"/>
                  </a:cubicBezTo>
                  <a:cubicBezTo>
                    <a:pt x="767129" y="802784"/>
                    <a:pt x="742949" y="812800"/>
                    <a:pt x="717737" y="812800"/>
                  </a:cubicBezTo>
                  <a:lnTo>
                    <a:pt x="95063" y="812800"/>
                  </a:lnTo>
                  <a:cubicBezTo>
                    <a:pt x="69851" y="812800"/>
                    <a:pt x="45671" y="802784"/>
                    <a:pt x="27843" y="784957"/>
                  </a:cubicBezTo>
                  <a:cubicBezTo>
                    <a:pt x="10016" y="767129"/>
                    <a:pt x="0" y="742949"/>
                    <a:pt x="0" y="717737"/>
                  </a:cubicBezTo>
                  <a:lnTo>
                    <a:pt x="0" y="95063"/>
                  </a:lnTo>
                  <a:cubicBezTo>
                    <a:pt x="0" y="69851"/>
                    <a:pt x="10016" y="45671"/>
                    <a:pt x="27843" y="27843"/>
                  </a:cubicBezTo>
                  <a:cubicBezTo>
                    <a:pt x="45671" y="10016"/>
                    <a:pt x="69851" y="0"/>
                    <a:pt x="95063" y="0"/>
                  </a:cubicBezTo>
                  <a:close/>
                </a:path>
              </a:pathLst>
            </a:custGeom>
            <a:solidFill>
              <a:srgbClr val="BCBFFF"/>
            </a:solidFill>
          </p:spPr>
        </p:sp>
        <p:sp>
          <p:nvSpPr>
            <p:cNvPr id="13" name="TextBox 13"/>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14" name="Group 14"/>
          <p:cNvGrpSpPr/>
          <p:nvPr/>
        </p:nvGrpSpPr>
        <p:grpSpPr>
          <a:xfrm rot="8100000">
            <a:off x="15194863" y="3079063"/>
            <a:ext cx="1710236" cy="1710236"/>
            <a:chOff x="0" y="0"/>
            <a:chExt cx="812800" cy="812800"/>
          </a:xfrm>
        </p:grpSpPr>
        <p:sp>
          <p:nvSpPr>
            <p:cNvPr id="15" name="Freeform 15"/>
            <p:cNvSpPr/>
            <p:nvPr/>
          </p:nvSpPr>
          <p:spPr>
            <a:xfrm>
              <a:off x="0" y="0"/>
              <a:ext cx="812800" cy="812800"/>
            </a:xfrm>
            <a:custGeom>
              <a:avLst/>
              <a:gdLst/>
              <a:ahLst/>
              <a:cxnLst/>
              <a:rect l="l" t="t" r="r" b="b"/>
              <a:pathLst>
                <a:path w="812800" h="812800">
                  <a:moveTo>
                    <a:pt x="95063" y="0"/>
                  </a:moveTo>
                  <a:lnTo>
                    <a:pt x="717737" y="0"/>
                  </a:lnTo>
                  <a:cubicBezTo>
                    <a:pt x="742949" y="0"/>
                    <a:pt x="767129" y="10016"/>
                    <a:pt x="784957" y="27843"/>
                  </a:cubicBezTo>
                  <a:cubicBezTo>
                    <a:pt x="802784" y="45671"/>
                    <a:pt x="812800" y="69851"/>
                    <a:pt x="812800" y="95063"/>
                  </a:cubicBezTo>
                  <a:lnTo>
                    <a:pt x="812800" y="717737"/>
                  </a:lnTo>
                  <a:cubicBezTo>
                    <a:pt x="812800" y="742949"/>
                    <a:pt x="802784" y="767129"/>
                    <a:pt x="784957" y="784957"/>
                  </a:cubicBezTo>
                  <a:cubicBezTo>
                    <a:pt x="767129" y="802784"/>
                    <a:pt x="742949" y="812800"/>
                    <a:pt x="717737" y="812800"/>
                  </a:cubicBezTo>
                  <a:lnTo>
                    <a:pt x="95063" y="812800"/>
                  </a:lnTo>
                  <a:cubicBezTo>
                    <a:pt x="69851" y="812800"/>
                    <a:pt x="45671" y="802784"/>
                    <a:pt x="27843" y="784957"/>
                  </a:cubicBezTo>
                  <a:cubicBezTo>
                    <a:pt x="10016" y="767129"/>
                    <a:pt x="0" y="742949"/>
                    <a:pt x="0" y="717737"/>
                  </a:cubicBezTo>
                  <a:lnTo>
                    <a:pt x="0" y="95063"/>
                  </a:lnTo>
                  <a:cubicBezTo>
                    <a:pt x="0" y="69851"/>
                    <a:pt x="10016" y="45671"/>
                    <a:pt x="27843" y="27843"/>
                  </a:cubicBezTo>
                  <a:cubicBezTo>
                    <a:pt x="45671" y="10016"/>
                    <a:pt x="69851" y="0"/>
                    <a:pt x="95063" y="0"/>
                  </a:cubicBezTo>
                  <a:close/>
                </a:path>
              </a:pathLst>
            </a:custGeom>
            <a:solidFill>
              <a:srgbClr val="ADE466"/>
            </a:solidFill>
          </p:spPr>
        </p:sp>
        <p:sp>
          <p:nvSpPr>
            <p:cNvPr id="16" name="TextBox 16"/>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17" name="Group 17"/>
          <p:cNvGrpSpPr/>
          <p:nvPr/>
        </p:nvGrpSpPr>
        <p:grpSpPr>
          <a:xfrm rot="8100000">
            <a:off x="13674808" y="1869744"/>
            <a:ext cx="1710236" cy="1710236"/>
            <a:chOff x="0" y="0"/>
            <a:chExt cx="812800" cy="812800"/>
          </a:xfrm>
        </p:grpSpPr>
        <p:sp>
          <p:nvSpPr>
            <p:cNvPr id="18" name="Freeform 18"/>
            <p:cNvSpPr/>
            <p:nvPr/>
          </p:nvSpPr>
          <p:spPr>
            <a:xfrm>
              <a:off x="0" y="0"/>
              <a:ext cx="812800" cy="812800"/>
            </a:xfrm>
            <a:custGeom>
              <a:avLst/>
              <a:gdLst/>
              <a:ahLst/>
              <a:cxnLst/>
              <a:rect l="l" t="t" r="r" b="b"/>
              <a:pathLst>
                <a:path w="812800" h="812800">
                  <a:moveTo>
                    <a:pt x="95063" y="0"/>
                  </a:moveTo>
                  <a:lnTo>
                    <a:pt x="717737" y="0"/>
                  </a:lnTo>
                  <a:cubicBezTo>
                    <a:pt x="742949" y="0"/>
                    <a:pt x="767129" y="10016"/>
                    <a:pt x="784957" y="27843"/>
                  </a:cubicBezTo>
                  <a:cubicBezTo>
                    <a:pt x="802784" y="45671"/>
                    <a:pt x="812800" y="69851"/>
                    <a:pt x="812800" y="95063"/>
                  </a:cubicBezTo>
                  <a:lnTo>
                    <a:pt x="812800" y="717737"/>
                  </a:lnTo>
                  <a:cubicBezTo>
                    <a:pt x="812800" y="742949"/>
                    <a:pt x="802784" y="767129"/>
                    <a:pt x="784957" y="784957"/>
                  </a:cubicBezTo>
                  <a:cubicBezTo>
                    <a:pt x="767129" y="802784"/>
                    <a:pt x="742949" y="812800"/>
                    <a:pt x="717737" y="812800"/>
                  </a:cubicBezTo>
                  <a:lnTo>
                    <a:pt x="95063" y="812800"/>
                  </a:lnTo>
                  <a:cubicBezTo>
                    <a:pt x="69851" y="812800"/>
                    <a:pt x="45671" y="802784"/>
                    <a:pt x="27843" y="784957"/>
                  </a:cubicBezTo>
                  <a:cubicBezTo>
                    <a:pt x="10016" y="767129"/>
                    <a:pt x="0" y="742949"/>
                    <a:pt x="0" y="717737"/>
                  </a:cubicBezTo>
                  <a:lnTo>
                    <a:pt x="0" y="95063"/>
                  </a:lnTo>
                  <a:cubicBezTo>
                    <a:pt x="0" y="69851"/>
                    <a:pt x="10016" y="45671"/>
                    <a:pt x="27843" y="27843"/>
                  </a:cubicBezTo>
                  <a:cubicBezTo>
                    <a:pt x="45671" y="10016"/>
                    <a:pt x="69851" y="0"/>
                    <a:pt x="95063" y="0"/>
                  </a:cubicBezTo>
                  <a:close/>
                </a:path>
              </a:pathLst>
            </a:custGeom>
            <a:solidFill>
              <a:srgbClr val="89E2E8"/>
            </a:solidFill>
          </p:spPr>
        </p:sp>
        <p:sp>
          <p:nvSpPr>
            <p:cNvPr id="19" name="TextBox 19"/>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20" name="Group 20"/>
          <p:cNvGrpSpPr/>
          <p:nvPr/>
        </p:nvGrpSpPr>
        <p:grpSpPr>
          <a:xfrm rot="8100000">
            <a:off x="13674808" y="4288382"/>
            <a:ext cx="1710236" cy="1710236"/>
            <a:chOff x="0" y="0"/>
            <a:chExt cx="812800" cy="812800"/>
          </a:xfrm>
        </p:grpSpPr>
        <p:sp>
          <p:nvSpPr>
            <p:cNvPr id="21" name="Freeform 21"/>
            <p:cNvSpPr/>
            <p:nvPr/>
          </p:nvSpPr>
          <p:spPr>
            <a:xfrm>
              <a:off x="0" y="0"/>
              <a:ext cx="812800" cy="812800"/>
            </a:xfrm>
            <a:custGeom>
              <a:avLst/>
              <a:gdLst/>
              <a:ahLst/>
              <a:cxnLst/>
              <a:rect l="l" t="t" r="r" b="b"/>
              <a:pathLst>
                <a:path w="812800" h="812800">
                  <a:moveTo>
                    <a:pt x="95063" y="0"/>
                  </a:moveTo>
                  <a:lnTo>
                    <a:pt x="717737" y="0"/>
                  </a:lnTo>
                  <a:cubicBezTo>
                    <a:pt x="742949" y="0"/>
                    <a:pt x="767129" y="10016"/>
                    <a:pt x="784957" y="27843"/>
                  </a:cubicBezTo>
                  <a:cubicBezTo>
                    <a:pt x="802784" y="45671"/>
                    <a:pt x="812800" y="69851"/>
                    <a:pt x="812800" y="95063"/>
                  </a:cubicBezTo>
                  <a:lnTo>
                    <a:pt x="812800" y="717737"/>
                  </a:lnTo>
                  <a:cubicBezTo>
                    <a:pt x="812800" y="742949"/>
                    <a:pt x="802784" y="767129"/>
                    <a:pt x="784957" y="784957"/>
                  </a:cubicBezTo>
                  <a:cubicBezTo>
                    <a:pt x="767129" y="802784"/>
                    <a:pt x="742949" y="812800"/>
                    <a:pt x="717737" y="812800"/>
                  </a:cubicBezTo>
                  <a:lnTo>
                    <a:pt x="95063" y="812800"/>
                  </a:lnTo>
                  <a:cubicBezTo>
                    <a:pt x="69851" y="812800"/>
                    <a:pt x="45671" y="802784"/>
                    <a:pt x="27843" y="784957"/>
                  </a:cubicBezTo>
                  <a:cubicBezTo>
                    <a:pt x="10016" y="767129"/>
                    <a:pt x="0" y="742949"/>
                    <a:pt x="0" y="717737"/>
                  </a:cubicBezTo>
                  <a:lnTo>
                    <a:pt x="0" y="95063"/>
                  </a:lnTo>
                  <a:cubicBezTo>
                    <a:pt x="0" y="69851"/>
                    <a:pt x="10016" y="45671"/>
                    <a:pt x="27843" y="27843"/>
                  </a:cubicBezTo>
                  <a:cubicBezTo>
                    <a:pt x="45671" y="10016"/>
                    <a:pt x="69851" y="0"/>
                    <a:pt x="95063" y="0"/>
                  </a:cubicBezTo>
                  <a:close/>
                </a:path>
              </a:pathLst>
            </a:custGeom>
            <a:solidFill>
              <a:srgbClr val="E8E252"/>
            </a:solidFill>
          </p:spPr>
        </p:sp>
        <p:sp>
          <p:nvSpPr>
            <p:cNvPr id="22" name="TextBox 22"/>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23" name="Group 23"/>
          <p:cNvGrpSpPr/>
          <p:nvPr/>
        </p:nvGrpSpPr>
        <p:grpSpPr>
          <a:xfrm rot="8100000">
            <a:off x="15194863" y="5497701"/>
            <a:ext cx="1710236" cy="1710236"/>
            <a:chOff x="0" y="0"/>
            <a:chExt cx="812800" cy="812800"/>
          </a:xfrm>
        </p:grpSpPr>
        <p:sp>
          <p:nvSpPr>
            <p:cNvPr id="24" name="Freeform 24"/>
            <p:cNvSpPr/>
            <p:nvPr/>
          </p:nvSpPr>
          <p:spPr>
            <a:xfrm>
              <a:off x="0" y="0"/>
              <a:ext cx="812800" cy="812800"/>
            </a:xfrm>
            <a:custGeom>
              <a:avLst/>
              <a:gdLst/>
              <a:ahLst/>
              <a:cxnLst/>
              <a:rect l="l" t="t" r="r" b="b"/>
              <a:pathLst>
                <a:path w="812800" h="812800">
                  <a:moveTo>
                    <a:pt x="95063" y="0"/>
                  </a:moveTo>
                  <a:lnTo>
                    <a:pt x="717737" y="0"/>
                  </a:lnTo>
                  <a:cubicBezTo>
                    <a:pt x="742949" y="0"/>
                    <a:pt x="767129" y="10016"/>
                    <a:pt x="784957" y="27843"/>
                  </a:cubicBezTo>
                  <a:cubicBezTo>
                    <a:pt x="802784" y="45671"/>
                    <a:pt x="812800" y="69851"/>
                    <a:pt x="812800" y="95063"/>
                  </a:cubicBezTo>
                  <a:lnTo>
                    <a:pt x="812800" y="717737"/>
                  </a:lnTo>
                  <a:cubicBezTo>
                    <a:pt x="812800" y="742949"/>
                    <a:pt x="802784" y="767129"/>
                    <a:pt x="784957" y="784957"/>
                  </a:cubicBezTo>
                  <a:cubicBezTo>
                    <a:pt x="767129" y="802784"/>
                    <a:pt x="742949" y="812800"/>
                    <a:pt x="717737" y="812800"/>
                  </a:cubicBezTo>
                  <a:lnTo>
                    <a:pt x="95063" y="812800"/>
                  </a:lnTo>
                  <a:cubicBezTo>
                    <a:pt x="69851" y="812800"/>
                    <a:pt x="45671" y="802784"/>
                    <a:pt x="27843" y="784957"/>
                  </a:cubicBezTo>
                  <a:cubicBezTo>
                    <a:pt x="10016" y="767129"/>
                    <a:pt x="0" y="742949"/>
                    <a:pt x="0" y="717737"/>
                  </a:cubicBezTo>
                  <a:lnTo>
                    <a:pt x="0" y="95063"/>
                  </a:lnTo>
                  <a:cubicBezTo>
                    <a:pt x="0" y="69851"/>
                    <a:pt x="10016" y="45671"/>
                    <a:pt x="27843" y="27843"/>
                  </a:cubicBezTo>
                  <a:cubicBezTo>
                    <a:pt x="45671" y="10016"/>
                    <a:pt x="69851" y="0"/>
                    <a:pt x="95063" y="0"/>
                  </a:cubicBezTo>
                  <a:close/>
                </a:path>
              </a:pathLst>
            </a:custGeom>
            <a:solidFill>
              <a:srgbClr val="FDDB3E"/>
            </a:solidFill>
          </p:spPr>
        </p:sp>
        <p:sp>
          <p:nvSpPr>
            <p:cNvPr id="25" name="TextBox 25"/>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26" name="Group 26"/>
          <p:cNvGrpSpPr/>
          <p:nvPr/>
        </p:nvGrpSpPr>
        <p:grpSpPr>
          <a:xfrm rot="8100000">
            <a:off x="15194863" y="7916340"/>
            <a:ext cx="1710236" cy="1710236"/>
            <a:chOff x="0" y="0"/>
            <a:chExt cx="812800" cy="812800"/>
          </a:xfrm>
        </p:grpSpPr>
        <p:sp>
          <p:nvSpPr>
            <p:cNvPr id="27" name="Freeform 27"/>
            <p:cNvSpPr/>
            <p:nvPr/>
          </p:nvSpPr>
          <p:spPr>
            <a:xfrm>
              <a:off x="0" y="0"/>
              <a:ext cx="812800" cy="812800"/>
            </a:xfrm>
            <a:custGeom>
              <a:avLst/>
              <a:gdLst/>
              <a:ahLst/>
              <a:cxnLst/>
              <a:rect l="l" t="t" r="r" b="b"/>
              <a:pathLst>
                <a:path w="812800" h="812800">
                  <a:moveTo>
                    <a:pt x="95063" y="0"/>
                  </a:moveTo>
                  <a:lnTo>
                    <a:pt x="717737" y="0"/>
                  </a:lnTo>
                  <a:cubicBezTo>
                    <a:pt x="742949" y="0"/>
                    <a:pt x="767129" y="10016"/>
                    <a:pt x="784957" y="27843"/>
                  </a:cubicBezTo>
                  <a:cubicBezTo>
                    <a:pt x="802784" y="45671"/>
                    <a:pt x="812800" y="69851"/>
                    <a:pt x="812800" y="95063"/>
                  </a:cubicBezTo>
                  <a:lnTo>
                    <a:pt x="812800" y="717737"/>
                  </a:lnTo>
                  <a:cubicBezTo>
                    <a:pt x="812800" y="742949"/>
                    <a:pt x="802784" y="767129"/>
                    <a:pt x="784957" y="784957"/>
                  </a:cubicBezTo>
                  <a:cubicBezTo>
                    <a:pt x="767129" y="802784"/>
                    <a:pt x="742949" y="812800"/>
                    <a:pt x="717737" y="812800"/>
                  </a:cubicBezTo>
                  <a:lnTo>
                    <a:pt x="95063" y="812800"/>
                  </a:lnTo>
                  <a:cubicBezTo>
                    <a:pt x="69851" y="812800"/>
                    <a:pt x="45671" y="802784"/>
                    <a:pt x="27843" y="784957"/>
                  </a:cubicBezTo>
                  <a:cubicBezTo>
                    <a:pt x="10016" y="767129"/>
                    <a:pt x="0" y="742949"/>
                    <a:pt x="0" y="717737"/>
                  </a:cubicBezTo>
                  <a:lnTo>
                    <a:pt x="0" y="95063"/>
                  </a:lnTo>
                  <a:cubicBezTo>
                    <a:pt x="0" y="69851"/>
                    <a:pt x="10016" y="45671"/>
                    <a:pt x="27843" y="27843"/>
                  </a:cubicBezTo>
                  <a:cubicBezTo>
                    <a:pt x="45671" y="10016"/>
                    <a:pt x="69851" y="0"/>
                    <a:pt x="95063" y="0"/>
                  </a:cubicBezTo>
                  <a:close/>
                </a:path>
              </a:pathLst>
            </a:custGeom>
            <a:solidFill>
              <a:srgbClr val="FFBBE6"/>
            </a:solidFill>
          </p:spPr>
        </p:sp>
        <p:sp>
          <p:nvSpPr>
            <p:cNvPr id="28" name="TextBox 28"/>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grpSp>
        <p:nvGrpSpPr>
          <p:cNvPr id="29" name="Group 29"/>
          <p:cNvGrpSpPr/>
          <p:nvPr/>
        </p:nvGrpSpPr>
        <p:grpSpPr>
          <a:xfrm rot="8100000">
            <a:off x="13674808" y="6707021"/>
            <a:ext cx="1710236" cy="1710236"/>
            <a:chOff x="0" y="0"/>
            <a:chExt cx="812800" cy="812800"/>
          </a:xfrm>
        </p:grpSpPr>
        <p:sp>
          <p:nvSpPr>
            <p:cNvPr id="30" name="Freeform 30"/>
            <p:cNvSpPr/>
            <p:nvPr/>
          </p:nvSpPr>
          <p:spPr>
            <a:xfrm>
              <a:off x="0" y="0"/>
              <a:ext cx="812800" cy="812800"/>
            </a:xfrm>
            <a:custGeom>
              <a:avLst/>
              <a:gdLst/>
              <a:ahLst/>
              <a:cxnLst/>
              <a:rect l="l" t="t" r="r" b="b"/>
              <a:pathLst>
                <a:path w="812800" h="812800">
                  <a:moveTo>
                    <a:pt x="95063" y="0"/>
                  </a:moveTo>
                  <a:lnTo>
                    <a:pt x="717737" y="0"/>
                  </a:lnTo>
                  <a:cubicBezTo>
                    <a:pt x="742949" y="0"/>
                    <a:pt x="767129" y="10016"/>
                    <a:pt x="784957" y="27843"/>
                  </a:cubicBezTo>
                  <a:cubicBezTo>
                    <a:pt x="802784" y="45671"/>
                    <a:pt x="812800" y="69851"/>
                    <a:pt x="812800" y="95063"/>
                  </a:cubicBezTo>
                  <a:lnTo>
                    <a:pt x="812800" y="717737"/>
                  </a:lnTo>
                  <a:cubicBezTo>
                    <a:pt x="812800" y="742949"/>
                    <a:pt x="802784" y="767129"/>
                    <a:pt x="784957" y="784957"/>
                  </a:cubicBezTo>
                  <a:cubicBezTo>
                    <a:pt x="767129" y="802784"/>
                    <a:pt x="742949" y="812800"/>
                    <a:pt x="717737" y="812800"/>
                  </a:cubicBezTo>
                  <a:lnTo>
                    <a:pt x="95063" y="812800"/>
                  </a:lnTo>
                  <a:cubicBezTo>
                    <a:pt x="69851" y="812800"/>
                    <a:pt x="45671" y="802784"/>
                    <a:pt x="27843" y="784957"/>
                  </a:cubicBezTo>
                  <a:cubicBezTo>
                    <a:pt x="10016" y="767129"/>
                    <a:pt x="0" y="742949"/>
                    <a:pt x="0" y="717737"/>
                  </a:cubicBezTo>
                  <a:lnTo>
                    <a:pt x="0" y="95063"/>
                  </a:lnTo>
                  <a:cubicBezTo>
                    <a:pt x="0" y="69851"/>
                    <a:pt x="10016" y="45671"/>
                    <a:pt x="27843" y="27843"/>
                  </a:cubicBezTo>
                  <a:cubicBezTo>
                    <a:pt x="45671" y="10016"/>
                    <a:pt x="69851" y="0"/>
                    <a:pt x="95063" y="0"/>
                  </a:cubicBezTo>
                  <a:close/>
                </a:path>
              </a:pathLst>
            </a:custGeom>
            <a:solidFill>
              <a:srgbClr val="FFA678"/>
            </a:solidFill>
          </p:spPr>
        </p:sp>
        <p:sp>
          <p:nvSpPr>
            <p:cNvPr id="31" name="TextBox 31"/>
            <p:cNvSpPr txBox="1"/>
            <p:nvPr/>
          </p:nvSpPr>
          <p:spPr>
            <a:xfrm>
              <a:off x="0" y="-28575"/>
              <a:ext cx="812800" cy="841375"/>
            </a:xfrm>
            <a:prstGeom prst="rect">
              <a:avLst/>
            </a:prstGeom>
          </p:spPr>
          <p:txBody>
            <a:bodyPr lIns="50800" tIns="50800" rIns="50800" bIns="50800" rtlCol="0" anchor="ctr"/>
            <a:lstStyle/>
            <a:p>
              <a:pPr algn="ctr">
                <a:lnSpc>
                  <a:spcPts val="2086"/>
                </a:lnSpc>
              </a:pPr>
              <a:endParaRPr/>
            </a:p>
          </p:txBody>
        </p:sp>
      </p:grpSp>
      <p:sp>
        <p:nvSpPr>
          <p:cNvPr id="32" name="TextBox 32"/>
          <p:cNvSpPr txBox="1"/>
          <p:nvPr/>
        </p:nvSpPr>
        <p:spPr>
          <a:xfrm>
            <a:off x="15313493" y="1444396"/>
            <a:ext cx="1472976" cy="444432"/>
          </a:xfrm>
          <a:prstGeom prst="rect">
            <a:avLst/>
          </a:prstGeom>
        </p:spPr>
        <p:txBody>
          <a:bodyPr lIns="0" tIns="0" rIns="0" bIns="0" rtlCol="0" anchor="t">
            <a:spAutoFit/>
          </a:bodyPr>
          <a:lstStyle/>
          <a:p>
            <a:pPr marL="0" lvl="0" indent="0" algn="ctr">
              <a:lnSpc>
                <a:spcPts val="1857"/>
              </a:lnSpc>
            </a:pPr>
            <a:r>
              <a:rPr lang="en-US" sz="1213">
                <a:solidFill>
                  <a:srgbClr val="000000"/>
                </a:solidFill>
                <a:latin typeface="DM Sans"/>
                <a:ea typeface="DM Sans"/>
                <a:cs typeface="DM Sans"/>
                <a:sym typeface="DM Sans"/>
              </a:rPr>
              <a:t>Total Industry AUM FY 2025</a:t>
            </a:r>
          </a:p>
        </p:txBody>
      </p:sp>
      <p:sp>
        <p:nvSpPr>
          <p:cNvPr id="33" name="TextBox 33"/>
          <p:cNvSpPr txBox="1"/>
          <p:nvPr/>
        </p:nvSpPr>
        <p:spPr>
          <a:xfrm>
            <a:off x="15303639" y="1132731"/>
            <a:ext cx="1492684" cy="259219"/>
          </a:xfrm>
          <a:prstGeom prst="rect">
            <a:avLst/>
          </a:prstGeom>
        </p:spPr>
        <p:txBody>
          <a:bodyPr lIns="0" tIns="0" rIns="0" bIns="0" rtlCol="0" anchor="t">
            <a:spAutoFit/>
          </a:bodyPr>
          <a:lstStyle/>
          <a:p>
            <a:pPr marL="0" lvl="0" indent="0" algn="ctr">
              <a:lnSpc>
                <a:spcPts val="2142"/>
              </a:lnSpc>
            </a:pPr>
            <a:r>
              <a:rPr lang="en-US" sz="1673" b="1">
                <a:solidFill>
                  <a:srgbClr val="000000"/>
                </a:solidFill>
                <a:latin typeface="DM Sans Bold"/>
                <a:ea typeface="DM Sans Bold"/>
                <a:cs typeface="DM Sans Bold"/>
                <a:sym typeface="DM Sans Bold"/>
              </a:rPr>
              <a:t>Rs. 117L Cr</a:t>
            </a:r>
          </a:p>
        </p:txBody>
      </p:sp>
      <p:sp>
        <p:nvSpPr>
          <p:cNvPr id="34" name="TextBox 34"/>
          <p:cNvSpPr txBox="1"/>
          <p:nvPr/>
        </p:nvSpPr>
        <p:spPr>
          <a:xfrm>
            <a:off x="13793439" y="7594390"/>
            <a:ext cx="1472976" cy="215832"/>
          </a:xfrm>
          <a:prstGeom prst="rect">
            <a:avLst/>
          </a:prstGeom>
        </p:spPr>
        <p:txBody>
          <a:bodyPr lIns="0" tIns="0" rIns="0" bIns="0" rtlCol="0" anchor="t">
            <a:spAutoFit/>
          </a:bodyPr>
          <a:lstStyle/>
          <a:p>
            <a:pPr marL="0" lvl="0" indent="0" algn="ctr">
              <a:lnSpc>
                <a:spcPts val="1857"/>
              </a:lnSpc>
            </a:pPr>
            <a:r>
              <a:rPr lang="en-US" sz="1213">
                <a:solidFill>
                  <a:srgbClr val="000000"/>
                </a:solidFill>
                <a:latin typeface="DM Sans"/>
                <a:ea typeface="DM Sans"/>
                <a:cs typeface="DM Sans"/>
                <a:sym typeface="DM Sans"/>
              </a:rPr>
              <a:t>PNG/HTML</a:t>
            </a:r>
          </a:p>
        </p:txBody>
      </p:sp>
      <p:sp>
        <p:nvSpPr>
          <p:cNvPr id="35" name="TextBox 35"/>
          <p:cNvSpPr txBox="1"/>
          <p:nvPr/>
        </p:nvSpPr>
        <p:spPr>
          <a:xfrm>
            <a:off x="13783584" y="7304529"/>
            <a:ext cx="1492684" cy="259219"/>
          </a:xfrm>
          <a:prstGeom prst="rect">
            <a:avLst/>
          </a:prstGeom>
        </p:spPr>
        <p:txBody>
          <a:bodyPr lIns="0" tIns="0" rIns="0" bIns="0" rtlCol="0" anchor="t">
            <a:spAutoFit/>
          </a:bodyPr>
          <a:lstStyle/>
          <a:p>
            <a:pPr marL="0" lvl="0" indent="0" algn="ctr">
              <a:lnSpc>
                <a:spcPts val="2142"/>
              </a:lnSpc>
            </a:pPr>
            <a:r>
              <a:rPr lang="en-US" sz="1673" b="1">
                <a:solidFill>
                  <a:srgbClr val="000000"/>
                </a:solidFill>
                <a:latin typeface="DM Sans Bold"/>
                <a:ea typeface="DM Sans Bold"/>
                <a:cs typeface="DM Sans Bold"/>
                <a:sym typeface="DM Sans Bold"/>
              </a:rPr>
              <a:t>30+ Charts</a:t>
            </a:r>
          </a:p>
        </p:txBody>
      </p:sp>
      <p:sp>
        <p:nvSpPr>
          <p:cNvPr id="36" name="TextBox 36"/>
          <p:cNvSpPr txBox="1"/>
          <p:nvPr/>
        </p:nvSpPr>
        <p:spPr>
          <a:xfrm>
            <a:off x="15240548" y="6281521"/>
            <a:ext cx="1618867" cy="444432"/>
          </a:xfrm>
          <a:prstGeom prst="rect">
            <a:avLst/>
          </a:prstGeom>
        </p:spPr>
        <p:txBody>
          <a:bodyPr lIns="0" tIns="0" rIns="0" bIns="0" rtlCol="0" anchor="t">
            <a:spAutoFit/>
          </a:bodyPr>
          <a:lstStyle/>
          <a:p>
            <a:pPr marL="0" lvl="0" indent="0" algn="ctr">
              <a:lnSpc>
                <a:spcPts val="1857"/>
              </a:lnSpc>
            </a:pPr>
            <a:r>
              <a:rPr lang="en-US" sz="1213">
                <a:solidFill>
                  <a:srgbClr val="000000"/>
                </a:solidFill>
                <a:latin typeface="DM Sans"/>
                <a:ea typeface="DM Sans"/>
                <a:cs typeface="DM Sans"/>
                <a:sym typeface="DM Sans"/>
              </a:rPr>
              <a:t>Total Folios Jan 2022 – Dec 2025</a:t>
            </a:r>
          </a:p>
        </p:txBody>
      </p:sp>
      <p:sp>
        <p:nvSpPr>
          <p:cNvPr id="37" name="TextBox 37"/>
          <p:cNvSpPr txBox="1"/>
          <p:nvPr/>
        </p:nvSpPr>
        <p:spPr>
          <a:xfrm>
            <a:off x="15303639" y="5991659"/>
            <a:ext cx="1492684" cy="259219"/>
          </a:xfrm>
          <a:prstGeom prst="rect">
            <a:avLst/>
          </a:prstGeom>
        </p:spPr>
        <p:txBody>
          <a:bodyPr lIns="0" tIns="0" rIns="0" bIns="0" rtlCol="0" anchor="t">
            <a:spAutoFit/>
          </a:bodyPr>
          <a:lstStyle/>
          <a:p>
            <a:pPr marL="0" lvl="0" indent="0" algn="ctr">
              <a:lnSpc>
                <a:spcPts val="2142"/>
              </a:lnSpc>
            </a:pPr>
            <a:r>
              <a:rPr lang="en-US" sz="1673" b="1">
                <a:solidFill>
                  <a:srgbClr val="000000"/>
                </a:solidFill>
                <a:latin typeface="DM Sans Bold"/>
                <a:ea typeface="DM Sans Bold"/>
                <a:cs typeface="DM Sans Bold"/>
                <a:sym typeface="DM Sans Bold"/>
              </a:rPr>
              <a:t>Rs. 26.12 Cr</a:t>
            </a:r>
          </a:p>
        </p:txBody>
      </p:sp>
      <p:sp>
        <p:nvSpPr>
          <p:cNvPr id="38" name="TextBox 38"/>
          <p:cNvSpPr txBox="1"/>
          <p:nvPr/>
        </p:nvSpPr>
        <p:spPr>
          <a:xfrm>
            <a:off x="13783584" y="5175752"/>
            <a:ext cx="1472976" cy="215832"/>
          </a:xfrm>
          <a:prstGeom prst="rect">
            <a:avLst/>
          </a:prstGeom>
        </p:spPr>
        <p:txBody>
          <a:bodyPr lIns="0" tIns="0" rIns="0" bIns="0" rtlCol="0" anchor="t">
            <a:spAutoFit/>
          </a:bodyPr>
          <a:lstStyle/>
          <a:p>
            <a:pPr marL="0" lvl="0" indent="0" algn="ctr">
              <a:lnSpc>
                <a:spcPts val="1857"/>
              </a:lnSpc>
            </a:pPr>
            <a:r>
              <a:rPr lang="en-US" sz="1213">
                <a:solidFill>
                  <a:srgbClr val="000000"/>
                </a:solidFill>
                <a:latin typeface="DM Sans"/>
                <a:ea typeface="DM Sans"/>
                <a:cs typeface="DM Sans"/>
                <a:sym typeface="DM Sans"/>
              </a:rPr>
              <a:t>Jupyter</a:t>
            </a:r>
          </a:p>
        </p:txBody>
      </p:sp>
      <p:sp>
        <p:nvSpPr>
          <p:cNvPr id="39" name="TextBox 39"/>
          <p:cNvSpPr txBox="1"/>
          <p:nvPr/>
        </p:nvSpPr>
        <p:spPr>
          <a:xfrm>
            <a:off x="13773730" y="4885891"/>
            <a:ext cx="1492684" cy="259219"/>
          </a:xfrm>
          <a:prstGeom prst="rect">
            <a:avLst/>
          </a:prstGeom>
        </p:spPr>
        <p:txBody>
          <a:bodyPr lIns="0" tIns="0" rIns="0" bIns="0" rtlCol="0" anchor="t">
            <a:spAutoFit/>
          </a:bodyPr>
          <a:lstStyle/>
          <a:p>
            <a:pPr marL="0" lvl="0" indent="0" algn="ctr">
              <a:lnSpc>
                <a:spcPts val="2142"/>
              </a:lnSpc>
            </a:pPr>
            <a:r>
              <a:rPr lang="en-US" sz="1673" b="1">
                <a:solidFill>
                  <a:srgbClr val="000000"/>
                </a:solidFill>
                <a:latin typeface="DM Sans Bold"/>
                <a:ea typeface="DM Sans Bold"/>
                <a:cs typeface="DM Sans Bold"/>
                <a:sym typeface="DM Sans Bold"/>
              </a:rPr>
              <a:t>6 Notebooks</a:t>
            </a:r>
          </a:p>
        </p:txBody>
      </p:sp>
      <p:sp>
        <p:nvSpPr>
          <p:cNvPr id="40" name="TextBox 40"/>
          <p:cNvSpPr txBox="1"/>
          <p:nvPr/>
        </p:nvSpPr>
        <p:spPr>
          <a:xfrm>
            <a:off x="15113468" y="3841383"/>
            <a:ext cx="1873026" cy="444432"/>
          </a:xfrm>
          <a:prstGeom prst="rect">
            <a:avLst/>
          </a:prstGeom>
        </p:spPr>
        <p:txBody>
          <a:bodyPr lIns="0" tIns="0" rIns="0" bIns="0" rtlCol="0" anchor="t">
            <a:spAutoFit/>
          </a:bodyPr>
          <a:lstStyle/>
          <a:p>
            <a:pPr marL="0" lvl="0" indent="0" algn="ctr">
              <a:lnSpc>
                <a:spcPts val="1857"/>
              </a:lnSpc>
            </a:pPr>
            <a:r>
              <a:rPr lang="en-US" sz="1213">
                <a:solidFill>
                  <a:srgbClr val="000000"/>
                </a:solidFill>
                <a:latin typeface="DM Sans"/>
                <a:ea typeface="DM Sans"/>
                <a:cs typeface="DM Sans"/>
                <a:sym typeface="DM Sans"/>
              </a:rPr>
              <a:t>Monthy SIP Inflow Dec 2025 ATH </a:t>
            </a:r>
          </a:p>
        </p:txBody>
      </p:sp>
      <p:sp>
        <p:nvSpPr>
          <p:cNvPr id="41" name="TextBox 41"/>
          <p:cNvSpPr txBox="1"/>
          <p:nvPr/>
        </p:nvSpPr>
        <p:spPr>
          <a:xfrm>
            <a:off x="15256560" y="3562195"/>
            <a:ext cx="1492684" cy="259219"/>
          </a:xfrm>
          <a:prstGeom prst="rect">
            <a:avLst/>
          </a:prstGeom>
        </p:spPr>
        <p:txBody>
          <a:bodyPr lIns="0" tIns="0" rIns="0" bIns="0" rtlCol="0" anchor="t">
            <a:spAutoFit/>
          </a:bodyPr>
          <a:lstStyle/>
          <a:p>
            <a:pPr marL="0" lvl="0" indent="0" algn="ctr">
              <a:lnSpc>
                <a:spcPts val="2142"/>
              </a:lnSpc>
            </a:pPr>
            <a:r>
              <a:rPr lang="en-US" sz="1673" b="1">
                <a:solidFill>
                  <a:srgbClr val="000000"/>
                </a:solidFill>
                <a:latin typeface="DM Sans Bold"/>
                <a:ea typeface="DM Sans Bold"/>
                <a:cs typeface="DM Sans Bold"/>
                <a:sym typeface="DM Sans Bold"/>
              </a:rPr>
              <a:t>Rs. 31,002 Cr</a:t>
            </a:r>
          </a:p>
        </p:txBody>
      </p:sp>
      <p:sp>
        <p:nvSpPr>
          <p:cNvPr id="42" name="TextBox 42"/>
          <p:cNvSpPr txBox="1"/>
          <p:nvPr/>
        </p:nvSpPr>
        <p:spPr>
          <a:xfrm>
            <a:off x="13793439" y="2752582"/>
            <a:ext cx="1472976" cy="215832"/>
          </a:xfrm>
          <a:prstGeom prst="rect">
            <a:avLst/>
          </a:prstGeom>
        </p:spPr>
        <p:txBody>
          <a:bodyPr lIns="0" tIns="0" rIns="0" bIns="0" rtlCol="0" anchor="t">
            <a:spAutoFit/>
          </a:bodyPr>
          <a:lstStyle/>
          <a:p>
            <a:pPr marL="0" lvl="0" indent="0" algn="ctr">
              <a:lnSpc>
                <a:spcPts val="1857"/>
              </a:lnSpc>
            </a:pPr>
            <a:r>
              <a:rPr lang="en-US" sz="1213">
                <a:solidFill>
                  <a:srgbClr val="000000"/>
                </a:solidFill>
                <a:latin typeface="DM Sans"/>
                <a:ea typeface="DM Sans"/>
                <a:cs typeface="DM Sans"/>
                <a:sym typeface="DM Sans"/>
              </a:rPr>
              <a:t>Python</a:t>
            </a:r>
          </a:p>
        </p:txBody>
      </p:sp>
      <p:sp>
        <p:nvSpPr>
          <p:cNvPr id="43" name="TextBox 43"/>
          <p:cNvSpPr txBox="1"/>
          <p:nvPr/>
        </p:nvSpPr>
        <p:spPr>
          <a:xfrm>
            <a:off x="13783584" y="2462682"/>
            <a:ext cx="1492684" cy="259258"/>
          </a:xfrm>
          <a:prstGeom prst="rect">
            <a:avLst/>
          </a:prstGeom>
        </p:spPr>
        <p:txBody>
          <a:bodyPr lIns="0" tIns="0" rIns="0" bIns="0" rtlCol="0" anchor="t">
            <a:spAutoFit/>
          </a:bodyPr>
          <a:lstStyle/>
          <a:p>
            <a:pPr marL="0" lvl="0" indent="0" algn="ctr">
              <a:lnSpc>
                <a:spcPts val="2137"/>
              </a:lnSpc>
            </a:pPr>
            <a:r>
              <a:rPr lang="en-US" sz="1670" b="1">
                <a:solidFill>
                  <a:srgbClr val="000000"/>
                </a:solidFill>
                <a:latin typeface="DM Sans Bold"/>
                <a:ea typeface="DM Sans Bold"/>
                <a:cs typeface="DM Sans Bold"/>
                <a:sym typeface="DM Sans Bold"/>
              </a:rPr>
              <a:t>15 Scripts</a:t>
            </a:r>
          </a:p>
        </p:txBody>
      </p:sp>
      <p:sp>
        <p:nvSpPr>
          <p:cNvPr id="44" name="TextBox 44"/>
          <p:cNvSpPr txBox="1"/>
          <p:nvPr/>
        </p:nvSpPr>
        <p:spPr>
          <a:xfrm>
            <a:off x="15266414" y="8700311"/>
            <a:ext cx="1472976" cy="444432"/>
          </a:xfrm>
          <a:prstGeom prst="rect">
            <a:avLst/>
          </a:prstGeom>
        </p:spPr>
        <p:txBody>
          <a:bodyPr lIns="0" tIns="0" rIns="0" bIns="0" rtlCol="0" anchor="t">
            <a:spAutoFit/>
          </a:bodyPr>
          <a:lstStyle/>
          <a:p>
            <a:pPr marL="0" lvl="0" indent="0" algn="ctr">
              <a:lnSpc>
                <a:spcPts val="1857"/>
              </a:lnSpc>
            </a:pPr>
            <a:r>
              <a:rPr lang="en-US" sz="1213">
                <a:solidFill>
                  <a:srgbClr val="000000"/>
                </a:solidFill>
                <a:latin typeface="DM Sans"/>
                <a:ea typeface="DM Sans"/>
                <a:cs typeface="DM Sans"/>
                <a:sym typeface="DM Sans"/>
              </a:rPr>
              <a:t>Schemes In dataset analyzed</a:t>
            </a:r>
          </a:p>
        </p:txBody>
      </p:sp>
      <p:sp>
        <p:nvSpPr>
          <p:cNvPr id="45" name="TextBox 45"/>
          <p:cNvSpPr txBox="1"/>
          <p:nvPr/>
        </p:nvSpPr>
        <p:spPr>
          <a:xfrm>
            <a:off x="15256560" y="8388647"/>
            <a:ext cx="1492684" cy="259219"/>
          </a:xfrm>
          <a:prstGeom prst="rect">
            <a:avLst/>
          </a:prstGeom>
        </p:spPr>
        <p:txBody>
          <a:bodyPr lIns="0" tIns="0" rIns="0" bIns="0" rtlCol="0" anchor="t">
            <a:spAutoFit/>
          </a:bodyPr>
          <a:lstStyle/>
          <a:p>
            <a:pPr marL="0" lvl="0" indent="0" algn="ctr">
              <a:lnSpc>
                <a:spcPts val="2142"/>
              </a:lnSpc>
              <a:spcBef>
                <a:spcPct val="0"/>
              </a:spcBef>
            </a:pPr>
            <a:r>
              <a:rPr lang="en-US" sz="1673" b="1">
                <a:solidFill>
                  <a:srgbClr val="000000"/>
                </a:solidFill>
                <a:latin typeface="DM Sans Bold"/>
                <a:ea typeface="DM Sans Bold"/>
                <a:cs typeface="DM Sans Bold"/>
                <a:sym typeface="DM Sans Bold"/>
              </a:rPr>
              <a:t>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1817</Words>
  <Application>Microsoft Office PowerPoint</Application>
  <PresentationFormat>Custom</PresentationFormat>
  <Paragraphs>293</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DM Sans Italics</vt:lpstr>
      <vt:lpstr>DM Sans Bold</vt:lpstr>
      <vt:lpstr>Calibri</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Bluestock_MF_Presentation.pptx</dc:title>
  <dc:creator>Hansdah Babu</dc:creator>
  <cp:lastModifiedBy>Hansdah Babu</cp:lastModifiedBy>
  <cp:revision>1</cp:revision>
  <dcterms:created xsi:type="dcterms:W3CDTF">2006-08-16T00:00:00Z</dcterms:created>
  <dcterms:modified xsi:type="dcterms:W3CDTF">2026-06-13T22:02:57Z</dcterms:modified>
  <dc:identifier>DAHMYNnFOdc</dc:identifier>
</cp:coreProperties>
</file>